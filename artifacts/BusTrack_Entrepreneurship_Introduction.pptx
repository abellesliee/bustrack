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5dfdf8952d46fb" /><Relationship Type="http://schemas.openxmlformats.org/officeDocument/2006/relationships/extended-properties" Target="/docProps/app.xml" Id="Red9910689bdf4127" /><Relationship Type="http://schemas.openxmlformats.org/officeDocument/2006/relationships/officeDocument" Target="/ppt/presentation.xml" Id="R84f65066a9434e63" /></Relationships>
</file>

<file path=ppt/presentation.xml><?xml version="1.0" encoding="utf-8"?>
<p:presentation xmlns:p="http://schemas.openxmlformats.org/presentationml/2006/main">
  <p:sldMasterIdLst>
    <p:sldMasterId xmlns:r="http://schemas.openxmlformats.org/officeDocument/2006/relationships" id="2147483648" r:id="R4ca122baa07c42ba"/>
  </p:sldMasterIdLst>
  <p:notesMasterIdLst>
    <p:notesMasterId xmlns:r="http://schemas.openxmlformats.org/officeDocument/2006/relationships" r:id="R9589477daf2347cb"/>
  </p:notesMasterIdLst>
  <p:sldIdLst>
    <p:sldId xmlns:r="http://schemas.openxmlformats.org/officeDocument/2006/relationships" id="256" r:id="Rfef0cf61461f40f5"/>
    <p:sldId xmlns:r="http://schemas.openxmlformats.org/officeDocument/2006/relationships" id="257" r:id="Rf1ef4df896314a2c"/>
    <p:sldId xmlns:r="http://schemas.openxmlformats.org/officeDocument/2006/relationships" id="258" r:id="Rf0e00ce017654608"/>
    <p:sldId xmlns:r="http://schemas.openxmlformats.org/officeDocument/2006/relationships" id="259" r:id="R9ec78998f7db4cf5"/>
    <p:sldId xmlns:r="http://schemas.openxmlformats.org/officeDocument/2006/relationships" id="260" r:id="R7dae78b5671c48b8"/>
    <p:sldId xmlns:r="http://schemas.openxmlformats.org/officeDocument/2006/relationships" id="261" r:id="Rbbc10c9ab6b149bf"/>
    <p:sldId xmlns:r="http://schemas.openxmlformats.org/officeDocument/2006/relationships" id="262" r:id="R26956af09d8e446b"/>
    <p:sldId xmlns:r="http://schemas.openxmlformats.org/officeDocument/2006/relationships" id="263" r:id="R0868e8808d6d4916"/>
    <p:sldId xmlns:r="http://schemas.openxmlformats.org/officeDocument/2006/relationships" id="264" r:id="Ra46eb37e629946c4"/>
    <p:sldId xmlns:r="http://schemas.openxmlformats.org/officeDocument/2006/relationships" id="265" r:id="R3bfe454f10b74814"/>
    <p:sldId xmlns:r="http://schemas.openxmlformats.org/officeDocument/2006/relationships" id="266" r:id="Rf74dc8fdc8b349c0"/>
    <p:sldId xmlns:r="http://schemas.openxmlformats.org/officeDocument/2006/relationships" id="267" r:id="R4ceecc33f7694950"/>
    <p:sldId xmlns:r="http://schemas.openxmlformats.org/officeDocument/2006/relationships" id="268" r:id="R53aa923ba5c241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753f27a00f42e4" /><Relationship Type="http://schemas.openxmlformats.org/officeDocument/2006/relationships/slideMaster" Target="/ppt/slideMasters/slideMaster1.xml" Id="R4ca122baa07c42ba" /><Relationship Type="http://schemas.openxmlformats.org/officeDocument/2006/relationships/notesMaster" Target="/ppt/notesMasters/notesMaster1.xml" Id="R9589477daf2347cb" /><Relationship Type="http://schemas.openxmlformats.org/officeDocument/2006/relationships/presProps" Target="/ppt/presProps.xml" Id="R85cbaac322cb47f1" /><Relationship Type="http://schemas.openxmlformats.org/officeDocument/2006/relationships/tableStyles" Target="/ppt/tableStyles.xml" Id="Rd4537819411b4c6e" /><Relationship Type="http://schemas.openxmlformats.org/officeDocument/2006/relationships/slide" Target="/ppt/slides/slide1.xml" Id="Rfef0cf61461f40f5" /><Relationship Type="http://schemas.openxmlformats.org/officeDocument/2006/relationships/slide" Target="/ppt/slides/slide2.xml" Id="Rf1ef4df896314a2c" /><Relationship Type="http://schemas.openxmlformats.org/officeDocument/2006/relationships/slide" Target="/ppt/slides/slide3.xml" Id="Rf0e00ce017654608" /><Relationship Type="http://schemas.openxmlformats.org/officeDocument/2006/relationships/slide" Target="/ppt/slides/slide4.xml" Id="R9ec78998f7db4cf5" /><Relationship Type="http://schemas.openxmlformats.org/officeDocument/2006/relationships/slide" Target="/ppt/slides/slide5.xml" Id="R7dae78b5671c48b8" /><Relationship Type="http://schemas.openxmlformats.org/officeDocument/2006/relationships/slide" Target="/ppt/slides/slide6.xml" Id="Rbbc10c9ab6b149bf" /><Relationship Type="http://schemas.openxmlformats.org/officeDocument/2006/relationships/slide" Target="/ppt/slides/slide7.xml" Id="R26956af09d8e446b" /><Relationship Type="http://schemas.openxmlformats.org/officeDocument/2006/relationships/slide" Target="/ppt/slides/slide8.xml" Id="R0868e8808d6d4916" /><Relationship Type="http://schemas.openxmlformats.org/officeDocument/2006/relationships/slide" Target="/ppt/slides/slide9.xml" Id="Ra46eb37e629946c4" /><Relationship Type="http://schemas.openxmlformats.org/officeDocument/2006/relationships/slide" Target="/ppt/slides/slide10.xml" Id="R3bfe454f10b74814" /><Relationship Type="http://schemas.openxmlformats.org/officeDocument/2006/relationships/slide" Target="/ppt/slides/slide11.xml" Id="Rf74dc8fdc8b349c0" /><Relationship Type="http://schemas.openxmlformats.org/officeDocument/2006/relationships/slide" Target="/ppt/slides/slide12.xml" Id="R4ceecc33f7694950" /><Relationship Type="http://schemas.openxmlformats.org/officeDocument/2006/relationships/slide" Target="/ppt/slides/slide13.xml" Id="R53aa923ba5c241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63cba1186f43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cd15154f1f4f70" /><Relationship Type="http://schemas.openxmlformats.org/officeDocument/2006/relationships/notesMaster" Target="/ppt/notesMasters/notesMaster1.xml" Id="Rf13788e05f4a41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ad345050ce4807" /><Relationship Type="http://schemas.openxmlformats.org/officeDocument/2006/relationships/notesMaster" Target="/ppt/notesMasters/notesMaster1.xml" Id="R2d99964302f74a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0747a261cf42ca" /><Relationship Type="http://schemas.openxmlformats.org/officeDocument/2006/relationships/notesMaster" Target="/ppt/notesMasters/notesMaster1.xml" Id="R5aec0800dbc542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6d4c8a287e4b83" /><Relationship Type="http://schemas.openxmlformats.org/officeDocument/2006/relationships/notesMaster" Target="/ppt/notesMasters/notesMaster1.xml" Id="Raa02a63579e94c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959db534e24050" /><Relationship Type="http://schemas.openxmlformats.org/officeDocument/2006/relationships/notesMaster" Target="/ppt/notesMasters/notesMaster1.xml" Id="R44f9c3bf6a9245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49d17366154b99" /><Relationship Type="http://schemas.openxmlformats.org/officeDocument/2006/relationships/notesMaster" Target="/ppt/notesMasters/notesMaster1.xml" Id="R12a831d2f63441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bf99b5d8c14084" /><Relationship Type="http://schemas.openxmlformats.org/officeDocument/2006/relationships/notesMaster" Target="/ppt/notesMasters/notesMaster1.xml" Id="R00784173fa3343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68e19c397364028" /><Relationship Type="http://schemas.openxmlformats.org/officeDocument/2006/relationships/notesMaster" Target="/ppt/notesMasters/notesMaster1.xml" Id="R9a4e2910b76e4c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40d88f1fea4d7c" /><Relationship Type="http://schemas.openxmlformats.org/officeDocument/2006/relationships/notesMaster" Target="/ppt/notesMasters/notesMaster1.xml" Id="R69f3223d29de45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d62c87f06f43c4" /><Relationship Type="http://schemas.openxmlformats.org/officeDocument/2006/relationships/notesMaster" Target="/ppt/notesMasters/notesMaster1.xml" Id="Rf1113387b84d44f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c21cda83f674786" /><Relationship Type="http://schemas.openxmlformats.org/officeDocument/2006/relationships/notesMaster" Target="/ppt/notesMasters/notesMaster1.xml" Id="R70c01451b7ed46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c3b7769a7b4e88" /><Relationship Type="http://schemas.openxmlformats.org/officeDocument/2006/relationships/notesMaster" Target="/ppt/notesMasters/notesMaster1.xml" Id="R06d16f9ed6c740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bab13de8a84bc3" /><Relationship Type="http://schemas.openxmlformats.org/officeDocument/2006/relationships/notesMaster" Target="/ppt/notesMasters/notesMaster1.xml" Id="R6fae0ed9486e45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present situation: the college does not currently use any bus tracking method. Students depend on estimates, calls or informal communication. BusTrack introduces a single system that serves students and the transport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the college's actual starting point. Do not claim that WhatsApp tracking already exists. Explain that any current communication is informal and does not provide a shared operational 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BusTrack as one transport platform rather than four separate applications. All portals read the same verified journey state, so the student, driver, administrator and technician see consistent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transformation: a GPS coordinate by itself is only a point. BusTrack validates it, compares it with the saved route, then produces stop progress and journey direction. The final portal refresh does not require the user to reload the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screenshot to show the student's Track view. Point to the current stop, next stop and the passed/upcoming labels. Explain that the Map view uses the same journey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how the administrator selects a bus and reviews its trip history. Mention that stop records and driver feedback replace guesswork when someone reports a delay or missed stop.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live QR changes frequently, reducing screenshot reuse. The server checks the pass, active trip, route, bus and student status. The official photograph remains controlled by the transport office.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BusTrack supports the college's mixed GPS fleet. A bus is matched by registration number and retained under its detected provider. Technicians can filter Airotrack and Kingstrack, then inspect the raw response when troubleshooting.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key differentiator. Explain that BusTrack does not simply trust the newest response received from a provider. It considers the GPS device time and the already accepted state before changing the journey.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WhatsApp column describes a possible informal workaround, not the college's current process. Position WhatsApp as a communication tool. BusTrack adds route meaning, reliability controls, history and role-based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claiming measured reductions before a pilot. Explain that the institution can create a baseline, run BusTrack on one route, and then compare usage, freshness and transport complaints.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 a limited first deployment. The route must be physically tested in both directions, including the terminal reversal. The pilot also gives the college real evidence for the final entrepreneurship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asking for a one-route campus pilot. The purpose of the pilot is to demonstrate reliability, collect usage evidence and confirm that BusTrack fits the college's daily transport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02aa5a098d46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04f6f1cf514ec4" /><Relationship Type="http://schemas.openxmlformats.org/officeDocument/2006/relationships/slideLayout" Target="/ppt/slideLayouts/slideLayout1.xml" Id="R74ac5b752f8545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ac5b752f8545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17a8583e074044" /><Relationship Type="http://schemas.openxmlformats.org/officeDocument/2006/relationships/image" Target="/ppt/media/image.png" Id="R4935d21dce4b475c" /><Relationship Type="http://schemas.openxmlformats.org/officeDocument/2006/relationships/notesSlide" Target="/ppt/notesSlides/notesSlide1.xml" Id="R5db417e8e0d44f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617a234c274ebc" /><Relationship Type="http://schemas.openxmlformats.org/officeDocument/2006/relationships/notesSlide" Target="/ppt/notesSlides/notesSlide2.xml" Id="Ra2b717b30c2e48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7a1c7220174631" /><Relationship Type="http://schemas.openxmlformats.org/officeDocument/2006/relationships/notesSlide" Target="/ppt/notesSlides/notesSlide3.xml" Id="R1399c5c0415c4d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7055faa9fb647df" /><Relationship Type="http://schemas.openxmlformats.org/officeDocument/2006/relationships/notesSlide" Target="/ppt/notesSlides/notesSlide4.xml" Id="R342609d78eef4b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3f2389a0f44a3f" /><Relationship Type="http://schemas.openxmlformats.org/officeDocument/2006/relationships/image" Target="/ppt/media/image2.png" Id="R21582cce84264658" /><Relationship Type="http://schemas.openxmlformats.org/officeDocument/2006/relationships/notesSlide" Target="/ppt/notesSlides/notesSlide5.xml" Id="R3248fe0eb7b647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05dda2d7cdc4d00" /><Relationship Type="http://schemas.openxmlformats.org/officeDocument/2006/relationships/image" Target="/ppt/media/image3.png" Id="R4e90b1c9e9f94a46" /><Relationship Type="http://schemas.openxmlformats.org/officeDocument/2006/relationships/notesSlide" Target="/ppt/notesSlides/notesSlide6.xml" Id="Rd225e743340846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96fa2d7a622423a" /><Relationship Type="http://schemas.openxmlformats.org/officeDocument/2006/relationships/image" Target="/ppt/media/image4.png" Id="Rc0e8492e6abb4e82" /><Relationship Type="http://schemas.openxmlformats.org/officeDocument/2006/relationships/notesSlide" Target="/ppt/notesSlides/notesSlide7.xml" Id="R580ebf7fd51f4d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b148622157b4d8e" /><Relationship Type="http://schemas.openxmlformats.org/officeDocument/2006/relationships/image" Target="/ppt/media/image5.png" Id="R7faac68faa454ae5" /><Relationship Type="http://schemas.openxmlformats.org/officeDocument/2006/relationships/notesSlide" Target="/ppt/notesSlides/notesSlide8.xml" Id="R583eae5b32fa40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398107f5684eb0" /><Relationship Type="http://schemas.openxmlformats.org/officeDocument/2006/relationships/notesSlide" Target="/ppt/notesSlides/notesSlide9.xml" Id="R2d2390fcf28c40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6bb50229acf43ad" /><Relationship Type="http://schemas.openxmlformats.org/officeDocument/2006/relationships/notesSlide" Target="/ppt/notesSlides/notesSlide10.xml" Id="R26f055a476ca4c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f7826be54044bbc" /><Relationship Type="http://schemas.openxmlformats.org/officeDocument/2006/relationships/notesSlide" Target="/ppt/notesSlides/notesSlide11.xml" Id="R93bb545b2e4444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b04d399c24d4db6" /><Relationship Type="http://schemas.openxmlformats.org/officeDocument/2006/relationships/notesSlide" Target="/ppt/notesSlides/notesSlide12.xml" Id="Rb7a7f9edd0334f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e5a849a96574f28" /><Relationship Type="http://schemas.openxmlformats.org/officeDocument/2006/relationships/notesSlide" Target="/ppt/notesSlides/notesSlide13.xml" Id="R3700a0b2edaa46f0" /></Relationships>
</file>

<file path=ppt/slides/slide1.xml><?xml version="1.0" encoding="utf-8"?>
<p:sld xmlns:p="http://schemas.openxmlformats.org/presentationml/2006/main">
  <p:cSld>
    <p:bg>
      <p:bgPr>
        <a:solidFill xmlns:a="http://schemas.openxmlformats.org/drawingml/2006/main">
          <a:srgbClr val="06172D"/>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935d21dce4b475c"/>
          <a:srcRect xmlns:a="http://schemas.openxmlformats.org/drawingml/2006/main" l="0" t="4513" r="0" b="45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A5524D-8E8A-46D4-8AFB-C0FB971E7B9F}"/>
              </a:ext>
            </a:extLst>
          </p:cNvPr>
          <p:cNvSpPr>
            <a:spLocks xmlns:a="http://schemas.openxmlformats.org/drawingml/2006/main" noGrp="1"/>
          </p:cNvSpPr>
          <p:nvPr/>
        </p:nvSpPr>
        <p:spPr>
          <a:xfrm xmlns:a="http://schemas.openxmlformats.org/drawingml/2006/main">
            <a:off x="0" y="0"/>
            <a:ext cx="6762750" cy="6858000"/>
          </a:xfrm>
          <a:prstGeom xmlns:a="http://schemas.openxmlformats.org/drawingml/2006/main" prst="rect">
            <a:avLst/>
          </a:prstGeom>
          <a:solidFill xmlns:a="http://schemas.openxmlformats.org/drawingml/2006/main">
            <a:srgbClr val="06172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A97002-C713-4D52-BE43-CABE75A3E99C}"/>
              </a:ext>
            </a:extLst>
          </p:cNvPr>
          <p:cNvSpPr>
            <a:spLocks xmlns:a="http://schemas.openxmlformats.org/drawingml/2006/main" noGrp="1"/>
          </p:cNvSpPr>
          <p:nvPr/>
        </p:nvSpPr>
        <p:spPr>
          <a:xfrm xmlns:a="http://schemas.openxmlformats.org/drawingml/2006/main">
            <a:off x="609600" y="742950"/>
            <a:ext cx="723900" cy="76200"/>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5F2441-4BF2-40DA-BE1B-805E0B0A9D30}"/>
              </a:ext>
            </a:extLst>
          </p:cNvPr>
          <p:cNvSpPr>
            <a:spLocks xmlns:a="http://schemas.openxmlformats.org/drawingml/2006/main" noGrp="1"/>
          </p:cNvSpPr>
          <p:nvPr/>
        </p:nvSpPr>
        <p:spPr>
          <a:xfrm xmlns:a="http://schemas.openxmlformats.org/drawingml/2006/main">
            <a:off x="609600" y="1190625"/>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23"/>
          </a:bodyPr>
          <a:lstStyle xmlns:a="http://schemas.openxmlformats.org/drawingml/2006/main"/>
          <a:p xmlns:a="http://schemas.openxmlformats.org/drawingml/2006/main">
            <a:pPr>
              <a:defRPr sz="5700" b="1">
                <a:solidFill>
                  <a:srgbClr val="F5FAFF"/>
                </a:solidFill>
                <a:latin typeface="Bahnschrift"/>
                <a:ea typeface="Bahnschrift"/>
                <a:cs typeface="Bahnschrift"/>
              </a:defRPr>
            </a:pPr>
            <a:r>
              <a:rPr sz="5700" b="1">
                <a:solidFill>
                  <a:srgbClr val="F5FAFF"/>
                </a:solidFill>
                <a:latin typeface="Bahnschrift"/>
                <a:ea typeface="Bahnschrift"/>
                <a:cs typeface="Bahnschrift"/>
              </a:rPr>
              <a:t>BusTrack</a:t>
            </a:r>
          </a:p>
        </p:txBody>
      </p:sp>
      <p:sp>
        <p:nvSpPr>
          <p:cNvPr id="5" name="">
            <a:extLst xmlns:a="http://schemas.openxmlformats.org/drawingml/2006/main">
              <a:ext uri="{FF2B5EF4-FFF2-40B4-BE49-F238E27FC236}">
                <a16:creationId xmlns:a16="http://schemas.microsoft.com/office/drawing/2014/main" id="{37DCA0E3-D993-44FF-BDF6-2377643F23B9}"/>
              </a:ext>
            </a:extLst>
          </p:cNvPr>
          <p:cNvSpPr>
            <a:spLocks xmlns:a="http://schemas.openxmlformats.org/drawingml/2006/main" noGrp="1"/>
          </p:cNvSpPr>
          <p:nvPr/>
        </p:nvSpPr>
        <p:spPr>
          <a:xfrm xmlns:a="http://schemas.openxmlformats.org/drawingml/2006/main">
            <a:off x="638175" y="2238375"/>
            <a:ext cx="5286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a:solidFill>
                  <a:srgbClr val="9EEBFF"/>
                </a:solidFill>
                <a:latin typeface="Bahnschrift"/>
                <a:ea typeface="Bahnschrift"/>
                <a:cs typeface="Bahnschrift"/>
              </a:defRPr>
            </a:pPr>
            <a:r>
              <a:rPr sz="2550" b="0">
                <a:solidFill>
                  <a:srgbClr val="9EEBFF"/>
                </a:solidFill>
                <a:latin typeface="Bahnschrift"/>
                <a:ea typeface="Bahnschrift"/>
                <a:cs typeface="Bahnschrift"/>
              </a:rPr>
              <a:t>Campus bus tracking and transport operations</a:t>
            </a:r>
          </a:p>
        </p:txBody>
      </p:sp>
      <p:sp>
        <p:nvSpPr>
          <p:cNvPr id="6" name="">
            <a:extLst xmlns:a="http://schemas.openxmlformats.org/drawingml/2006/main">
              <a:ext uri="{FF2B5EF4-FFF2-40B4-BE49-F238E27FC236}">
                <a16:creationId xmlns:a16="http://schemas.microsoft.com/office/drawing/2014/main" id="{5B295DB0-D715-4087-82B0-1987960AAE5D}"/>
              </a:ext>
            </a:extLst>
          </p:cNvPr>
          <p:cNvSpPr>
            <a:spLocks xmlns:a="http://schemas.openxmlformats.org/drawingml/2006/main" noGrp="1"/>
          </p:cNvSpPr>
          <p:nvPr/>
        </p:nvSpPr>
        <p:spPr>
          <a:xfrm xmlns:a="http://schemas.openxmlformats.org/drawingml/2006/main">
            <a:off x="638175" y="3381375"/>
            <a:ext cx="4953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0">
                <a:solidFill>
                  <a:srgbClr val="A9C1D3"/>
                </a:solidFill>
                <a:latin typeface="Segoe UI"/>
                <a:ea typeface="Segoe UI"/>
                <a:cs typeface="Segoe UI"/>
              </a:defRPr>
            </a:pPr>
            <a:r>
              <a:rPr sz="1725" b="0">
                <a:solidFill>
                  <a:srgbClr val="A9C1D3"/>
                </a:solidFill>
                <a:latin typeface="Segoe UI"/>
                <a:ea typeface="Segoe UI"/>
                <a:cs typeface="Segoe UI"/>
              </a:rPr>
              <a:t>A working platform for students, drivers, transport administrators and GPS technicians</a:t>
            </a:r>
          </a:p>
        </p:txBody>
      </p:sp>
      <p:sp>
        <p:nvSpPr>
          <p:cNvPr id="7" name="">
            <a:extLst xmlns:a="http://schemas.openxmlformats.org/drawingml/2006/main">
              <a:ext uri="{FF2B5EF4-FFF2-40B4-BE49-F238E27FC236}">
                <a16:creationId xmlns:a16="http://schemas.microsoft.com/office/drawing/2014/main" id="{DD5B1E72-4FA9-45CD-80EA-50BA10EFECC1}"/>
              </a:ext>
            </a:extLst>
          </p:cNvPr>
          <p:cNvSpPr>
            <a:spLocks xmlns:a="http://schemas.openxmlformats.org/drawingml/2006/main" noGrp="1"/>
          </p:cNvSpPr>
          <p:nvPr/>
        </p:nvSpPr>
        <p:spPr>
          <a:xfrm xmlns:a="http://schemas.openxmlformats.org/drawingml/2006/main">
            <a:off x="638175" y="5638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a:solidFill>
                  <a:srgbClr val="3AD6FF"/>
                </a:solidFill>
                <a:latin typeface="Bahnschrift"/>
                <a:ea typeface="Bahnschrift"/>
                <a:cs typeface="Bahnschrift"/>
              </a:defRPr>
            </a:pPr>
            <a:r>
              <a:rPr sz="1200" b="1">
                <a:solidFill>
                  <a:srgbClr val="3AD6FF"/>
                </a:solidFill>
                <a:latin typeface="Bahnschrift"/>
                <a:ea typeface="Bahnschrift"/>
                <a:cs typeface="Bahnschrift"/>
              </a:rPr>
              <a:t>ENTREPRENEURSHIP PRESENTATION</a:t>
            </a:r>
          </a:p>
        </p:txBody>
      </p:sp>
      <p:sp>
        <p:nvSpPr>
          <p:cNvPr id="8" name="">
            <a:extLst xmlns:a="http://schemas.openxmlformats.org/drawingml/2006/main">
              <a:ext uri="{FF2B5EF4-FFF2-40B4-BE49-F238E27FC236}">
                <a16:creationId xmlns:a16="http://schemas.microsoft.com/office/drawing/2014/main" id="{E83EC7EE-7D2C-451E-BCF4-C1B9E22F90A9}"/>
              </a:ext>
            </a:extLst>
          </p:cNvPr>
          <p:cNvSpPr>
            <a:spLocks xmlns:a="http://schemas.openxmlformats.org/drawingml/2006/main" noGrp="1"/>
          </p:cNvSpPr>
          <p:nvPr/>
        </p:nvSpPr>
        <p:spPr>
          <a:xfrm xmlns:a="http://schemas.openxmlformats.org/drawingml/2006/main">
            <a:off x="638175" y="59531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a:solidFill>
                  <a:srgbClr val="F5FAFF"/>
                </a:solidFill>
                <a:latin typeface="Segoe UI"/>
                <a:ea typeface="Segoe UI"/>
                <a:cs typeface="Segoe UI"/>
              </a:defRPr>
            </a:pPr>
            <a:r>
              <a:rPr sz="1575" b="0">
                <a:solidFill>
                  <a:srgbClr val="F5FAFF"/>
                </a:solidFill>
                <a:latin typeface="Segoe UI"/>
                <a:ea typeface="Segoe UI"/>
                <a:cs typeface="Segoe UI"/>
              </a:rPr>
              <a:t>From no tracking to a clear, managed campus journey</a:t>
            </a:r>
          </a:p>
        </p:txBody>
      </p:sp>
    </p:spTree>
    <p:extLst>
      <p:ext uri="{BB962C8B-B14F-4D97-AF65-F5344CB8AC3E}">
        <p14:creationId xmlns:p14="http://schemas.microsoft.com/office/powerpoint/2010/main" val="1760748081"/>
      </p:ext>
    </p:extLst>
  </p:cSld>
</p:sld>
</file>

<file path=ppt/slides/slide2.xml><?xml version="1.0" encoding="utf-8"?>
<p:sld xmlns:p="http://schemas.openxmlformats.org/presentationml/2006/main">
  <p:cSld>
    <p:bg>
      <p:bgPr>
        <a:solidFill xmlns:a="http://schemas.openxmlformats.org/drawingml/2006/main">
          <a:srgbClr val="06172D"/>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2D3B28B-D45C-4B7F-AC67-EC9A459985C8}"/>
              </a:ext>
            </a:extLst>
          </p:cNvPr>
          <p:cNvSpPr>
            <a:spLocks xmlns:a="http://schemas.openxmlformats.org/drawingml/2006/main" noGrp="1"/>
          </p:cNvSpPr>
          <p:nvPr/>
        </p:nvSpPr>
        <p:spPr>
          <a:xfrm xmlns:a="http://schemas.openxmlformats.org/drawingml/2006/main">
            <a:off x="609600" y="266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3AD6FF"/>
                </a:solidFill>
                <a:latin typeface="Bahnschrift"/>
                <a:ea typeface="Bahnschrift"/>
                <a:cs typeface="Bahnschrift"/>
              </a:defRPr>
            </a:pPr>
            <a:r>
              <a:rPr sz="1200" b="1">
                <a:solidFill>
                  <a:srgbClr val="3AD6FF"/>
                </a:solidFill>
                <a:latin typeface="Bahnschrift"/>
                <a:ea typeface="Bahnschrift"/>
                <a:cs typeface="Bahnschrift"/>
              </a:rPr>
              <a:t>02</a:t>
            </a:r>
          </a:p>
        </p:txBody>
      </p:sp>
      <p:sp>
        <p:nvSpPr>
          <p:cNvPr id="2" name="">
            <a:extLst xmlns:a="http://schemas.openxmlformats.org/drawingml/2006/main">
              <a:ext uri="{FF2B5EF4-FFF2-40B4-BE49-F238E27FC236}">
                <a16:creationId xmlns:a16="http://schemas.microsoft.com/office/drawing/2014/main" id="{B2220245-1E92-4FFA-8B58-4F6EB26469C4}"/>
              </a:ext>
            </a:extLst>
          </p:cNvPr>
          <p:cNvSpPr>
            <a:spLocks xmlns:a="http://schemas.openxmlformats.org/drawingml/2006/main" noGrp="1"/>
          </p:cNvSpPr>
          <p:nvPr/>
        </p:nvSpPr>
        <p:spPr>
          <a:xfrm xmlns:a="http://schemas.openxmlformats.org/drawingml/2006/main">
            <a:off x="609600" y="5715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58"/>
          </a:bodyPr>
          <a:lstStyle xmlns:a="http://schemas.openxmlformats.org/drawingml/2006/main"/>
          <a:p xmlns:a="http://schemas.openxmlformats.org/drawingml/2006/main">
            <a:pPr>
              <a:defRPr sz="3450" b="1">
                <a:solidFill>
                  <a:srgbClr val="F5FAFF"/>
                </a:solidFill>
                <a:latin typeface="Bahnschrift"/>
                <a:ea typeface="Bahnschrift"/>
                <a:cs typeface="Bahnschrift"/>
              </a:defRPr>
            </a:pPr>
            <a:r>
              <a:rPr sz="3450" b="1">
                <a:solidFill>
                  <a:srgbClr val="F5FAFF"/>
                </a:solidFill>
                <a:latin typeface="Bahnschrift"/>
                <a:ea typeface="Bahnschrift"/>
                <a:cs typeface="Bahnschrift"/>
              </a:rPr>
              <a:t>The current campus experience</a:t>
            </a:r>
          </a:p>
        </p:txBody>
      </p:sp>
      <p:sp>
        <p:nvSpPr>
          <p:cNvPr id="3" name="">
            <a:extLst xmlns:a="http://schemas.openxmlformats.org/drawingml/2006/main">
              <a:ext uri="{FF2B5EF4-FFF2-40B4-BE49-F238E27FC236}">
                <a16:creationId xmlns:a16="http://schemas.microsoft.com/office/drawing/2014/main" id="{F479DC91-7E8B-4605-88D9-2CF24C059773}"/>
              </a:ext>
            </a:extLst>
          </p:cNvPr>
          <p:cNvSpPr>
            <a:spLocks xmlns:a="http://schemas.openxmlformats.org/drawingml/2006/main" noGrp="1"/>
          </p:cNvSpPr>
          <p:nvPr/>
        </p:nvSpPr>
        <p:spPr>
          <a:xfrm xmlns:a="http://schemas.openxmlformats.org/drawingml/2006/main">
            <a:off x="609600" y="1209675"/>
            <a:ext cx="819150" cy="38100"/>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879558-A379-4EDB-A1C1-E840EB940843}"/>
              </a:ext>
            </a:extLst>
          </p:cNvPr>
          <p:cNvSpPr>
            <a:spLocks xmlns:a="http://schemas.openxmlformats.org/drawingml/2006/main" noGrp="1"/>
          </p:cNvSpPr>
          <p:nvPr/>
        </p:nvSpPr>
        <p:spPr>
          <a:xfrm xmlns:a="http://schemas.openxmlformats.org/drawingml/2006/main">
            <a:off x="1666875" y="1104900"/>
            <a:ext cx="919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There is no live bus tracking system today</a:t>
            </a:r>
          </a:p>
        </p:txBody>
      </p:sp>
      <p:sp>
        <p:nvSpPr>
          <p:cNvPr id="5" name="">
            <a:extLst xmlns:a="http://schemas.openxmlformats.org/drawingml/2006/main">
              <a:ext uri="{FF2B5EF4-FFF2-40B4-BE49-F238E27FC236}">
                <a16:creationId xmlns:a16="http://schemas.microsoft.com/office/drawing/2014/main" id="{62079470-9A5D-4E8C-A509-6C51D34899A1}"/>
              </a:ext>
            </a:extLst>
          </p:cNvPr>
          <p:cNvSpPr>
            <a:spLocks xmlns:a="http://schemas.openxmlformats.org/drawingml/2006/main" noGrp="1"/>
          </p:cNvSpPr>
          <p:nvPr/>
        </p:nvSpPr>
        <p:spPr>
          <a:xfrm xmlns:a="http://schemas.openxmlformats.org/drawingml/2006/main">
            <a:off x="11334750" y="64389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0000"/>
          </a:bodyPr>
          <a:lstStyle xmlns:a="http://schemas.openxmlformats.org/drawingml/2006/main"/>
          <a:p xmlns:a="http://schemas.openxmlformats.org/drawingml/2006/main">
            <a:pPr>
              <a:defRPr sz="1050" b="0">
                <a:solidFill>
                  <a:srgbClr val="6E8AA0"/>
                </a:solidFill>
                <a:latin typeface="Segoe UI"/>
                <a:ea typeface="Segoe UI"/>
                <a:cs typeface="Segoe UI"/>
              </a:defRPr>
            </a:pPr>
            <a:r>
              <a:rPr sz="1050" b="0">
                <a:solidFill>
                  <a:srgbClr val="6E8AA0"/>
                </a:solidFill>
                <a:latin typeface="Segoe UI"/>
                <a:ea typeface="Segoe UI"/>
                <a:cs typeface="Segoe UI"/>
              </a:rPr>
              <a:t>2</a:t>
            </a:r>
          </a:p>
        </p:txBody>
      </p:sp>
      <p:sp>
        <p:nvSpPr>
          <p:cNvPr id="6" name="">
            <a:extLst xmlns:a="http://schemas.openxmlformats.org/drawingml/2006/main">
              <a:ext uri="{FF2B5EF4-FFF2-40B4-BE49-F238E27FC236}">
                <a16:creationId xmlns:a16="http://schemas.microsoft.com/office/drawing/2014/main" id="{38D36C4C-2B26-4F5B-996A-7ECD3586D439}"/>
              </a:ext>
            </a:extLst>
          </p:cNvPr>
          <p:cNvSpPr>
            <a:spLocks xmlns:a="http://schemas.openxmlformats.org/drawingml/2006/main" noGrp="1"/>
          </p:cNvSpPr>
          <p:nvPr/>
        </p:nvSpPr>
        <p:spPr>
          <a:xfrm xmlns:a="http://schemas.openxmlformats.org/drawingml/2006/main">
            <a:off x="666750" y="1619250"/>
            <a:ext cx="238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0" b="1">
                <a:solidFill>
                  <a:srgbClr val="3AD6FF"/>
                </a:solidFill>
                <a:latin typeface="Bahnschrift"/>
                <a:ea typeface="Bahnschrift"/>
                <a:cs typeface="Bahnschrift"/>
              </a:defRPr>
            </a:pPr>
            <a:r>
              <a:rPr sz="11250" b="1">
                <a:solidFill>
                  <a:srgbClr val="3AD6FF"/>
                </a:solidFill>
                <a:latin typeface="Bahnschrift"/>
                <a:ea typeface="Bahnschrift"/>
                <a:cs typeface="Bahnschrift"/>
              </a:rPr>
              <a:t>0</a:t>
            </a:r>
          </a:p>
        </p:txBody>
      </p:sp>
      <p:sp>
        <p:nvSpPr>
          <p:cNvPr id="7" name="">
            <a:extLst xmlns:a="http://schemas.openxmlformats.org/drawingml/2006/main">
              <a:ext uri="{FF2B5EF4-FFF2-40B4-BE49-F238E27FC236}">
                <a16:creationId xmlns:a16="http://schemas.microsoft.com/office/drawing/2014/main" id="{B8375ED8-5590-4662-8F3D-E8E78FD6AA0A}"/>
              </a:ext>
            </a:extLst>
          </p:cNvPr>
          <p:cNvSpPr>
            <a:spLocks xmlns:a="http://schemas.openxmlformats.org/drawingml/2006/main" noGrp="1"/>
          </p:cNvSpPr>
          <p:nvPr/>
        </p:nvSpPr>
        <p:spPr>
          <a:xfrm xmlns:a="http://schemas.openxmlformats.org/drawingml/2006/main">
            <a:off x="819150" y="3381375"/>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950" b="1">
                <a:solidFill>
                  <a:srgbClr val="F5FAFF"/>
                </a:solidFill>
                <a:latin typeface="Bahnschrift"/>
                <a:ea typeface="Bahnschrift"/>
                <a:cs typeface="Bahnschrift"/>
              </a:defRPr>
            </a:pPr>
            <a:r>
              <a:rPr sz="1950" b="1">
                <a:solidFill>
                  <a:srgbClr val="F5FAFF"/>
                </a:solidFill>
                <a:latin typeface="Bahnschrift"/>
                <a:ea typeface="Bahnschrift"/>
                <a:cs typeface="Bahnschrift"/>
              </a:rPr>
              <a:t>live tracking tools</a:t>
            </a:r>
          </a:p>
        </p:txBody>
      </p:sp>
      <p:sp>
        <p:nvSpPr>
          <p:cNvPr id="8" name="">
            <a:extLst xmlns:a="http://schemas.openxmlformats.org/drawingml/2006/main">
              <a:ext uri="{FF2B5EF4-FFF2-40B4-BE49-F238E27FC236}">
                <a16:creationId xmlns:a16="http://schemas.microsoft.com/office/drawing/2014/main" id="{20FFE8F1-494C-4DF4-B6A1-E60C2DC28037}"/>
              </a:ext>
            </a:extLst>
          </p:cNvPr>
          <p:cNvSpPr>
            <a:spLocks xmlns:a="http://schemas.openxmlformats.org/drawingml/2006/main" noGrp="1"/>
          </p:cNvSpPr>
          <p:nvPr/>
        </p:nvSpPr>
        <p:spPr>
          <a:xfrm xmlns:a="http://schemas.openxmlformats.org/drawingml/2006/main">
            <a:off x="819150" y="4000500"/>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A9C1D3"/>
                </a:solidFill>
                <a:latin typeface="Segoe UI"/>
                <a:ea typeface="Segoe UI"/>
                <a:cs typeface="Segoe UI"/>
              </a:defRPr>
            </a:pPr>
            <a:r>
              <a:rPr sz="1800" b="0">
                <a:solidFill>
                  <a:srgbClr val="A9C1D3"/>
                </a:solidFill>
                <a:latin typeface="Segoe UI"/>
                <a:ea typeface="Segoe UI"/>
                <a:cs typeface="Segoe UI"/>
              </a:rPr>
              <a:t>Students must estimate where the bus is and when it will reach their stop.</a:t>
            </a:r>
          </a:p>
        </p:txBody>
      </p:sp>
      <p:sp>
        <p:nvSpPr>
          <p:cNvPr id="9" name="">
            <a:extLst xmlns:a="http://schemas.openxmlformats.org/drawingml/2006/main">
              <a:ext uri="{FF2B5EF4-FFF2-40B4-BE49-F238E27FC236}">
                <a16:creationId xmlns:a16="http://schemas.microsoft.com/office/drawing/2014/main" id="{F35ADC28-FD55-4B60-9186-50FCA6CFDB57}"/>
              </a:ext>
            </a:extLst>
          </p:cNvPr>
          <p:cNvSpPr>
            <a:spLocks xmlns:a="http://schemas.openxmlformats.org/drawingml/2006/main" noGrp="1"/>
          </p:cNvSpPr>
          <p:nvPr/>
        </p:nvSpPr>
        <p:spPr>
          <a:xfrm xmlns:a="http://schemas.openxmlformats.org/drawingml/2006/main">
            <a:off x="4476750" y="1666875"/>
            <a:ext cx="19050" cy="3857625"/>
          </a:xfrm>
          <a:prstGeom xmlns:a="http://schemas.openxmlformats.org/drawingml/2006/main" prst="rect">
            <a:avLst/>
          </a:prstGeom>
          <a:solidFill xmlns:a="http://schemas.openxmlformats.org/drawingml/2006/main">
            <a:srgbClr val="21436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093D855-2414-4697-BE5D-FFE5C1F46957}"/>
              </a:ext>
            </a:extLst>
          </p:cNvPr>
          <p:cNvSpPr>
            <a:spLocks xmlns:a="http://schemas.openxmlformats.org/drawingml/2006/main" noGrp="1"/>
          </p:cNvSpPr>
          <p:nvPr/>
        </p:nvSpPr>
        <p:spPr>
          <a:xfrm xmlns:a="http://schemas.openxmlformats.org/drawingml/2006/main">
            <a:off x="4953000" y="1714500"/>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defRPr sz="1800" b="1">
                <a:solidFill>
                  <a:srgbClr val="3AD6FF"/>
                </a:solidFill>
                <a:latin typeface="Bahnschrift"/>
                <a:ea typeface="Bahnschrift"/>
                <a:cs typeface="Bahnschrift"/>
              </a:defRPr>
            </a:pPr>
            <a:r>
              <a:rPr sz="1800" b="1">
                <a:solidFill>
                  <a:srgbClr val="3AD6FF"/>
                </a:solidFill>
                <a:latin typeface="Bahnschrift"/>
                <a:ea typeface="Bahnschrift"/>
                <a:cs typeface="Bahnschrift"/>
              </a:rPr>
              <a:t>01</a:t>
            </a:r>
          </a:p>
        </p:txBody>
      </p:sp>
      <p:sp>
        <p:nvSpPr>
          <p:cNvPr id="11" name="">
            <a:extLst xmlns:a="http://schemas.openxmlformats.org/drawingml/2006/main">
              <a:ext uri="{FF2B5EF4-FFF2-40B4-BE49-F238E27FC236}">
                <a16:creationId xmlns:a16="http://schemas.microsoft.com/office/drawing/2014/main" id="{A7874704-8666-4948-A29D-FFAF3610F859}"/>
              </a:ext>
            </a:extLst>
          </p:cNvPr>
          <p:cNvSpPr>
            <a:spLocks xmlns:a="http://schemas.openxmlformats.org/drawingml/2006/main" noGrp="1"/>
          </p:cNvSpPr>
          <p:nvPr/>
        </p:nvSpPr>
        <p:spPr>
          <a:xfrm xmlns:a="http://schemas.openxmlformats.org/drawingml/2006/main">
            <a:off x="5600700" y="1714500"/>
            <a:ext cx="544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Uncertain waiting</a:t>
            </a:r>
          </a:p>
        </p:txBody>
      </p:sp>
      <p:sp>
        <p:nvSpPr>
          <p:cNvPr id="12" name="">
            <a:extLst xmlns:a="http://schemas.openxmlformats.org/drawingml/2006/main">
              <a:ext uri="{FF2B5EF4-FFF2-40B4-BE49-F238E27FC236}">
                <a16:creationId xmlns:a16="http://schemas.microsoft.com/office/drawing/2014/main" id="{DF085A8D-6AC9-4505-992B-6A4D7D5D7AA7}"/>
              </a:ext>
            </a:extLst>
          </p:cNvPr>
          <p:cNvSpPr>
            <a:spLocks xmlns:a="http://schemas.openxmlformats.org/drawingml/2006/main" noGrp="1"/>
          </p:cNvSpPr>
          <p:nvPr/>
        </p:nvSpPr>
        <p:spPr>
          <a:xfrm xmlns:a="http://schemas.openxmlformats.org/drawingml/2006/main">
            <a:off x="5600700" y="2047875"/>
            <a:ext cx="5448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Students may arrive too early or risk missing the bus.</a:t>
            </a:r>
          </a:p>
        </p:txBody>
      </p:sp>
      <p:sp>
        <p:nvSpPr>
          <p:cNvPr id="13" name="">
            <a:extLst xmlns:a="http://schemas.openxmlformats.org/drawingml/2006/main">
              <a:ext uri="{FF2B5EF4-FFF2-40B4-BE49-F238E27FC236}">
                <a16:creationId xmlns:a16="http://schemas.microsoft.com/office/drawing/2014/main" id="{0C0757D1-B33B-48F9-88EB-8D349E44D000}"/>
              </a:ext>
            </a:extLst>
          </p:cNvPr>
          <p:cNvSpPr>
            <a:spLocks xmlns:a="http://schemas.openxmlformats.org/drawingml/2006/main" noGrp="1"/>
          </p:cNvSpPr>
          <p:nvPr/>
        </p:nvSpPr>
        <p:spPr>
          <a:xfrm xmlns:a="http://schemas.openxmlformats.org/drawingml/2006/main">
            <a:off x="4953000" y="2809875"/>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defRPr sz="1800" b="1">
                <a:solidFill>
                  <a:srgbClr val="3AD6FF"/>
                </a:solidFill>
                <a:latin typeface="Bahnschrift"/>
                <a:ea typeface="Bahnschrift"/>
                <a:cs typeface="Bahnschrift"/>
              </a:defRPr>
            </a:pPr>
            <a:r>
              <a:rPr sz="1800" b="1">
                <a:solidFill>
                  <a:srgbClr val="3AD6FF"/>
                </a:solidFill>
                <a:latin typeface="Bahnschrift"/>
                <a:ea typeface="Bahnschrift"/>
                <a:cs typeface="Bahnschrift"/>
              </a:rPr>
              <a:t>02</a:t>
            </a:r>
          </a:p>
        </p:txBody>
      </p:sp>
      <p:sp>
        <p:nvSpPr>
          <p:cNvPr id="14" name="">
            <a:extLst xmlns:a="http://schemas.openxmlformats.org/drawingml/2006/main">
              <a:ext uri="{FF2B5EF4-FFF2-40B4-BE49-F238E27FC236}">
                <a16:creationId xmlns:a16="http://schemas.microsoft.com/office/drawing/2014/main" id="{EA2E7FAF-0BC5-4D72-AB58-83103F1E4134}"/>
              </a:ext>
            </a:extLst>
          </p:cNvPr>
          <p:cNvSpPr>
            <a:spLocks xmlns:a="http://schemas.openxmlformats.org/drawingml/2006/main" noGrp="1"/>
          </p:cNvSpPr>
          <p:nvPr/>
        </p:nvSpPr>
        <p:spPr>
          <a:xfrm xmlns:a="http://schemas.openxmlformats.org/drawingml/2006/main">
            <a:off x="5600700" y="2809875"/>
            <a:ext cx="544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Repeated calls</a:t>
            </a:r>
          </a:p>
        </p:txBody>
      </p:sp>
      <p:sp>
        <p:nvSpPr>
          <p:cNvPr id="15" name="">
            <a:extLst xmlns:a="http://schemas.openxmlformats.org/drawingml/2006/main">
              <a:ext uri="{FF2B5EF4-FFF2-40B4-BE49-F238E27FC236}">
                <a16:creationId xmlns:a16="http://schemas.microsoft.com/office/drawing/2014/main" id="{F5A3DD4B-8333-4D75-B240-D3192971CEEC}"/>
              </a:ext>
            </a:extLst>
          </p:cNvPr>
          <p:cNvSpPr>
            <a:spLocks xmlns:a="http://schemas.openxmlformats.org/drawingml/2006/main" noGrp="1"/>
          </p:cNvSpPr>
          <p:nvPr/>
        </p:nvSpPr>
        <p:spPr>
          <a:xfrm xmlns:a="http://schemas.openxmlformats.org/drawingml/2006/main">
            <a:off x="5600700" y="3143250"/>
            <a:ext cx="5448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Drivers and transport staff receive location questions during trips.</a:t>
            </a:r>
          </a:p>
        </p:txBody>
      </p:sp>
      <p:sp>
        <p:nvSpPr>
          <p:cNvPr id="16" name="">
            <a:extLst xmlns:a="http://schemas.openxmlformats.org/drawingml/2006/main">
              <a:ext uri="{FF2B5EF4-FFF2-40B4-BE49-F238E27FC236}">
                <a16:creationId xmlns:a16="http://schemas.microsoft.com/office/drawing/2014/main" id="{132CF490-96B4-405F-9A32-E0031BF70D57}"/>
              </a:ext>
            </a:extLst>
          </p:cNvPr>
          <p:cNvSpPr>
            <a:spLocks xmlns:a="http://schemas.openxmlformats.org/drawingml/2006/main" noGrp="1"/>
          </p:cNvSpPr>
          <p:nvPr/>
        </p:nvSpPr>
        <p:spPr>
          <a:xfrm xmlns:a="http://schemas.openxmlformats.org/drawingml/2006/main">
            <a:off x="4953000" y="3905250"/>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defRPr sz="1800" b="1">
                <a:solidFill>
                  <a:srgbClr val="3AD6FF"/>
                </a:solidFill>
                <a:latin typeface="Bahnschrift"/>
                <a:ea typeface="Bahnschrift"/>
                <a:cs typeface="Bahnschrift"/>
              </a:defRPr>
            </a:pPr>
            <a:r>
              <a:rPr sz="1800" b="1">
                <a:solidFill>
                  <a:srgbClr val="3AD6FF"/>
                </a:solidFill>
                <a:latin typeface="Bahnschrift"/>
                <a:ea typeface="Bahnschrift"/>
                <a:cs typeface="Bahnschrift"/>
              </a:rPr>
              <a:t>03</a:t>
            </a:r>
          </a:p>
        </p:txBody>
      </p:sp>
      <p:sp>
        <p:nvSpPr>
          <p:cNvPr id="17" name="">
            <a:extLst xmlns:a="http://schemas.openxmlformats.org/drawingml/2006/main">
              <a:ext uri="{FF2B5EF4-FFF2-40B4-BE49-F238E27FC236}">
                <a16:creationId xmlns:a16="http://schemas.microsoft.com/office/drawing/2014/main" id="{AD11F525-BB0B-451A-A6EC-9B5034A6C572}"/>
              </a:ext>
            </a:extLst>
          </p:cNvPr>
          <p:cNvSpPr>
            <a:spLocks xmlns:a="http://schemas.openxmlformats.org/drawingml/2006/main" noGrp="1"/>
          </p:cNvSpPr>
          <p:nvPr/>
        </p:nvSpPr>
        <p:spPr>
          <a:xfrm xmlns:a="http://schemas.openxmlformats.org/drawingml/2006/main">
            <a:off x="5600700" y="3905250"/>
            <a:ext cx="544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No journey record</a:t>
            </a:r>
          </a:p>
        </p:txBody>
      </p:sp>
      <p:sp>
        <p:nvSpPr>
          <p:cNvPr id="18" name="">
            <a:extLst xmlns:a="http://schemas.openxmlformats.org/drawingml/2006/main">
              <a:ext uri="{FF2B5EF4-FFF2-40B4-BE49-F238E27FC236}">
                <a16:creationId xmlns:a16="http://schemas.microsoft.com/office/drawing/2014/main" id="{BA971A67-3822-4C7F-BDA7-5AA1F90CF40A}"/>
              </a:ext>
            </a:extLst>
          </p:cNvPr>
          <p:cNvSpPr>
            <a:spLocks xmlns:a="http://schemas.openxmlformats.org/drawingml/2006/main" noGrp="1"/>
          </p:cNvSpPr>
          <p:nvPr/>
        </p:nvSpPr>
        <p:spPr>
          <a:xfrm xmlns:a="http://schemas.openxmlformats.org/drawingml/2006/main">
            <a:off x="5600700" y="4238625"/>
            <a:ext cx="5448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The college cannot review exact stop arrivals or completed route legs.</a:t>
            </a:r>
          </a:p>
        </p:txBody>
      </p:sp>
      <p:sp>
        <p:nvSpPr>
          <p:cNvPr id="19" name="">
            <a:extLst xmlns:a="http://schemas.openxmlformats.org/drawingml/2006/main">
              <a:ext uri="{FF2B5EF4-FFF2-40B4-BE49-F238E27FC236}">
                <a16:creationId xmlns:a16="http://schemas.microsoft.com/office/drawing/2014/main" id="{5FB433A9-B796-4124-8EDC-EDE31A99E1A2}"/>
              </a:ext>
            </a:extLst>
          </p:cNvPr>
          <p:cNvSpPr>
            <a:spLocks xmlns:a="http://schemas.openxmlformats.org/drawingml/2006/main" noGrp="1"/>
          </p:cNvSpPr>
          <p:nvPr/>
        </p:nvSpPr>
        <p:spPr>
          <a:xfrm xmlns:a="http://schemas.openxmlformats.org/drawingml/2006/main">
            <a:off x="4953000" y="5000625"/>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defRPr sz="1800" b="1">
                <a:solidFill>
                  <a:srgbClr val="3AD6FF"/>
                </a:solidFill>
                <a:latin typeface="Bahnschrift"/>
                <a:ea typeface="Bahnschrift"/>
                <a:cs typeface="Bahnschrift"/>
              </a:defRPr>
            </a:pPr>
            <a:r>
              <a:rPr sz="1800" b="1">
                <a:solidFill>
                  <a:srgbClr val="3AD6FF"/>
                </a:solidFill>
                <a:latin typeface="Bahnschrift"/>
                <a:ea typeface="Bahnschrift"/>
                <a:cs typeface="Bahnschrift"/>
              </a:rPr>
              <a:t>04</a:t>
            </a:r>
          </a:p>
        </p:txBody>
      </p:sp>
      <p:sp>
        <p:nvSpPr>
          <p:cNvPr id="20" name="">
            <a:extLst xmlns:a="http://schemas.openxmlformats.org/drawingml/2006/main">
              <a:ext uri="{FF2B5EF4-FFF2-40B4-BE49-F238E27FC236}">
                <a16:creationId xmlns:a16="http://schemas.microsoft.com/office/drawing/2014/main" id="{0CA13A88-ACE8-4D98-B3F5-029651D5A9EA}"/>
              </a:ext>
            </a:extLst>
          </p:cNvPr>
          <p:cNvSpPr>
            <a:spLocks xmlns:a="http://schemas.openxmlformats.org/drawingml/2006/main" noGrp="1"/>
          </p:cNvSpPr>
          <p:nvPr/>
        </p:nvSpPr>
        <p:spPr>
          <a:xfrm xmlns:a="http://schemas.openxmlformats.org/drawingml/2006/main">
            <a:off x="5600700" y="5000625"/>
            <a:ext cx="544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Limited visibility</a:t>
            </a:r>
          </a:p>
        </p:txBody>
      </p:sp>
      <p:sp>
        <p:nvSpPr>
          <p:cNvPr id="21" name="">
            <a:extLst xmlns:a="http://schemas.openxmlformats.org/drawingml/2006/main">
              <a:ext uri="{FF2B5EF4-FFF2-40B4-BE49-F238E27FC236}">
                <a16:creationId xmlns:a16="http://schemas.microsoft.com/office/drawing/2014/main" id="{7D54A412-B208-4C17-B315-A2517A0A8135}"/>
              </a:ext>
            </a:extLst>
          </p:cNvPr>
          <p:cNvSpPr>
            <a:spLocks xmlns:a="http://schemas.openxmlformats.org/drawingml/2006/main" noGrp="1"/>
          </p:cNvSpPr>
          <p:nvPr/>
        </p:nvSpPr>
        <p:spPr>
          <a:xfrm xmlns:a="http://schemas.openxmlformats.org/drawingml/2006/main">
            <a:off x="5600700" y="5334000"/>
            <a:ext cx="5448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Administrators cannot see the whole fleet from one place.</a:t>
            </a:r>
          </a:p>
        </p:txBody>
      </p:sp>
    </p:spTree>
    <p:extLst>
      <p:ext uri="{BB962C8B-B14F-4D97-AF65-F5344CB8AC3E}">
        <p14:creationId xmlns:p14="http://schemas.microsoft.com/office/powerpoint/2010/main" val="1201503507"/>
      </p:ext>
    </p:extLst>
  </p:cSld>
</p:sld>
</file>

<file path=ppt/slides/slide3.xml><?xml version="1.0" encoding="utf-8"?>
<p:sld xmlns:p="http://schemas.openxmlformats.org/presentationml/2006/main">
  <p:cSld>
    <p:bg>
      <p:bgPr>
        <a:solidFill xmlns:a="http://schemas.openxmlformats.org/drawingml/2006/main">
          <a:srgbClr val="06172D"/>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2F62E85-28D8-4275-94CD-E029D77A573E}"/>
              </a:ext>
            </a:extLst>
          </p:cNvPr>
          <p:cNvSpPr>
            <a:spLocks xmlns:a="http://schemas.openxmlformats.org/drawingml/2006/main" noGrp="1"/>
          </p:cNvSpPr>
          <p:nvPr/>
        </p:nvSpPr>
        <p:spPr>
          <a:xfrm xmlns:a="http://schemas.openxmlformats.org/drawingml/2006/main">
            <a:off x="609600" y="266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3AD6FF"/>
                </a:solidFill>
                <a:latin typeface="Bahnschrift"/>
                <a:ea typeface="Bahnschrift"/>
                <a:cs typeface="Bahnschrift"/>
              </a:defRPr>
            </a:pPr>
            <a:r>
              <a:rPr sz="1200" b="1">
                <a:solidFill>
                  <a:srgbClr val="3AD6FF"/>
                </a:solidFill>
                <a:latin typeface="Bahnschrift"/>
                <a:ea typeface="Bahnschrift"/>
                <a:cs typeface="Bahnschrift"/>
              </a:rPr>
              <a:t>03</a:t>
            </a:r>
          </a:p>
        </p:txBody>
      </p:sp>
      <p:sp>
        <p:nvSpPr>
          <p:cNvPr id="2" name="">
            <a:extLst xmlns:a="http://schemas.openxmlformats.org/drawingml/2006/main">
              <a:ext uri="{FF2B5EF4-FFF2-40B4-BE49-F238E27FC236}">
                <a16:creationId xmlns:a16="http://schemas.microsoft.com/office/drawing/2014/main" id="{869F74CE-5D24-4379-BE49-DB881815880D}"/>
              </a:ext>
            </a:extLst>
          </p:cNvPr>
          <p:cNvSpPr>
            <a:spLocks xmlns:a="http://schemas.openxmlformats.org/drawingml/2006/main" noGrp="1"/>
          </p:cNvSpPr>
          <p:nvPr/>
        </p:nvSpPr>
        <p:spPr>
          <a:xfrm xmlns:a="http://schemas.openxmlformats.org/drawingml/2006/main">
            <a:off x="609600" y="5715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58"/>
          </a:bodyPr>
          <a:lstStyle xmlns:a="http://schemas.openxmlformats.org/drawingml/2006/main"/>
          <a:p xmlns:a="http://schemas.openxmlformats.org/drawingml/2006/main">
            <a:pPr>
              <a:defRPr sz="3450" b="1">
                <a:solidFill>
                  <a:srgbClr val="F5FAFF"/>
                </a:solidFill>
                <a:latin typeface="Bahnschrift"/>
                <a:ea typeface="Bahnschrift"/>
                <a:cs typeface="Bahnschrift"/>
              </a:defRPr>
            </a:pPr>
            <a:r>
              <a:rPr sz="3450" b="1">
                <a:solidFill>
                  <a:srgbClr val="F5FAFF"/>
                </a:solidFill>
                <a:latin typeface="Bahnschrift"/>
                <a:ea typeface="Bahnschrift"/>
                <a:cs typeface="Bahnschrift"/>
              </a:rPr>
              <a:t>One system, four focused portals</a:t>
            </a:r>
          </a:p>
        </p:txBody>
      </p:sp>
      <p:sp>
        <p:nvSpPr>
          <p:cNvPr id="3" name="">
            <a:extLst xmlns:a="http://schemas.openxmlformats.org/drawingml/2006/main">
              <a:ext uri="{FF2B5EF4-FFF2-40B4-BE49-F238E27FC236}">
                <a16:creationId xmlns:a16="http://schemas.microsoft.com/office/drawing/2014/main" id="{1E03E5E6-68E6-46E9-93C4-1BDD282C0453}"/>
              </a:ext>
            </a:extLst>
          </p:cNvPr>
          <p:cNvSpPr>
            <a:spLocks xmlns:a="http://schemas.openxmlformats.org/drawingml/2006/main" noGrp="1"/>
          </p:cNvSpPr>
          <p:nvPr/>
        </p:nvSpPr>
        <p:spPr>
          <a:xfrm xmlns:a="http://schemas.openxmlformats.org/drawingml/2006/main">
            <a:off x="609600" y="1209675"/>
            <a:ext cx="819150" cy="38100"/>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53EA2A6-D5EB-4DF0-BD44-5F0E22730E90}"/>
              </a:ext>
            </a:extLst>
          </p:cNvPr>
          <p:cNvSpPr>
            <a:spLocks xmlns:a="http://schemas.openxmlformats.org/drawingml/2006/main" noGrp="1"/>
          </p:cNvSpPr>
          <p:nvPr/>
        </p:nvSpPr>
        <p:spPr>
          <a:xfrm xmlns:a="http://schemas.openxmlformats.org/drawingml/2006/main">
            <a:off x="1666875" y="1104900"/>
            <a:ext cx="919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Each person sees the information needed for their role</a:t>
            </a:r>
          </a:p>
        </p:txBody>
      </p:sp>
      <p:sp>
        <p:nvSpPr>
          <p:cNvPr id="5" name="">
            <a:extLst xmlns:a="http://schemas.openxmlformats.org/drawingml/2006/main">
              <a:ext uri="{FF2B5EF4-FFF2-40B4-BE49-F238E27FC236}">
                <a16:creationId xmlns:a16="http://schemas.microsoft.com/office/drawing/2014/main" id="{1945E722-9311-457E-A308-525585830CD0}"/>
              </a:ext>
            </a:extLst>
          </p:cNvPr>
          <p:cNvSpPr>
            <a:spLocks xmlns:a="http://schemas.openxmlformats.org/drawingml/2006/main" noGrp="1"/>
          </p:cNvSpPr>
          <p:nvPr/>
        </p:nvSpPr>
        <p:spPr>
          <a:xfrm xmlns:a="http://schemas.openxmlformats.org/drawingml/2006/main">
            <a:off x="11334750" y="64389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0000"/>
          </a:bodyPr>
          <a:lstStyle xmlns:a="http://schemas.openxmlformats.org/drawingml/2006/main"/>
          <a:p xmlns:a="http://schemas.openxmlformats.org/drawingml/2006/main">
            <a:pPr>
              <a:defRPr sz="1050" b="0">
                <a:solidFill>
                  <a:srgbClr val="6E8AA0"/>
                </a:solidFill>
                <a:latin typeface="Segoe UI"/>
                <a:ea typeface="Segoe UI"/>
                <a:cs typeface="Segoe UI"/>
              </a:defRPr>
            </a:pPr>
            <a:r>
              <a:rPr sz="1050" b="0">
                <a:solidFill>
                  <a:srgbClr val="6E8AA0"/>
                </a:solidFill>
                <a:latin typeface="Segoe UI"/>
                <a:ea typeface="Segoe UI"/>
                <a:cs typeface="Segoe UI"/>
              </a:rPr>
              <a:t>3</a:t>
            </a:r>
          </a:p>
        </p:txBody>
      </p:sp>
      <p:sp>
        <p:nvSpPr>
          <p:cNvPr id="6" name="">
            <a:extLst xmlns:a="http://schemas.openxmlformats.org/drawingml/2006/main">
              <a:ext uri="{FF2B5EF4-FFF2-40B4-BE49-F238E27FC236}">
                <a16:creationId xmlns:a16="http://schemas.microsoft.com/office/drawing/2014/main" id="{13466A22-D190-444C-BB9D-A6185D63EC21}"/>
              </a:ext>
            </a:extLst>
          </p:cNvPr>
          <p:cNvSpPr>
            <a:spLocks xmlns:a="http://schemas.openxmlformats.org/drawingml/2006/main" noGrp="1"/>
          </p:cNvSpPr>
          <p:nvPr/>
        </p:nvSpPr>
        <p:spPr>
          <a:xfrm xmlns:a="http://schemas.openxmlformats.org/drawingml/2006/main">
            <a:off x="609600" y="17145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3AD6FF"/>
                </a:solidFill>
                <a:latin typeface="Bahnschrift"/>
                <a:ea typeface="Bahnschrift"/>
                <a:cs typeface="Bahnschrift"/>
              </a:defRPr>
            </a:pPr>
            <a:r>
              <a:rPr sz="1275" b="1">
                <a:solidFill>
                  <a:srgbClr val="3AD6FF"/>
                </a:solidFill>
                <a:latin typeface="Bahnschrift"/>
                <a:ea typeface="Bahnschrift"/>
                <a:cs typeface="Bahnschrift"/>
              </a:rPr>
              <a:t>STUDENT</a:t>
            </a:r>
          </a:p>
        </p:txBody>
      </p:sp>
      <p:sp>
        <p:nvSpPr>
          <p:cNvPr id="7" name="">
            <a:extLst xmlns:a="http://schemas.openxmlformats.org/drawingml/2006/main">
              <a:ext uri="{FF2B5EF4-FFF2-40B4-BE49-F238E27FC236}">
                <a16:creationId xmlns:a16="http://schemas.microsoft.com/office/drawing/2014/main" id="{AB7C8482-F629-4F10-A23E-3C48905A488D}"/>
              </a:ext>
            </a:extLst>
          </p:cNvPr>
          <p:cNvSpPr>
            <a:spLocks xmlns:a="http://schemas.openxmlformats.org/drawingml/2006/main" noGrp="1"/>
          </p:cNvSpPr>
          <p:nvPr/>
        </p:nvSpPr>
        <p:spPr>
          <a:xfrm xmlns:a="http://schemas.openxmlformats.org/drawingml/2006/main">
            <a:off x="609600" y="219075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298"/>
          </a:bodyPr>
          <a:lstStyle xmlns:a="http://schemas.openxmlformats.org/drawingml/2006/main"/>
          <a:p xmlns:a="http://schemas.openxmlformats.org/drawingml/2006/main">
            <a:pPr>
              <a:defRPr sz="2100" b="1">
                <a:solidFill>
                  <a:srgbClr val="F5FAFF"/>
                </a:solidFill>
                <a:latin typeface="Bahnschrift"/>
                <a:ea typeface="Bahnschrift"/>
                <a:cs typeface="Bahnschrift"/>
              </a:defRPr>
            </a:pPr>
            <a:r>
              <a:rPr sz="2100" b="1">
                <a:solidFill>
                  <a:srgbClr val="F5FAFF"/>
                </a:solidFill>
                <a:latin typeface="Bahnschrift"/>
                <a:ea typeface="Bahnschrift"/>
                <a:cs typeface="Bahnschrift"/>
              </a:rPr>
              <a:t>Live map and stop-by-stop progress</a:t>
            </a:r>
          </a:p>
        </p:txBody>
      </p:sp>
      <p:sp>
        <p:nvSpPr>
          <p:cNvPr id="8" name="">
            <a:extLst xmlns:a="http://schemas.openxmlformats.org/drawingml/2006/main">
              <a:ext uri="{FF2B5EF4-FFF2-40B4-BE49-F238E27FC236}">
                <a16:creationId xmlns:a16="http://schemas.microsoft.com/office/drawing/2014/main" id="{C2D5DE56-3F73-4049-B088-28BA3189A4D4}"/>
              </a:ext>
            </a:extLst>
          </p:cNvPr>
          <p:cNvSpPr>
            <a:spLocks xmlns:a="http://schemas.openxmlformats.org/drawingml/2006/main" noGrp="1"/>
          </p:cNvSpPr>
          <p:nvPr/>
        </p:nvSpPr>
        <p:spPr>
          <a:xfrm xmlns:a="http://schemas.openxmlformats.org/drawingml/2006/main">
            <a:off x="609600" y="3429000"/>
            <a:ext cx="2381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a:solidFill>
                  <a:srgbClr val="A9C1D3"/>
                </a:solidFill>
                <a:latin typeface="Segoe UI"/>
                <a:ea typeface="Segoe UI"/>
                <a:cs typeface="Segoe UI"/>
              </a:defRPr>
            </a:pPr>
            <a:r>
              <a:rPr sz="1575" b="0">
                <a:solidFill>
                  <a:srgbClr val="A9C1D3"/>
                </a:solidFill>
                <a:latin typeface="Segoe UI"/>
                <a:ea typeface="Segoe UI"/>
                <a:cs typeface="Segoe UI"/>
              </a:rPr>
              <a:t>Map and Track views</a:t>
            </a:r>
          </a:p>
          <a:p xmlns:a="http://schemas.openxmlformats.org/drawingml/2006/main">
            <a:pPr>
              <a:defRPr sz="1575" b="0">
                <a:solidFill>
                  <a:srgbClr val="A9C1D3"/>
                </a:solidFill>
                <a:latin typeface="Segoe UI"/>
                <a:ea typeface="Segoe UI"/>
                <a:cs typeface="Segoe UI"/>
              </a:defRPr>
            </a:pPr>
            <a:r>
              <a:rPr sz="1575" b="0">
                <a:solidFill>
                  <a:srgbClr val="A9C1D3"/>
                </a:solidFill>
                <a:latin typeface="Segoe UI"/>
                <a:ea typeface="Segoe UI"/>
                <a:cs typeface="Segoe UI"/>
              </a:rPr>
              <a:t>Current and next stop</a:t>
            </a:r>
          </a:p>
          <a:p xmlns:a="http://schemas.openxmlformats.org/drawingml/2006/main">
            <a:pPr>
              <a:defRPr sz="1575" b="0">
                <a:solidFill>
                  <a:srgbClr val="A9C1D3"/>
                </a:solidFill>
                <a:latin typeface="Segoe UI"/>
                <a:ea typeface="Segoe UI"/>
                <a:cs typeface="Segoe UI"/>
              </a:defRPr>
            </a:pPr>
            <a:r>
              <a:rPr sz="1575" b="0">
                <a:solidFill>
                  <a:srgbClr val="A9C1D3"/>
                </a:solidFill>
                <a:latin typeface="Segoe UI"/>
                <a:ea typeface="Segoe UI"/>
                <a:cs typeface="Segoe UI"/>
              </a:rPr>
              <a:t>Outbound and return journey</a:t>
            </a:r>
          </a:p>
          <a:p xmlns:a="http://schemas.openxmlformats.org/drawingml/2006/main">
            <a:pPr>
              <a:defRPr sz="1575" b="0">
                <a:solidFill>
                  <a:srgbClr val="A9C1D3"/>
                </a:solidFill>
                <a:latin typeface="Segoe UI"/>
                <a:ea typeface="Segoe UI"/>
                <a:cs typeface="Segoe UI"/>
              </a:defRPr>
            </a:pPr>
            <a:r>
              <a:rPr sz="1575" b="0">
                <a:solidFill>
                  <a:srgbClr val="A9C1D3"/>
                </a:solidFill>
                <a:latin typeface="Segoe UI"/>
                <a:ea typeface="Segoe UI"/>
                <a:cs typeface="Segoe UI"/>
              </a:rPr>
              <a:t>Digital bus pass</a:t>
            </a:r>
          </a:p>
        </p:txBody>
      </p:sp>
      <p:sp>
        <p:nvSpPr>
          <p:cNvPr id="9" name="">
            <a:extLst xmlns:a="http://schemas.openxmlformats.org/drawingml/2006/main">
              <a:ext uri="{FF2B5EF4-FFF2-40B4-BE49-F238E27FC236}">
                <a16:creationId xmlns:a16="http://schemas.microsoft.com/office/drawing/2014/main" id="{776B5B7E-536D-4E0D-8AAC-A28637AC6FDA}"/>
              </a:ext>
            </a:extLst>
          </p:cNvPr>
          <p:cNvSpPr>
            <a:spLocks xmlns:a="http://schemas.openxmlformats.org/drawingml/2006/main" noGrp="1"/>
          </p:cNvSpPr>
          <p:nvPr/>
        </p:nvSpPr>
        <p:spPr>
          <a:xfrm xmlns:a="http://schemas.openxmlformats.org/drawingml/2006/main">
            <a:off x="3181350" y="1790700"/>
            <a:ext cx="19050" cy="3905250"/>
          </a:xfrm>
          <a:prstGeom xmlns:a="http://schemas.openxmlformats.org/drawingml/2006/main" prst="rect">
            <a:avLst/>
          </a:prstGeom>
          <a:solidFill xmlns:a="http://schemas.openxmlformats.org/drawingml/2006/main">
            <a:srgbClr val="21436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6D8DE71-74E5-4B77-9797-9B96279DA737}"/>
              </a:ext>
            </a:extLst>
          </p:cNvPr>
          <p:cNvSpPr>
            <a:spLocks xmlns:a="http://schemas.openxmlformats.org/drawingml/2006/main" noGrp="1"/>
          </p:cNvSpPr>
          <p:nvPr/>
        </p:nvSpPr>
        <p:spPr>
          <a:xfrm xmlns:a="http://schemas.openxmlformats.org/drawingml/2006/main">
            <a:off x="3390900" y="17145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3AD6FF"/>
                </a:solidFill>
                <a:latin typeface="Bahnschrift"/>
                <a:ea typeface="Bahnschrift"/>
                <a:cs typeface="Bahnschrift"/>
              </a:defRPr>
            </a:pPr>
            <a:r>
              <a:rPr sz="1275" b="1">
                <a:solidFill>
                  <a:srgbClr val="3AD6FF"/>
                </a:solidFill>
                <a:latin typeface="Bahnschrift"/>
                <a:ea typeface="Bahnschrift"/>
                <a:cs typeface="Bahnschrift"/>
              </a:rPr>
              <a:t>DRIVER</a:t>
            </a:r>
          </a:p>
        </p:txBody>
      </p:sp>
      <p:sp>
        <p:nvSpPr>
          <p:cNvPr id="11" name="">
            <a:extLst xmlns:a="http://schemas.openxmlformats.org/drawingml/2006/main">
              <a:ext uri="{FF2B5EF4-FFF2-40B4-BE49-F238E27FC236}">
                <a16:creationId xmlns:a16="http://schemas.microsoft.com/office/drawing/2014/main" id="{1FE04970-522E-4F04-8DCC-E51885E5D29A}"/>
              </a:ext>
            </a:extLst>
          </p:cNvPr>
          <p:cNvSpPr>
            <a:spLocks xmlns:a="http://schemas.openxmlformats.org/drawingml/2006/main" noGrp="1"/>
          </p:cNvSpPr>
          <p:nvPr/>
        </p:nvSpPr>
        <p:spPr>
          <a:xfrm xmlns:a="http://schemas.openxmlformats.org/drawingml/2006/main">
            <a:off x="3390900" y="219075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00" b="1">
                <a:solidFill>
                  <a:srgbClr val="F5FAFF"/>
                </a:solidFill>
                <a:latin typeface="Bahnschrift"/>
                <a:ea typeface="Bahnschrift"/>
                <a:cs typeface="Bahnschrift"/>
              </a:defRPr>
            </a:pPr>
            <a:r>
              <a:rPr sz="2100" b="1">
                <a:solidFill>
                  <a:srgbClr val="F5FAFF"/>
                </a:solidFill>
                <a:latin typeface="Bahnschrift"/>
                <a:ea typeface="Bahnschrift"/>
                <a:cs typeface="Bahnschrift"/>
              </a:rPr>
              <a:t>Tools for the assigned journey</a:t>
            </a:r>
          </a:p>
        </p:txBody>
      </p:sp>
      <p:sp>
        <p:nvSpPr>
          <p:cNvPr id="12" name="">
            <a:extLst xmlns:a="http://schemas.openxmlformats.org/drawingml/2006/main">
              <a:ext uri="{FF2B5EF4-FFF2-40B4-BE49-F238E27FC236}">
                <a16:creationId xmlns:a16="http://schemas.microsoft.com/office/drawing/2014/main" id="{EA53062D-CFB2-40D6-9949-02A2B3EC743E}"/>
              </a:ext>
            </a:extLst>
          </p:cNvPr>
          <p:cNvSpPr>
            <a:spLocks xmlns:a="http://schemas.openxmlformats.org/drawingml/2006/main" noGrp="1"/>
          </p:cNvSpPr>
          <p:nvPr/>
        </p:nvSpPr>
        <p:spPr>
          <a:xfrm xmlns:a="http://schemas.openxmlformats.org/drawingml/2006/main">
            <a:off x="3390900" y="3429000"/>
            <a:ext cx="2381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a:solidFill>
                  <a:srgbClr val="A9C1D3"/>
                </a:solidFill>
                <a:latin typeface="Segoe UI"/>
                <a:ea typeface="Segoe UI"/>
                <a:cs typeface="Segoe UI"/>
              </a:defRPr>
            </a:pPr>
            <a:r>
              <a:rPr sz="1575" b="0">
                <a:solidFill>
                  <a:srgbClr val="A9C1D3"/>
                </a:solidFill>
                <a:latin typeface="Segoe UI"/>
                <a:ea typeface="Segoe UI"/>
                <a:cs typeface="Segoe UI"/>
              </a:rPr>
              <a:t>Assigned bus and route</a:t>
            </a:r>
          </a:p>
          <a:p xmlns:a="http://schemas.openxmlformats.org/drawingml/2006/main">
            <a:pPr>
              <a:defRPr sz="1575" b="0">
                <a:solidFill>
                  <a:srgbClr val="A9C1D3"/>
                </a:solidFill>
                <a:latin typeface="Segoe UI"/>
                <a:ea typeface="Segoe UI"/>
                <a:cs typeface="Segoe UI"/>
              </a:defRPr>
            </a:pPr>
            <a:r>
              <a:rPr sz="1575" b="0">
                <a:solidFill>
                  <a:srgbClr val="A9C1D3"/>
                </a:solidFill>
                <a:latin typeface="Segoe UI"/>
                <a:ea typeface="Segoe UI"/>
                <a:cs typeface="Segoe UI"/>
              </a:rPr>
              <a:t>Trip controls</a:t>
            </a:r>
          </a:p>
          <a:p xmlns:a="http://schemas.openxmlformats.org/drawingml/2006/main">
            <a:pPr>
              <a:defRPr sz="1575" b="0">
                <a:solidFill>
                  <a:srgbClr val="A9C1D3"/>
                </a:solidFill>
                <a:latin typeface="Segoe UI"/>
                <a:ea typeface="Segoe UI"/>
                <a:cs typeface="Segoe UI"/>
              </a:defRPr>
            </a:pPr>
            <a:r>
              <a:rPr sz="1575" b="0">
                <a:solidFill>
                  <a:srgbClr val="A9C1D3"/>
                </a:solidFill>
                <a:latin typeface="Segoe UI"/>
                <a:ea typeface="Segoe UI"/>
                <a:cs typeface="Segoe UI"/>
              </a:rPr>
              <a:t>Operational alerts</a:t>
            </a:r>
          </a:p>
          <a:p xmlns:a="http://schemas.openxmlformats.org/drawingml/2006/main">
            <a:pPr>
              <a:defRPr sz="1575" b="0">
                <a:solidFill>
                  <a:srgbClr val="A9C1D3"/>
                </a:solidFill>
                <a:latin typeface="Segoe UI"/>
                <a:ea typeface="Segoe UI"/>
                <a:cs typeface="Segoe UI"/>
              </a:defRPr>
            </a:pPr>
            <a:r>
              <a:rPr sz="1575" b="0">
                <a:solidFill>
                  <a:srgbClr val="A9C1D3"/>
                </a:solidFill>
                <a:latin typeface="Segoe UI"/>
                <a:ea typeface="Segoe UI"/>
                <a:cs typeface="Segoe UI"/>
              </a:rPr>
              <a:t>QR pass verification</a:t>
            </a:r>
          </a:p>
        </p:txBody>
      </p:sp>
      <p:sp>
        <p:nvSpPr>
          <p:cNvPr id="13" name="">
            <a:extLst xmlns:a="http://schemas.openxmlformats.org/drawingml/2006/main">
              <a:ext uri="{FF2B5EF4-FFF2-40B4-BE49-F238E27FC236}">
                <a16:creationId xmlns:a16="http://schemas.microsoft.com/office/drawing/2014/main" id="{F419C049-916A-4B62-86E8-82EB0C37806A}"/>
              </a:ext>
            </a:extLst>
          </p:cNvPr>
          <p:cNvSpPr>
            <a:spLocks xmlns:a="http://schemas.openxmlformats.org/drawingml/2006/main" noGrp="1"/>
          </p:cNvSpPr>
          <p:nvPr/>
        </p:nvSpPr>
        <p:spPr>
          <a:xfrm xmlns:a="http://schemas.openxmlformats.org/drawingml/2006/main">
            <a:off x="5962650" y="1790700"/>
            <a:ext cx="19050" cy="3905250"/>
          </a:xfrm>
          <a:prstGeom xmlns:a="http://schemas.openxmlformats.org/drawingml/2006/main" prst="rect">
            <a:avLst/>
          </a:prstGeom>
          <a:solidFill xmlns:a="http://schemas.openxmlformats.org/drawingml/2006/main">
            <a:srgbClr val="21436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065F21A-6A31-49B5-93D1-8D727F0890DC}"/>
              </a:ext>
            </a:extLst>
          </p:cNvPr>
          <p:cNvSpPr>
            <a:spLocks xmlns:a="http://schemas.openxmlformats.org/drawingml/2006/main" noGrp="1"/>
          </p:cNvSpPr>
          <p:nvPr/>
        </p:nvSpPr>
        <p:spPr>
          <a:xfrm xmlns:a="http://schemas.openxmlformats.org/drawingml/2006/main">
            <a:off x="6172200" y="17145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3AD6FF"/>
                </a:solidFill>
                <a:latin typeface="Bahnschrift"/>
                <a:ea typeface="Bahnschrift"/>
                <a:cs typeface="Bahnschrift"/>
              </a:defRPr>
            </a:pPr>
            <a:r>
              <a:rPr sz="1275" b="1">
                <a:solidFill>
                  <a:srgbClr val="3AD6FF"/>
                </a:solidFill>
                <a:latin typeface="Bahnschrift"/>
                <a:ea typeface="Bahnschrift"/>
                <a:cs typeface="Bahnschrift"/>
              </a:rPr>
              <a:t>ADMIN</a:t>
            </a:r>
          </a:p>
        </p:txBody>
      </p:sp>
      <p:sp>
        <p:nvSpPr>
          <p:cNvPr id="15" name="">
            <a:extLst xmlns:a="http://schemas.openxmlformats.org/drawingml/2006/main">
              <a:ext uri="{FF2B5EF4-FFF2-40B4-BE49-F238E27FC236}">
                <a16:creationId xmlns:a16="http://schemas.microsoft.com/office/drawing/2014/main" id="{F78D04CC-FA37-400A-B313-744E679ADF9C}"/>
              </a:ext>
            </a:extLst>
          </p:cNvPr>
          <p:cNvSpPr>
            <a:spLocks xmlns:a="http://schemas.openxmlformats.org/drawingml/2006/main" noGrp="1"/>
          </p:cNvSpPr>
          <p:nvPr/>
        </p:nvSpPr>
        <p:spPr>
          <a:xfrm xmlns:a="http://schemas.openxmlformats.org/drawingml/2006/main">
            <a:off x="6172200" y="219075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62"/>
          </a:bodyPr>
          <a:lstStyle xmlns:a="http://schemas.openxmlformats.org/drawingml/2006/main"/>
          <a:p xmlns:a="http://schemas.openxmlformats.org/drawingml/2006/main">
            <a:pPr>
              <a:defRPr sz="2100" b="1">
                <a:solidFill>
                  <a:srgbClr val="F5FAFF"/>
                </a:solidFill>
                <a:latin typeface="Bahnschrift"/>
                <a:ea typeface="Bahnschrift"/>
                <a:cs typeface="Bahnschrift"/>
              </a:defRPr>
            </a:pPr>
            <a:r>
              <a:rPr sz="2100" b="1">
                <a:solidFill>
                  <a:srgbClr val="F5FAFF"/>
                </a:solidFill>
                <a:latin typeface="Bahnschrift"/>
                <a:ea typeface="Bahnschrift"/>
                <a:cs typeface="Bahnschrift"/>
              </a:rPr>
              <a:t>Complete transport management</a:t>
            </a:r>
          </a:p>
        </p:txBody>
      </p:sp>
      <p:sp>
        <p:nvSpPr>
          <p:cNvPr id="16" name="">
            <a:extLst xmlns:a="http://schemas.openxmlformats.org/drawingml/2006/main">
              <a:ext uri="{FF2B5EF4-FFF2-40B4-BE49-F238E27FC236}">
                <a16:creationId xmlns:a16="http://schemas.microsoft.com/office/drawing/2014/main" id="{BED88FC8-C10C-4B3C-AD1D-D44531D2F818}"/>
              </a:ext>
            </a:extLst>
          </p:cNvPr>
          <p:cNvSpPr>
            <a:spLocks xmlns:a="http://schemas.openxmlformats.org/drawingml/2006/main" noGrp="1"/>
          </p:cNvSpPr>
          <p:nvPr/>
        </p:nvSpPr>
        <p:spPr>
          <a:xfrm xmlns:a="http://schemas.openxmlformats.org/drawingml/2006/main">
            <a:off x="6172200" y="3429000"/>
            <a:ext cx="2381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a:solidFill>
                  <a:srgbClr val="A9C1D3"/>
                </a:solidFill>
                <a:latin typeface="Segoe UI"/>
                <a:ea typeface="Segoe UI"/>
                <a:cs typeface="Segoe UI"/>
              </a:defRPr>
            </a:pPr>
            <a:r>
              <a:rPr sz="1575" b="0">
                <a:solidFill>
                  <a:srgbClr val="A9C1D3"/>
                </a:solidFill>
                <a:latin typeface="Segoe UI"/>
                <a:ea typeface="Segoe UI"/>
                <a:cs typeface="Segoe UI"/>
              </a:rPr>
              <a:t>Fleet and assignments</a:t>
            </a:r>
          </a:p>
          <a:p xmlns:a="http://schemas.openxmlformats.org/drawingml/2006/main">
            <a:pPr>
              <a:defRPr sz="1575" b="0">
                <a:solidFill>
                  <a:srgbClr val="A9C1D3"/>
                </a:solidFill>
                <a:latin typeface="Segoe UI"/>
                <a:ea typeface="Segoe UI"/>
                <a:cs typeface="Segoe UI"/>
              </a:defRPr>
            </a:pPr>
            <a:r>
              <a:rPr sz="1575" b="0">
                <a:solidFill>
                  <a:srgbClr val="A9C1D3"/>
                </a:solidFill>
                <a:latin typeface="Segoe UI"/>
                <a:ea typeface="Segoe UI"/>
                <a:cs typeface="Segoe UI"/>
              </a:rPr>
              <a:t>Routes and geofences</a:t>
            </a:r>
          </a:p>
          <a:p xmlns:a="http://schemas.openxmlformats.org/drawingml/2006/main">
            <a:pPr>
              <a:defRPr sz="1575" b="0">
                <a:solidFill>
                  <a:srgbClr val="A9C1D3"/>
                </a:solidFill>
                <a:latin typeface="Segoe UI"/>
                <a:ea typeface="Segoe UI"/>
                <a:cs typeface="Segoe UI"/>
              </a:defRPr>
            </a:pPr>
            <a:r>
              <a:rPr sz="1575" b="0">
                <a:solidFill>
                  <a:srgbClr val="A9C1D3"/>
                </a:solidFill>
                <a:latin typeface="Segoe UI"/>
                <a:ea typeface="Segoe UI"/>
                <a:cs typeface="Segoe UI"/>
              </a:rPr>
              <a:t>Trip history</a:t>
            </a:r>
          </a:p>
          <a:p xmlns:a="http://schemas.openxmlformats.org/drawingml/2006/main">
            <a:pPr>
              <a:defRPr sz="1575" b="0">
                <a:solidFill>
                  <a:srgbClr val="A9C1D3"/>
                </a:solidFill>
                <a:latin typeface="Segoe UI"/>
                <a:ea typeface="Segoe UI"/>
                <a:cs typeface="Segoe UI"/>
              </a:defRPr>
            </a:pPr>
            <a:r>
              <a:rPr sz="1575" b="0">
                <a:solidFill>
                  <a:srgbClr val="A9C1D3"/>
                </a:solidFill>
                <a:latin typeface="Segoe UI"/>
                <a:ea typeface="Segoe UI"/>
                <a:cs typeface="Segoe UI"/>
              </a:rPr>
              <a:t>Documents and users</a:t>
            </a:r>
          </a:p>
        </p:txBody>
      </p:sp>
      <p:sp>
        <p:nvSpPr>
          <p:cNvPr id="17" name="">
            <a:extLst xmlns:a="http://schemas.openxmlformats.org/drawingml/2006/main">
              <a:ext uri="{FF2B5EF4-FFF2-40B4-BE49-F238E27FC236}">
                <a16:creationId xmlns:a16="http://schemas.microsoft.com/office/drawing/2014/main" id="{5FA1C729-DE73-4218-893C-E5E6AD14D5A5}"/>
              </a:ext>
            </a:extLst>
          </p:cNvPr>
          <p:cNvSpPr>
            <a:spLocks xmlns:a="http://schemas.openxmlformats.org/drawingml/2006/main" noGrp="1"/>
          </p:cNvSpPr>
          <p:nvPr/>
        </p:nvSpPr>
        <p:spPr>
          <a:xfrm xmlns:a="http://schemas.openxmlformats.org/drawingml/2006/main">
            <a:off x="8743950" y="1790700"/>
            <a:ext cx="19050" cy="3905250"/>
          </a:xfrm>
          <a:prstGeom xmlns:a="http://schemas.openxmlformats.org/drawingml/2006/main" prst="rect">
            <a:avLst/>
          </a:prstGeom>
          <a:solidFill xmlns:a="http://schemas.openxmlformats.org/drawingml/2006/main">
            <a:srgbClr val="21436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39B4890-C322-4824-8D4A-7129AF74810F}"/>
              </a:ext>
            </a:extLst>
          </p:cNvPr>
          <p:cNvSpPr>
            <a:spLocks xmlns:a="http://schemas.openxmlformats.org/drawingml/2006/main" noGrp="1"/>
          </p:cNvSpPr>
          <p:nvPr/>
        </p:nvSpPr>
        <p:spPr>
          <a:xfrm xmlns:a="http://schemas.openxmlformats.org/drawingml/2006/main">
            <a:off x="8953500" y="17145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806BFF"/>
                </a:solidFill>
                <a:latin typeface="Bahnschrift"/>
                <a:ea typeface="Bahnschrift"/>
                <a:cs typeface="Bahnschrift"/>
              </a:defRPr>
            </a:pPr>
            <a:r>
              <a:rPr sz="1275" b="1">
                <a:solidFill>
                  <a:srgbClr val="806BFF"/>
                </a:solidFill>
                <a:latin typeface="Bahnschrift"/>
                <a:ea typeface="Bahnschrift"/>
                <a:cs typeface="Bahnschrift"/>
              </a:rPr>
              <a:t>TECHNICIAN</a:t>
            </a:r>
          </a:p>
        </p:txBody>
      </p:sp>
      <p:sp>
        <p:nvSpPr>
          <p:cNvPr id="19" name="">
            <a:extLst xmlns:a="http://schemas.openxmlformats.org/drawingml/2006/main">
              <a:ext uri="{FF2B5EF4-FFF2-40B4-BE49-F238E27FC236}">
                <a16:creationId xmlns:a16="http://schemas.microsoft.com/office/drawing/2014/main" id="{AFF9747D-803C-4D94-828E-0C8A2EFAD1ED}"/>
              </a:ext>
            </a:extLst>
          </p:cNvPr>
          <p:cNvSpPr>
            <a:spLocks xmlns:a="http://schemas.openxmlformats.org/drawingml/2006/main" noGrp="1"/>
          </p:cNvSpPr>
          <p:nvPr/>
        </p:nvSpPr>
        <p:spPr>
          <a:xfrm xmlns:a="http://schemas.openxmlformats.org/drawingml/2006/main">
            <a:off x="8953500" y="219075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00" b="1">
                <a:solidFill>
                  <a:srgbClr val="F5FAFF"/>
                </a:solidFill>
                <a:latin typeface="Bahnschrift"/>
                <a:ea typeface="Bahnschrift"/>
                <a:cs typeface="Bahnschrift"/>
              </a:defRPr>
            </a:pPr>
            <a:r>
              <a:rPr sz="2100" b="1">
                <a:solidFill>
                  <a:srgbClr val="F5FAFF"/>
                </a:solidFill>
                <a:latin typeface="Bahnschrift"/>
                <a:ea typeface="Bahnschrift"/>
                <a:cs typeface="Bahnschrift"/>
              </a:rPr>
              <a:t>GPS integration and health</a:t>
            </a:r>
          </a:p>
        </p:txBody>
      </p:sp>
      <p:sp>
        <p:nvSpPr>
          <p:cNvPr id="20" name="">
            <a:extLst xmlns:a="http://schemas.openxmlformats.org/drawingml/2006/main">
              <a:ext uri="{FF2B5EF4-FFF2-40B4-BE49-F238E27FC236}">
                <a16:creationId xmlns:a16="http://schemas.microsoft.com/office/drawing/2014/main" id="{3681172A-D38C-4DAA-9FE5-276EF027E825}"/>
              </a:ext>
            </a:extLst>
          </p:cNvPr>
          <p:cNvSpPr>
            <a:spLocks xmlns:a="http://schemas.openxmlformats.org/drawingml/2006/main" noGrp="1"/>
          </p:cNvSpPr>
          <p:nvPr/>
        </p:nvSpPr>
        <p:spPr>
          <a:xfrm xmlns:a="http://schemas.openxmlformats.org/drawingml/2006/main">
            <a:off x="8953500" y="3429000"/>
            <a:ext cx="2381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a:solidFill>
                  <a:srgbClr val="A9C1D3"/>
                </a:solidFill>
                <a:latin typeface="Segoe UI"/>
                <a:ea typeface="Segoe UI"/>
                <a:cs typeface="Segoe UI"/>
              </a:defRPr>
            </a:pPr>
            <a:r>
              <a:rPr sz="1575" b="0">
                <a:solidFill>
                  <a:srgbClr val="A9C1D3"/>
                </a:solidFill>
                <a:latin typeface="Segoe UI"/>
                <a:ea typeface="Segoe UI"/>
                <a:cs typeface="Segoe UI"/>
              </a:rPr>
              <a:t>Provider filtering</a:t>
            </a:r>
          </a:p>
          <a:p xmlns:a="http://schemas.openxmlformats.org/drawingml/2006/main">
            <a:pPr>
              <a:defRPr sz="1575" b="0">
                <a:solidFill>
                  <a:srgbClr val="A9C1D3"/>
                </a:solidFill>
                <a:latin typeface="Segoe UI"/>
                <a:ea typeface="Segoe UI"/>
                <a:cs typeface="Segoe UI"/>
              </a:defRPr>
            </a:pPr>
            <a:r>
              <a:rPr sz="1575" b="0">
                <a:solidFill>
                  <a:srgbClr val="A9C1D3"/>
                </a:solidFill>
                <a:latin typeface="Segoe UI"/>
                <a:ea typeface="Segoe UI"/>
                <a:cs typeface="Segoe UI"/>
              </a:rPr>
              <a:t>Delay and timestamp checks</a:t>
            </a:r>
          </a:p>
          <a:p xmlns:a="http://schemas.openxmlformats.org/drawingml/2006/main">
            <a:pPr>
              <a:defRPr sz="1575" b="0">
                <a:solidFill>
                  <a:srgbClr val="A9C1D3"/>
                </a:solidFill>
                <a:latin typeface="Segoe UI"/>
                <a:ea typeface="Segoe UI"/>
                <a:cs typeface="Segoe UI"/>
              </a:defRPr>
            </a:pPr>
            <a:r>
              <a:rPr sz="1575" b="0">
                <a:solidFill>
                  <a:srgbClr val="A9C1D3"/>
                </a:solidFill>
                <a:latin typeface="Segoe UI"/>
                <a:ea typeface="Segoe UI"/>
                <a:cs typeface="Segoe UI"/>
              </a:rPr>
              <a:t>Raw response history</a:t>
            </a:r>
          </a:p>
          <a:p xmlns:a="http://schemas.openxmlformats.org/drawingml/2006/main">
            <a:pPr>
              <a:defRPr sz="1575" b="0">
                <a:solidFill>
                  <a:srgbClr val="A9C1D3"/>
                </a:solidFill>
                <a:latin typeface="Segoe UI"/>
                <a:ea typeface="Segoe UI"/>
                <a:cs typeface="Segoe UI"/>
              </a:defRPr>
            </a:pPr>
            <a:r>
              <a:rPr sz="1575" b="0">
                <a:solidFill>
                  <a:srgbClr val="A9C1D3"/>
                </a:solidFill>
                <a:latin typeface="Segoe UI"/>
                <a:ea typeface="Segoe UI"/>
                <a:cs typeface="Segoe UI"/>
              </a:rPr>
              <a:t>Safe route recovery</a:t>
            </a:r>
          </a:p>
        </p:txBody>
      </p:sp>
      <p:sp>
        <p:nvSpPr>
          <p:cNvPr id="21" name="">
            <a:extLst xmlns:a="http://schemas.openxmlformats.org/drawingml/2006/main">
              <a:ext uri="{FF2B5EF4-FFF2-40B4-BE49-F238E27FC236}">
                <a16:creationId xmlns:a16="http://schemas.microsoft.com/office/drawing/2014/main" id="{B73A3F45-D62D-4AD4-8F24-05C33C0403D2}"/>
              </a:ext>
            </a:extLst>
          </p:cNvPr>
          <p:cNvSpPr>
            <a:spLocks xmlns:a="http://schemas.openxmlformats.org/drawingml/2006/main" noGrp="1"/>
          </p:cNvSpPr>
          <p:nvPr/>
        </p:nvSpPr>
        <p:spPr>
          <a:xfrm xmlns:a="http://schemas.openxmlformats.org/drawingml/2006/main">
            <a:off x="609600" y="5953125"/>
            <a:ext cx="1033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476"/>
          </a:bodyPr>
          <a:lstStyle xmlns:a="http://schemas.openxmlformats.org/drawingml/2006/main"/>
          <a:p xmlns:a="http://schemas.openxmlformats.org/drawingml/2006/main">
            <a:pPr>
              <a:defRPr sz="2100" b="1">
                <a:solidFill>
                  <a:srgbClr val="43E1A1"/>
                </a:solidFill>
                <a:latin typeface="Bahnschrift"/>
                <a:ea typeface="Bahnschrift"/>
                <a:cs typeface="Bahnschrift"/>
              </a:defRPr>
            </a:pPr>
            <a:r>
              <a:rPr sz="2100" b="1">
                <a:solidFill>
                  <a:srgbClr val="43E1A1"/>
                </a:solidFill>
                <a:latin typeface="Bahnschrift"/>
                <a:ea typeface="Bahnschrift"/>
                <a:cs typeface="Bahnschrift"/>
              </a:rPr>
              <a:t>The same route state powers every portal</a:t>
            </a:r>
          </a:p>
        </p:txBody>
      </p:sp>
    </p:spTree>
    <p:extLst>
      <p:ext uri="{BB962C8B-B14F-4D97-AF65-F5344CB8AC3E}">
        <p14:creationId xmlns:p14="http://schemas.microsoft.com/office/powerpoint/2010/main" val="1061220383"/>
      </p:ext>
    </p:extLst>
  </p:cSld>
</p:sld>
</file>

<file path=ppt/slides/slide4.xml><?xml version="1.0" encoding="utf-8"?>
<p:sld xmlns:p="http://schemas.openxmlformats.org/presentationml/2006/main">
  <p:cSld>
    <p:bg>
      <p:bgPr>
        <a:solidFill xmlns:a="http://schemas.openxmlformats.org/drawingml/2006/main">
          <a:srgbClr val="06172D"/>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F4712FD-4F10-406A-84C8-5F84C4892F9E}"/>
              </a:ext>
            </a:extLst>
          </p:cNvPr>
          <p:cNvSpPr>
            <a:spLocks xmlns:a="http://schemas.openxmlformats.org/drawingml/2006/main" noGrp="1"/>
          </p:cNvSpPr>
          <p:nvPr/>
        </p:nvSpPr>
        <p:spPr>
          <a:xfrm xmlns:a="http://schemas.openxmlformats.org/drawingml/2006/main">
            <a:off x="609600" y="266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3AD6FF"/>
                </a:solidFill>
                <a:latin typeface="Bahnschrift"/>
                <a:ea typeface="Bahnschrift"/>
                <a:cs typeface="Bahnschrift"/>
              </a:defRPr>
            </a:pPr>
            <a:r>
              <a:rPr sz="1200" b="1">
                <a:solidFill>
                  <a:srgbClr val="3AD6FF"/>
                </a:solidFill>
                <a:latin typeface="Bahnschrift"/>
                <a:ea typeface="Bahnschrift"/>
                <a:cs typeface="Bahnschrift"/>
              </a:rPr>
              <a:t>04</a:t>
            </a:r>
          </a:p>
        </p:txBody>
      </p:sp>
      <p:sp>
        <p:nvSpPr>
          <p:cNvPr id="2" name="">
            <a:extLst xmlns:a="http://schemas.openxmlformats.org/drawingml/2006/main">
              <a:ext uri="{FF2B5EF4-FFF2-40B4-BE49-F238E27FC236}">
                <a16:creationId xmlns:a16="http://schemas.microsoft.com/office/drawing/2014/main" id="{2C10F013-E8E7-4CC2-96B3-AA67A505A056}"/>
              </a:ext>
            </a:extLst>
          </p:cNvPr>
          <p:cNvSpPr>
            <a:spLocks xmlns:a="http://schemas.openxmlformats.org/drawingml/2006/main" noGrp="1"/>
          </p:cNvSpPr>
          <p:nvPr/>
        </p:nvSpPr>
        <p:spPr>
          <a:xfrm xmlns:a="http://schemas.openxmlformats.org/drawingml/2006/main">
            <a:off x="609600" y="5715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58"/>
          </a:bodyPr>
          <a:lstStyle xmlns:a="http://schemas.openxmlformats.org/drawingml/2006/main"/>
          <a:p xmlns:a="http://schemas.openxmlformats.org/drawingml/2006/main">
            <a:pPr>
              <a:defRPr sz="3450" b="1">
                <a:solidFill>
                  <a:srgbClr val="F5FAFF"/>
                </a:solidFill>
                <a:latin typeface="Bahnschrift"/>
                <a:ea typeface="Bahnschrift"/>
                <a:cs typeface="Bahnschrift"/>
              </a:defRPr>
            </a:pPr>
            <a:r>
              <a:rPr sz="3450" b="1">
                <a:solidFill>
                  <a:srgbClr val="F5FAFF"/>
                </a:solidFill>
                <a:latin typeface="Bahnschrift"/>
                <a:ea typeface="Bahnschrift"/>
                <a:cs typeface="Bahnschrift"/>
              </a:rPr>
              <a:t>How BusTrack works</a:t>
            </a:r>
          </a:p>
        </p:txBody>
      </p:sp>
      <p:sp>
        <p:nvSpPr>
          <p:cNvPr id="3" name="">
            <a:extLst xmlns:a="http://schemas.openxmlformats.org/drawingml/2006/main">
              <a:ext uri="{FF2B5EF4-FFF2-40B4-BE49-F238E27FC236}">
                <a16:creationId xmlns:a16="http://schemas.microsoft.com/office/drawing/2014/main" id="{AFC5CB29-4E2F-4A1D-83B7-90CF4A3739A8}"/>
              </a:ext>
            </a:extLst>
          </p:cNvPr>
          <p:cNvSpPr>
            <a:spLocks xmlns:a="http://schemas.openxmlformats.org/drawingml/2006/main" noGrp="1"/>
          </p:cNvSpPr>
          <p:nvPr/>
        </p:nvSpPr>
        <p:spPr>
          <a:xfrm xmlns:a="http://schemas.openxmlformats.org/drawingml/2006/main">
            <a:off x="609600" y="1209675"/>
            <a:ext cx="819150" cy="38100"/>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C0857FD-74C8-4CC3-BDC4-5DED3F853F02}"/>
              </a:ext>
            </a:extLst>
          </p:cNvPr>
          <p:cNvSpPr>
            <a:spLocks xmlns:a="http://schemas.openxmlformats.org/drawingml/2006/main" noGrp="1"/>
          </p:cNvSpPr>
          <p:nvPr/>
        </p:nvSpPr>
        <p:spPr>
          <a:xfrm xmlns:a="http://schemas.openxmlformats.org/drawingml/2006/main">
            <a:off x="1666875" y="1104900"/>
            <a:ext cx="919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Raw coordinates become route information that students can use</a:t>
            </a:r>
          </a:p>
        </p:txBody>
      </p:sp>
      <p:sp>
        <p:nvSpPr>
          <p:cNvPr id="5" name="">
            <a:extLst xmlns:a="http://schemas.openxmlformats.org/drawingml/2006/main">
              <a:ext uri="{FF2B5EF4-FFF2-40B4-BE49-F238E27FC236}">
                <a16:creationId xmlns:a16="http://schemas.microsoft.com/office/drawing/2014/main" id="{8E150C73-39AF-4AA0-93C0-4D244D4416CE}"/>
              </a:ext>
            </a:extLst>
          </p:cNvPr>
          <p:cNvSpPr>
            <a:spLocks xmlns:a="http://schemas.openxmlformats.org/drawingml/2006/main" noGrp="1"/>
          </p:cNvSpPr>
          <p:nvPr/>
        </p:nvSpPr>
        <p:spPr>
          <a:xfrm xmlns:a="http://schemas.openxmlformats.org/drawingml/2006/main">
            <a:off x="11334750" y="64389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0000"/>
          </a:bodyPr>
          <a:lstStyle xmlns:a="http://schemas.openxmlformats.org/drawingml/2006/main"/>
          <a:p xmlns:a="http://schemas.openxmlformats.org/drawingml/2006/main">
            <a:pPr>
              <a:defRPr sz="1050" b="0">
                <a:solidFill>
                  <a:srgbClr val="6E8AA0"/>
                </a:solidFill>
                <a:latin typeface="Segoe UI"/>
                <a:ea typeface="Segoe UI"/>
                <a:cs typeface="Segoe UI"/>
              </a:defRPr>
            </a:pPr>
            <a:r>
              <a:rPr sz="1050" b="0">
                <a:solidFill>
                  <a:srgbClr val="6E8AA0"/>
                </a:solidFill>
                <a:latin typeface="Segoe UI"/>
                <a:ea typeface="Segoe UI"/>
                <a:cs typeface="Segoe UI"/>
              </a:rPr>
              <a:t>4</a:t>
            </a:r>
          </a:p>
        </p:txBody>
      </p:sp>
      <p:sp>
        <p:nvSpPr>
          <p:cNvPr id="6" name="">
            <a:extLst xmlns:a="http://schemas.openxmlformats.org/drawingml/2006/main">
              <a:ext uri="{FF2B5EF4-FFF2-40B4-BE49-F238E27FC236}">
                <a16:creationId xmlns:a16="http://schemas.microsoft.com/office/drawing/2014/main" id="{BB44F573-2754-4EAD-9BBB-2D0519675797}"/>
              </a:ext>
            </a:extLst>
          </p:cNvPr>
          <p:cNvSpPr>
            <a:spLocks xmlns:a="http://schemas.openxmlformats.org/drawingml/2006/main" noGrp="1"/>
          </p:cNvSpPr>
          <p:nvPr/>
        </p:nvSpPr>
        <p:spPr>
          <a:xfrm xmlns:a="http://schemas.openxmlformats.org/drawingml/2006/main">
            <a:off x="2400300" y="2819400"/>
            <a:ext cx="476250" cy="28575"/>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CF9449B-34BE-45FC-A20D-15D1E0A47C34}"/>
              </a:ext>
            </a:extLst>
          </p:cNvPr>
          <p:cNvSpPr>
            <a:spLocks xmlns:a="http://schemas.openxmlformats.org/drawingml/2006/main" noGrp="1"/>
          </p:cNvSpPr>
          <p:nvPr/>
        </p:nvSpPr>
        <p:spPr>
          <a:xfrm xmlns:a="http://schemas.openxmlformats.org/drawingml/2006/main">
            <a:off x="552450" y="2000250"/>
            <a:ext cx="1857375" cy="1714500"/>
          </a:xfrm>
          <a:prstGeom xmlns:a="http://schemas.openxmlformats.org/drawingml/2006/main" prst="roundRect">
            <a:avLst>
              <a:gd name="adj" fmla="val 4444"/>
            </a:avLst>
          </a:prstGeom>
          <a:solidFill xmlns:a="http://schemas.openxmlformats.org/drawingml/2006/main">
            <a:srgbClr val="0B2747"/>
          </a:solidFill>
          <a:ln xmlns:a="http://schemas.openxmlformats.org/drawingml/2006/main" w="9525">
            <a:solidFill>
              <a:srgbClr val="214360"/>
            </a:solidFill>
          </a:ln>
        </p:spPr>
      </p:sp>
      <p:sp>
        <p:nvSpPr>
          <p:cNvPr id="8" name="">
            <a:extLst xmlns:a="http://schemas.openxmlformats.org/drawingml/2006/main">
              <a:ext uri="{FF2B5EF4-FFF2-40B4-BE49-F238E27FC236}">
                <a16:creationId xmlns:a16="http://schemas.microsoft.com/office/drawing/2014/main" id="{38450A74-3D51-4201-A0F7-670CEFEC2388}"/>
              </a:ext>
            </a:extLst>
          </p:cNvPr>
          <p:cNvSpPr>
            <a:spLocks xmlns:a="http://schemas.openxmlformats.org/drawingml/2006/main" noGrp="1"/>
          </p:cNvSpPr>
          <p:nvPr/>
        </p:nvSpPr>
        <p:spPr>
          <a:xfrm xmlns:a="http://schemas.openxmlformats.org/drawingml/2006/main">
            <a:off x="723900" y="217170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392"/>
          </a:bodyPr>
          <a:lstStyle xmlns:a="http://schemas.openxmlformats.org/drawingml/2006/main"/>
          <a:p xmlns:a="http://schemas.openxmlformats.org/drawingml/2006/main">
            <a:pPr>
              <a:defRPr sz="1275" b="1">
                <a:solidFill>
                  <a:srgbClr val="3AD6FF"/>
                </a:solidFill>
                <a:latin typeface="Bahnschrift"/>
                <a:ea typeface="Bahnschrift"/>
                <a:cs typeface="Bahnschrift"/>
              </a:defRPr>
            </a:pPr>
            <a:r>
              <a:rPr sz="1275" b="1">
                <a:solidFill>
                  <a:srgbClr val="3AD6FF"/>
                </a:solidFill>
                <a:latin typeface="Bahnschrift"/>
                <a:ea typeface="Bahnschrift"/>
                <a:cs typeface="Bahnschrift"/>
              </a:rPr>
              <a:t>01</a:t>
            </a:r>
          </a:p>
        </p:txBody>
      </p:sp>
      <p:sp>
        <p:nvSpPr>
          <p:cNvPr id="9" name="">
            <a:extLst xmlns:a="http://schemas.openxmlformats.org/drawingml/2006/main">
              <a:ext uri="{FF2B5EF4-FFF2-40B4-BE49-F238E27FC236}">
                <a16:creationId xmlns:a16="http://schemas.microsoft.com/office/drawing/2014/main" id="{B914A7FC-5D17-4A18-AB59-96C617D98FE3}"/>
              </a:ext>
            </a:extLst>
          </p:cNvPr>
          <p:cNvSpPr>
            <a:spLocks xmlns:a="http://schemas.openxmlformats.org/drawingml/2006/main" noGrp="1"/>
          </p:cNvSpPr>
          <p:nvPr/>
        </p:nvSpPr>
        <p:spPr>
          <a:xfrm xmlns:a="http://schemas.openxmlformats.org/drawingml/2006/main">
            <a:off x="723900" y="259080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1">
                <a:solidFill>
                  <a:srgbClr val="F5FAFF"/>
                </a:solidFill>
                <a:latin typeface="Bahnschrift"/>
                <a:ea typeface="Bahnschrift"/>
                <a:cs typeface="Bahnschrift"/>
              </a:defRPr>
            </a:pPr>
            <a:r>
              <a:rPr sz="1875" b="1">
                <a:solidFill>
                  <a:srgbClr val="F5FAFF"/>
                </a:solidFill>
                <a:latin typeface="Bahnschrift"/>
                <a:ea typeface="Bahnschrift"/>
                <a:cs typeface="Bahnschrift"/>
              </a:rPr>
              <a:t>GPS update</a:t>
            </a:r>
          </a:p>
        </p:txBody>
      </p:sp>
      <p:sp>
        <p:nvSpPr>
          <p:cNvPr id="10" name="">
            <a:extLst xmlns:a="http://schemas.openxmlformats.org/drawingml/2006/main">
              <a:ext uri="{FF2B5EF4-FFF2-40B4-BE49-F238E27FC236}">
                <a16:creationId xmlns:a16="http://schemas.microsoft.com/office/drawing/2014/main" id="{29FDDB1B-FA8B-487A-9B42-FCF55E7BA24D}"/>
              </a:ext>
            </a:extLst>
          </p:cNvPr>
          <p:cNvSpPr>
            <a:spLocks xmlns:a="http://schemas.openxmlformats.org/drawingml/2006/main" noGrp="1"/>
          </p:cNvSpPr>
          <p:nvPr/>
        </p:nvSpPr>
        <p:spPr>
          <a:xfrm xmlns:a="http://schemas.openxmlformats.org/drawingml/2006/main">
            <a:off x="723900" y="3105150"/>
            <a:ext cx="1504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a:solidFill>
                  <a:srgbClr val="A9C1D3"/>
                </a:solidFill>
                <a:latin typeface="Segoe UI"/>
                <a:ea typeface="Segoe UI"/>
                <a:cs typeface="Segoe UI"/>
              </a:defRPr>
            </a:pPr>
            <a:r>
              <a:rPr sz="1275" b="0">
                <a:solidFill>
                  <a:srgbClr val="A9C1D3"/>
                </a:solidFill>
                <a:latin typeface="Segoe UI"/>
                <a:ea typeface="Segoe UI"/>
                <a:cs typeface="Segoe UI"/>
              </a:rPr>
              <a:t>Vehicle provider or driver phone</a:t>
            </a:r>
          </a:p>
        </p:txBody>
      </p:sp>
      <p:sp>
        <p:nvSpPr>
          <p:cNvPr id="11" name="">
            <a:extLst xmlns:a="http://schemas.openxmlformats.org/drawingml/2006/main">
              <a:ext uri="{FF2B5EF4-FFF2-40B4-BE49-F238E27FC236}">
                <a16:creationId xmlns:a16="http://schemas.microsoft.com/office/drawing/2014/main" id="{FF5A61F8-5BBC-4891-9451-9B952FF71C23}"/>
              </a:ext>
            </a:extLst>
          </p:cNvPr>
          <p:cNvSpPr>
            <a:spLocks xmlns:a="http://schemas.openxmlformats.org/drawingml/2006/main" noGrp="1"/>
          </p:cNvSpPr>
          <p:nvPr/>
        </p:nvSpPr>
        <p:spPr>
          <a:xfrm xmlns:a="http://schemas.openxmlformats.org/drawingml/2006/main">
            <a:off x="4724400" y="2819400"/>
            <a:ext cx="476250" cy="28575"/>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45D5C1D-C696-4E4C-9FE4-9CE8D1A5CB74}"/>
              </a:ext>
            </a:extLst>
          </p:cNvPr>
          <p:cNvSpPr>
            <a:spLocks xmlns:a="http://schemas.openxmlformats.org/drawingml/2006/main" noGrp="1"/>
          </p:cNvSpPr>
          <p:nvPr/>
        </p:nvSpPr>
        <p:spPr>
          <a:xfrm xmlns:a="http://schemas.openxmlformats.org/drawingml/2006/main">
            <a:off x="2876550" y="2000250"/>
            <a:ext cx="1857375" cy="1714500"/>
          </a:xfrm>
          <a:prstGeom xmlns:a="http://schemas.openxmlformats.org/drawingml/2006/main" prst="roundRect">
            <a:avLst>
              <a:gd name="adj" fmla="val 4444"/>
            </a:avLst>
          </a:prstGeom>
          <a:solidFill xmlns:a="http://schemas.openxmlformats.org/drawingml/2006/main">
            <a:srgbClr val="0B2747"/>
          </a:solidFill>
          <a:ln xmlns:a="http://schemas.openxmlformats.org/drawingml/2006/main" w="9525">
            <a:solidFill>
              <a:srgbClr val="214360"/>
            </a:solidFill>
          </a:ln>
        </p:spPr>
      </p:sp>
      <p:sp>
        <p:nvSpPr>
          <p:cNvPr id="13" name="">
            <a:extLst xmlns:a="http://schemas.openxmlformats.org/drawingml/2006/main">
              <a:ext uri="{FF2B5EF4-FFF2-40B4-BE49-F238E27FC236}">
                <a16:creationId xmlns:a16="http://schemas.microsoft.com/office/drawing/2014/main" id="{B26885BB-4694-4812-A942-523A17294F23}"/>
              </a:ext>
            </a:extLst>
          </p:cNvPr>
          <p:cNvSpPr>
            <a:spLocks xmlns:a="http://schemas.openxmlformats.org/drawingml/2006/main" noGrp="1"/>
          </p:cNvSpPr>
          <p:nvPr/>
        </p:nvSpPr>
        <p:spPr>
          <a:xfrm xmlns:a="http://schemas.openxmlformats.org/drawingml/2006/main">
            <a:off x="3048000" y="217170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392"/>
          </a:bodyPr>
          <a:lstStyle xmlns:a="http://schemas.openxmlformats.org/drawingml/2006/main"/>
          <a:p xmlns:a="http://schemas.openxmlformats.org/drawingml/2006/main">
            <a:pPr>
              <a:defRPr sz="1275" b="1">
                <a:solidFill>
                  <a:srgbClr val="3AD6FF"/>
                </a:solidFill>
                <a:latin typeface="Bahnschrift"/>
                <a:ea typeface="Bahnschrift"/>
                <a:cs typeface="Bahnschrift"/>
              </a:defRPr>
            </a:pPr>
            <a:r>
              <a:rPr sz="1275" b="1">
                <a:solidFill>
                  <a:srgbClr val="3AD6FF"/>
                </a:solidFill>
                <a:latin typeface="Bahnschrift"/>
                <a:ea typeface="Bahnschrift"/>
                <a:cs typeface="Bahnschrift"/>
              </a:rPr>
              <a:t>02</a:t>
            </a:r>
          </a:p>
        </p:txBody>
      </p:sp>
      <p:sp>
        <p:nvSpPr>
          <p:cNvPr id="14" name="">
            <a:extLst xmlns:a="http://schemas.openxmlformats.org/drawingml/2006/main">
              <a:ext uri="{FF2B5EF4-FFF2-40B4-BE49-F238E27FC236}">
                <a16:creationId xmlns:a16="http://schemas.microsoft.com/office/drawing/2014/main" id="{D1267B28-BA01-451D-897E-C95B55E79B07}"/>
              </a:ext>
            </a:extLst>
          </p:cNvPr>
          <p:cNvSpPr>
            <a:spLocks xmlns:a="http://schemas.openxmlformats.org/drawingml/2006/main" noGrp="1"/>
          </p:cNvSpPr>
          <p:nvPr/>
        </p:nvSpPr>
        <p:spPr>
          <a:xfrm xmlns:a="http://schemas.openxmlformats.org/drawingml/2006/main">
            <a:off x="3048000" y="259080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1">
                <a:solidFill>
                  <a:srgbClr val="F5FAFF"/>
                </a:solidFill>
                <a:latin typeface="Bahnschrift"/>
                <a:ea typeface="Bahnschrift"/>
                <a:cs typeface="Bahnschrift"/>
              </a:defRPr>
            </a:pPr>
            <a:r>
              <a:rPr sz="1875" b="1">
                <a:solidFill>
                  <a:srgbClr val="F5FAFF"/>
                </a:solidFill>
                <a:latin typeface="Bahnschrift"/>
                <a:ea typeface="Bahnschrift"/>
                <a:cs typeface="Bahnschrift"/>
              </a:rPr>
              <a:t>Validate</a:t>
            </a:r>
          </a:p>
        </p:txBody>
      </p:sp>
      <p:sp>
        <p:nvSpPr>
          <p:cNvPr id="15" name="">
            <a:extLst xmlns:a="http://schemas.openxmlformats.org/drawingml/2006/main">
              <a:ext uri="{FF2B5EF4-FFF2-40B4-BE49-F238E27FC236}">
                <a16:creationId xmlns:a16="http://schemas.microsoft.com/office/drawing/2014/main" id="{8E126CAD-9C06-4A36-8995-4FCA48CF6264}"/>
              </a:ext>
            </a:extLst>
          </p:cNvPr>
          <p:cNvSpPr>
            <a:spLocks xmlns:a="http://schemas.openxmlformats.org/drawingml/2006/main" noGrp="1"/>
          </p:cNvSpPr>
          <p:nvPr/>
        </p:nvSpPr>
        <p:spPr>
          <a:xfrm xmlns:a="http://schemas.openxmlformats.org/drawingml/2006/main">
            <a:off x="3048000" y="3105150"/>
            <a:ext cx="1504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438"/>
          </a:bodyPr>
          <a:lstStyle xmlns:a="http://schemas.openxmlformats.org/drawingml/2006/main"/>
          <a:p xmlns:a="http://schemas.openxmlformats.org/drawingml/2006/main">
            <a:pPr>
              <a:defRPr sz="1275" b="0">
                <a:solidFill>
                  <a:srgbClr val="A9C1D3"/>
                </a:solidFill>
                <a:latin typeface="Segoe UI"/>
                <a:ea typeface="Segoe UI"/>
                <a:cs typeface="Segoe UI"/>
              </a:defRPr>
            </a:pPr>
            <a:r>
              <a:rPr sz="1275" b="0">
                <a:solidFill>
                  <a:srgbClr val="A9C1D3"/>
                </a:solidFill>
                <a:latin typeface="Segoe UI"/>
                <a:ea typeface="Segoe UI"/>
                <a:cs typeface="Segoe UI"/>
              </a:rPr>
              <a:t>Vehicle, timestamp and freshness</a:t>
            </a:r>
          </a:p>
        </p:txBody>
      </p:sp>
      <p:sp>
        <p:nvSpPr>
          <p:cNvPr id="16" name="">
            <a:extLst xmlns:a="http://schemas.openxmlformats.org/drawingml/2006/main">
              <a:ext uri="{FF2B5EF4-FFF2-40B4-BE49-F238E27FC236}">
                <a16:creationId xmlns:a16="http://schemas.microsoft.com/office/drawing/2014/main" id="{7703EB88-1778-4EB2-B805-F1B7FA54CB3C}"/>
              </a:ext>
            </a:extLst>
          </p:cNvPr>
          <p:cNvSpPr>
            <a:spLocks xmlns:a="http://schemas.openxmlformats.org/drawingml/2006/main" noGrp="1"/>
          </p:cNvSpPr>
          <p:nvPr/>
        </p:nvSpPr>
        <p:spPr>
          <a:xfrm xmlns:a="http://schemas.openxmlformats.org/drawingml/2006/main">
            <a:off x="7048500" y="2819400"/>
            <a:ext cx="476250" cy="28575"/>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D7733B4-1BFE-4F27-99C4-D1BFBBCA4B97}"/>
              </a:ext>
            </a:extLst>
          </p:cNvPr>
          <p:cNvSpPr>
            <a:spLocks xmlns:a="http://schemas.openxmlformats.org/drawingml/2006/main" noGrp="1"/>
          </p:cNvSpPr>
          <p:nvPr/>
        </p:nvSpPr>
        <p:spPr>
          <a:xfrm xmlns:a="http://schemas.openxmlformats.org/drawingml/2006/main">
            <a:off x="5200650" y="2000250"/>
            <a:ext cx="1857375" cy="1714500"/>
          </a:xfrm>
          <a:prstGeom xmlns:a="http://schemas.openxmlformats.org/drawingml/2006/main" prst="roundRect">
            <a:avLst>
              <a:gd name="adj" fmla="val 4444"/>
            </a:avLst>
          </a:prstGeom>
          <a:solidFill xmlns:a="http://schemas.openxmlformats.org/drawingml/2006/main">
            <a:srgbClr val="12385F"/>
          </a:solidFill>
          <a:ln xmlns:a="http://schemas.openxmlformats.org/drawingml/2006/main" w="9525">
            <a:solidFill>
              <a:srgbClr val="3AD6FF"/>
            </a:solidFill>
          </a:ln>
        </p:spPr>
      </p:sp>
      <p:sp>
        <p:nvSpPr>
          <p:cNvPr id="18" name="">
            <a:extLst xmlns:a="http://schemas.openxmlformats.org/drawingml/2006/main">
              <a:ext uri="{FF2B5EF4-FFF2-40B4-BE49-F238E27FC236}">
                <a16:creationId xmlns:a16="http://schemas.microsoft.com/office/drawing/2014/main" id="{33EED74E-238D-4805-80E2-A4D6D6FD420A}"/>
              </a:ext>
            </a:extLst>
          </p:cNvPr>
          <p:cNvSpPr>
            <a:spLocks xmlns:a="http://schemas.openxmlformats.org/drawingml/2006/main" noGrp="1"/>
          </p:cNvSpPr>
          <p:nvPr/>
        </p:nvSpPr>
        <p:spPr>
          <a:xfrm xmlns:a="http://schemas.openxmlformats.org/drawingml/2006/main">
            <a:off x="5372100" y="217170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392"/>
          </a:bodyPr>
          <a:lstStyle xmlns:a="http://schemas.openxmlformats.org/drawingml/2006/main"/>
          <a:p xmlns:a="http://schemas.openxmlformats.org/drawingml/2006/main">
            <a:pPr>
              <a:defRPr sz="1275" b="1">
                <a:solidFill>
                  <a:srgbClr val="3AD6FF"/>
                </a:solidFill>
                <a:latin typeface="Bahnschrift"/>
                <a:ea typeface="Bahnschrift"/>
                <a:cs typeface="Bahnschrift"/>
              </a:defRPr>
            </a:pPr>
            <a:r>
              <a:rPr sz="1275" b="1">
                <a:solidFill>
                  <a:srgbClr val="3AD6FF"/>
                </a:solidFill>
                <a:latin typeface="Bahnschrift"/>
                <a:ea typeface="Bahnschrift"/>
                <a:cs typeface="Bahnschrift"/>
              </a:rPr>
              <a:t>03</a:t>
            </a:r>
          </a:p>
        </p:txBody>
      </p:sp>
      <p:sp>
        <p:nvSpPr>
          <p:cNvPr id="19" name="">
            <a:extLst xmlns:a="http://schemas.openxmlformats.org/drawingml/2006/main">
              <a:ext uri="{FF2B5EF4-FFF2-40B4-BE49-F238E27FC236}">
                <a16:creationId xmlns:a16="http://schemas.microsoft.com/office/drawing/2014/main" id="{24B169EF-5F93-4826-927D-7A74E928E4E7}"/>
              </a:ext>
            </a:extLst>
          </p:cNvPr>
          <p:cNvSpPr>
            <a:spLocks xmlns:a="http://schemas.openxmlformats.org/drawingml/2006/main" noGrp="1"/>
          </p:cNvSpPr>
          <p:nvPr/>
        </p:nvSpPr>
        <p:spPr>
          <a:xfrm xmlns:a="http://schemas.openxmlformats.org/drawingml/2006/main">
            <a:off x="5372100" y="259080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482"/>
          </a:bodyPr>
          <a:lstStyle xmlns:a="http://schemas.openxmlformats.org/drawingml/2006/main"/>
          <a:p xmlns:a="http://schemas.openxmlformats.org/drawingml/2006/main">
            <a:pPr>
              <a:defRPr sz="1875" b="1">
                <a:solidFill>
                  <a:srgbClr val="F5FAFF"/>
                </a:solidFill>
                <a:latin typeface="Bahnschrift"/>
                <a:ea typeface="Bahnschrift"/>
                <a:cs typeface="Bahnschrift"/>
              </a:defRPr>
            </a:pPr>
            <a:r>
              <a:rPr sz="1875" b="1">
                <a:solidFill>
                  <a:srgbClr val="F5FAFF"/>
                </a:solidFill>
                <a:latin typeface="Bahnschrift"/>
                <a:ea typeface="Bahnschrift"/>
                <a:cs typeface="Bahnschrift"/>
              </a:rPr>
              <a:t>Route engine</a:t>
            </a:r>
          </a:p>
        </p:txBody>
      </p:sp>
      <p:sp>
        <p:nvSpPr>
          <p:cNvPr id="20" name="">
            <a:extLst xmlns:a="http://schemas.openxmlformats.org/drawingml/2006/main">
              <a:ext uri="{FF2B5EF4-FFF2-40B4-BE49-F238E27FC236}">
                <a16:creationId xmlns:a16="http://schemas.microsoft.com/office/drawing/2014/main" id="{69893D30-CB51-4448-97DE-DE13BFA236CC}"/>
              </a:ext>
            </a:extLst>
          </p:cNvPr>
          <p:cNvSpPr>
            <a:spLocks xmlns:a="http://schemas.openxmlformats.org/drawingml/2006/main" noGrp="1"/>
          </p:cNvSpPr>
          <p:nvPr/>
        </p:nvSpPr>
        <p:spPr>
          <a:xfrm xmlns:a="http://schemas.openxmlformats.org/drawingml/2006/main">
            <a:off x="5372100" y="3105150"/>
            <a:ext cx="1504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126"/>
          </a:bodyPr>
          <a:lstStyle xmlns:a="http://schemas.openxmlformats.org/drawingml/2006/main"/>
          <a:p xmlns:a="http://schemas.openxmlformats.org/drawingml/2006/main">
            <a:pPr>
              <a:defRPr sz="1275" b="0">
                <a:solidFill>
                  <a:srgbClr val="A9C1D3"/>
                </a:solidFill>
                <a:latin typeface="Segoe UI"/>
                <a:ea typeface="Segoe UI"/>
                <a:cs typeface="Segoe UI"/>
              </a:defRPr>
            </a:pPr>
            <a:r>
              <a:rPr sz="1275" b="0">
                <a:solidFill>
                  <a:srgbClr val="A9C1D3"/>
                </a:solidFill>
                <a:latin typeface="Segoe UI"/>
                <a:ea typeface="Segoe UI"/>
                <a:cs typeface="Segoe UI"/>
              </a:rPr>
              <a:t>Compare with official stop geofences</a:t>
            </a:r>
          </a:p>
        </p:txBody>
      </p:sp>
      <p:sp>
        <p:nvSpPr>
          <p:cNvPr id="21" name="">
            <a:extLst xmlns:a="http://schemas.openxmlformats.org/drawingml/2006/main">
              <a:ext uri="{FF2B5EF4-FFF2-40B4-BE49-F238E27FC236}">
                <a16:creationId xmlns:a16="http://schemas.microsoft.com/office/drawing/2014/main" id="{685BD164-56FE-4B83-9A9F-CDD400BA12FF}"/>
              </a:ext>
            </a:extLst>
          </p:cNvPr>
          <p:cNvSpPr>
            <a:spLocks xmlns:a="http://schemas.openxmlformats.org/drawingml/2006/main" noGrp="1"/>
          </p:cNvSpPr>
          <p:nvPr/>
        </p:nvSpPr>
        <p:spPr>
          <a:xfrm xmlns:a="http://schemas.openxmlformats.org/drawingml/2006/main">
            <a:off x="9372600" y="2819400"/>
            <a:ext cx="476250" cy="28575"/>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BE36195-51B1-4116-BC8C-ABC65D58DAA0}"/>
              </a:ext>
            </a:extLst>
          </p:cNvPr>
          <p:cNvSpPr>
            <a:spLocks xmlns:a="http://schemas.openxmlformats.org/drawingml/2006/main" noGrp="1"/>
          </p:cNvSpPr>
          <p:nvPr/>
        </p:nvSpPr>
        <p:spPr>
          <a:xfrm xmlns:a="http://schemas.openxmlformats.org/drawingml/2006/main">
            <a:off x="7524750" y="2000250"/>
            <a:ext cx="1857375" cy="1714500"/>
          </a:xfrm>
          <a:prstGeom xmlns:a="http://schemas.openxmlformats.org/drawingml/2006/main" prst="roundRect">
            <a:avLst>
              <a:gd name="adj" fmla="val 4444"/>
            </a:avLst>
          </a:prstGeom>
          <a:solidFill xmlns:a="http://schemas.openxmlformats.org/drawingml/2006/main">
            <a:srgbClr val="0B2747"/>
          </a:solidFill>
          <a:ln xmlns:a="http://schemas.openxmlformats.org/drawingml/2006/main" w="9525">
            <a:solidFill>
              <a:srgbClr val="214360"/>
            </a:solidFill>
          </a:ln>
        </p:spPr>
      </p:sp>
      <p:sp>
        <p:nvSpPr>
          <p:cNvPr id="23" name="">
            <a:extLst xmlns:a="http://schemas.openxmlformats.org/drawingml/2006/main">
              <a:ext uri="{FF2B5EF4-FFF2-40B4-BE49-F238E27FC236}">
                <a16:creationId xmlns:a16="http://schemas.microsoft.com/office/drawing/2014/main" id="{66E06522-3D0A-40B7-AEBB-CBA36F3EC242}"/>
              </a:ext>
            </a:extLst>
          </p:cNvPr>
          <p:cNvSpPr>
            <a:spLocks xmlns:a="http://schemas.openxmlformats.org/drawingml/2006/main" noGrp="1"/>
          </p:cNvSpPr>
          <p:nvPr/>
        </p:nvSpPr>
        <p:spPr>
          <a:xfrm xmlns:a="http://schemas.openxmlformats.org/drawingml/2006/main">
            <a:off x="7696200" y="217170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392"/>
          </a:bodyPr>
          <a:lstStyle xmlns:a="http://schemas.openxmlformats.org/drawingml/2006/main"/>
          <a:p xmlns:a="http://schemas.openxmlformats.org/drawingml/2006/main">
            <a:pPr>
              <a:defRPr sz="1275" b="1">
                <a:solidFill>
                  <a:srgbClr val="3AD6FF"/>
                </a:solidFill>
                <a:latin typeface="Bahnschrift"/>
                <a:ea typeface="Bahnschrift"/>
                <a:cs typeface="Bahnschrift"/>
              </a:defRPr>
            </a:pPr>
            <a:r>
              <a:rPr sz="1275" b="1">
                <a:solidFill>
                  <a:srgbClr val="3AD6FF"/>
                </a:solidFill>
                <a:latin typeface="Bahnschrift"/>
                <a:ea typeface="Bahnschrift"/>
                <a:cs typeface="Bahnschrift"/>
              </a:rPr>
              <a:t>04</a:t>
            </a:r>
          </a:p>
        </p:txBody>
      </p:sp>
      <p:sp>
        <p:nvSpPr>
          <p:cNvPr id="24" name="">
            <a:extLst xmlns:a="http://schemas.openxmlformats.org/drawingml/2006/main">
              <a:ext uri="{FF2B5EF4-FFF2-40B4-BE49-F238E27FC236}">
                <a16:creationId xmlns:a16="http://schemas.microsoft.com/office/drawing/2014/main" id="{B60908FF-8CE7-4562-A83F-4776F7A30821}"/>
              </a:ext>
            </a:extLst>
          </p:cNvPr>
          <p:cNvSpPr>
            <a:spLocks xmlns:a="http://schemas.openxmlformats.org/drawingml/2006/main" noGrp="1"/>
          </p:cNvSpPr>
          <p:nvPr/>
        </p:nvSpPr>
        <p:spPr>
          <a:xfrm xmlns:a="http://schemas.openxmlformats.org/drawingml/2006/main">
            <a:off x="7696200" y="259080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626"/>
          </a:bodyPr>
          <a:lstStyle xmlns:a="http://schemas.openxmlformats.org/drawingml/2006/main"/>
          <a:p xmlns:a="http://schemas.openxmlformats.org/drawingml/2006/main">
            <a:pPr>
              <a:defRPr sz="1875" b="1">
                <a:solidFill>
                  <a:srgbClr val="F5FAFF"/>
                </a:solidFill>
                <a:latin typeface="Bahnschrift"/>
                <a:ea typeface="Bahnschrift"/>
                <a:cs typeface="Bahnschrift"/>
              </a:defRPr>
            </a:pPr>
            <a:r>
              <a:rPr sz="1875" b="1">
                <a:solidFill>
                  <a:srgbClr val="F5FAFF"/>
                </a:solidFill>
                <a:latin typeface="Bahnschrift"/>
                <a:ea typeface="Bahnschrift"/>
                <a:cs typeface="Bahnschrift"/>
              </a:rPr>
              <a:t>Journey state</a:t>
            </a:r>
          </a:p>
        </p:txBody>
      </p:sp>
      <p:sp>
        <p:nvSpPr>
          <p:cNvPr id="25" name="">
            <a:extLst xmlns:a="http://schemas.openxmlformats.org/drawingml/2006/main">
              <a:ext uri="{FF2B5EF4-FFF2-40B4-BE49-F238E27FC236}">
                <a16:creationId xmlns:a16="http://schemas.microsoft.com/office/drawing/2014/main" id="{C680C0C6-0716-4313-95A9-126393E3DF85}"/>
              </a:ext>
            </a:extLst>
          </p:cNvPr>
          <p:cNvSpPr>
            <a:spLocks xmlns:a="http://schemas.openxmlformats.org/drawingml/2006/main" noGrp="1"/>
          </p:cNvSpPr>
          <p:nvPr/>
        </p:nvSpPr>
        <p:spPr>
          <a:xfrm xmlns:a="http://schemas.openxmlformats.org/drawingml/2006/main">
            <a:off x="7696200" y="3105150"/>
            <a:ext cx="1504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a:solidFill>
                  <a:srgbClr val="A9C1D3"/>
                </a:solidFill>
                <a:latin typeface="Segoe UI"/>
                <a:ea typeface="Segoe UI"/>
                <a:cs typeface="Segoe UI"/>
              </a:defRPr>
            </a:pPr>
            <a:r>
              <a:rPr sz="1275" b="0">
                <a:solidFill>
                  <a:srgbClr val="A9C1D3"/>
                </a:solidFill>
                <a:latin typeface="Segoe UI"/>
                <a:ea typeface="Segoe UI"/>
                <a:cs typeface="Segoe UI"/>
              </a:rPr>
              <a:t>Current stop, next stop and direction</a:t>
            </a:r>
          </a:p>
        </p:txBody>
      </p:sp>
      <p:sp>
        <p:nvSpPr>
          <p:cNvPr id="26" name="">
            <a:extLst xmlns:a="http://schemas.openxmlformats.org/drawingml/2006/main">
              <a:ext uri="{FF2B5EF4-FFF2-40B4-BE49-F238E27FC236}">
                <a16:creationId xmlns:a16="http://schemas.microsoft.com/office/drawing/2014/main" id="{C4C04172-83C4-473E-AA01-67C3D8D19705}"/>
              </a:ext>
            </a:extLst>
          </p:cNvPr>
          <p:cNvSpPr>
            <a:spLocks xmlns:a="http://schemas.openxmlformats.org/drawingml/2006/main" noGrp="1"/>
          </p:cNvSpPr>
          <p:nvPr/>
        </p:nvSpPr>
        <p:spPr>
          <a:xfrm xmlns:a="http://schemas.openxmlformats.org/drawingml/2006/main">
            <a:off x="9848850" y="2000250"/>
            <a:ext cx="1857375" cy="1714500"/>
          </a:xfrm>
          <a:prstGeom xmlns:a="http://schemas.openxmlformats.org/drawingml/2006/main" prst="roundRect">
            <a:avLst>
              <a:gd name="adj" fmla="val 4444"/>
            </a:avLst>
          </a:prstGeom>
          <a:solidFill xmlns:a="http://schemas.openxmlformats.org/drawingml/2006/main">
            <a:srgbClr val="0B2747"/>
          </a:solidFill>
          <a:ln xmlns:a="http://schemas.openxmlformats.org/drawingml/2006/main" w="9525">
            <a:solidFill>
              <a:srgbClr val="214360"/>
            </a:solidFill>
          </a:ln>
        </p:spPr>
      </p:sp>
      <p:sp>
        <p:nvSpPr>
          <p:cNvPr id="27" name="">
            <a:extLst xmlns:a="http://schemas.openxmlformats.org/drawingml/2006/main">
              <a:ext uri="{FF2B5EF4-FFF2-40B4-BE49-F238E27FC236}">
                <a16:creationId xmlns:a16="http://schemas.microsoft.com/office/drawing/2014/main" id="{520F50E6-78EE-48E8-8669-FB4E34BAC7BE}"/>
              </a:ext>
            </a:extLst>
          </p:cNvPr>
          <p:cNvSpPr>
            <a:spLocks xmlns:a="http://schemas.openxmlformats.org/drawingml/2006/main" noGrp="1"/>
          </p:cNvSpPr>
          <p:nvPr/>
        </p:nvSpPr>
        <p:spPr>
          <a:xfrm xmlns:a="http://schemas.openxmlformats.org/drawingml/2006/main">
            <a:off x="10020300" y="217170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392"/>
          </a:bodyPr>
          <a:lstStyle xmlns:a="http://schemas.openxmlformats.org/drawingml/2006/main"/>
          <a:p xmlns:a="http://schemas.openxmlformats.org/drawingml/2006/main">
            <a:pPr>
              <a:defRPr sz="1275" b="1">
                <a:solidFill>
                  <a:srgbClr val="3AD6FF"/>
                </a:solidFill>
                <a:latin typeface="Bahnschrift"/>
                <a:ea typeface="Bahnschrift"/>
                <a:cs typeface="Bahnschrift"/>
              </a:defRPr>
            </a:pPr>
            <a:r>
              <a:rPr sz="1275" b="1">
                <a:solidFill>
                  <a:srgbClr val="3AD6FF"/>
                </a:solidFill>
                <a:latin typeface="Bahnschrift"/>
                <a:ea typeface="Bahnschrift"/>
                <a:cs typeface="Bahnschrift"/>
              </a:rPr>
              <a:t>05</a:t>
            </a:r>
          </a:p>
        </p:txBody>
      </p:sp>
      <p:sp>
        <p:nvSpPr>
          <p:cNvPr id="28" name="">
            <a:extLst xmlns:a="http://schemas.openxmlformats.org/drawingml/2006/main">
              <a:ext uri="{FF2B5EF4-FFF2-40B4-BE49-F238E27FC236}">
                <a16:creationId xmlns:a16="http://schemas.microsoft.com/office/drawing/2014/main" id="{F33FE4E9-A1BA-4CBD-A9AD-E443D4A232F9}"/>
              </a:ext>
            </a:extLst>
          </p:cNvPr>
          <p:cNvSpPr>
            <a:spLocks xmlns:a="http://schemas.openxmlformats.org/drawingml/2006/main" noGrp="1"/>
          </p:cNvSpPr>
          <p:nvPr/>
        </p:nvSpPr>
        <p:spPr>
          <a:xfrm xmlns:a="http://schemas.openxmlformats.org/drawingml/2006/main">
            <a:off x="10020300" y="259080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722"/>
          </a:bodyPr>
          <a:lstStyle xmlns:a="http://schemas.openxmlformats.org/drawingml/2006/main"/>
          <a:p xmlns:a="http://schemas.openxmlformats.org/drawingml/2006/main">
            <a:pPr>
              <a:defRPr sz="1875" b="1">
                <a:solidFill>
                  <a:srgbClr val="F5FAFF"/>
                </a:solidFill>
                <a:latin typeface="Bahnschrift"/>
                <a:ea typeface="Bahnschrift"/>
                <a:cs typeface="Bahnschrift"/>
              </a:defRPr>
            </a:pPr>
            <a:r>
              <a:rPr sz="1875" b="1">
                <a:solidFill>
                  <a:srgbClr val="F5FAFF"/>
                </a:solidFill>
                <a:latin typeface="Bahnschrift"/>
                <a:ea typeface="Bahnschrift"/>
                <a:cs typeface="Bahnschrift"/>
              </a:rPr>
              <a:t>Portal update</a:t>
            </a:r>
          </a:p>
        </p:txBody>
      </p:sp>
      <p:sp>
        <p:nvSpPr>
          <p:cNvPr id="29" name="">
            <a:extLst xmlns:a="http://schemas.openxmlformats.org/drawingml/2006/main">
              <a:ext uri="{FF2B5EF4-FFF2-40B4-BE49-F238E27FC236}">
                <a16:creationId xmlns:a16="http://schemas.microsoft.com/office/drawing/2014/main" id="{F963D441-77A0-4061-A863-5CEBDEBD9383}"/>
              </a:ext>
            </a:extLst>
          </p:cNvPr>
          <p:cNvSpPr>
            <a:spLocks xmlns:a="http://schemas.openxmlformats.org/drawingml/2006/main" noGrp="1"/>
          </p:cNvSpPr>
          <p:nvPr/>
        </p:nvSpPr>
        <p:spPr>
          <a:xfrm xmlns:a="http://schemas.openxmlformats.org/drawingml/2006/main">
            <a:off x="10020300" y="3105150"/>
            <a:ext cx="1504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932"/>
          </a:bodyPr>
          <a:lstStyle xmlns:a="http://schemas.openxmlformats.org/drawingml/2006/main"/>
          <a:p xmlns:a="http://schemas.openxmlformats.org/drawingml/2006/main">
            <a:pPr>
              <a:defRPr sz="1275" b="0">
                <a:solidFill>
                  <a:srgbClr val="A9C1D3"/>
                </a:solidFill>
                <a:latin typeface="Segoe UI"/>
                <a:ea typeface="Segoe UI"/>
                <a:cs typeface="Segoe UI"/>
              </a:defRPr>
            </a:pPr>
            <a:r>
              <a:rPr sz="1275" b="0">
                <a:solidFill>
                  <a:srgbClr val="A9C1D3"/>
                </a:solidFill>
                <a:latin typeface="Segoe UI"/>
                <a:ea typeface="Segoe UI"/>
                <a:cs typeface="Segoe UI"/>
              </a:rPr>
              <a:t>Student, driver, admin and technician</a:t>
            </a:r>
          </a:p>
        </p:txBody>
      </p:sp>
      <p:sp>
        <p:nvSpPr>
          <p:cNvPr id="30" name="">
            <a:extLst xmlns:a="http://schemas.openxmlformats.org/drawingml/2006/main">
              <a:ext uri="{FF2B5EF4-FFF2-40B4-BE49-F238E27FC236}">
                <a16:creationId xmlns:a16="http://schemas.microsoft.com/office/drawing/2014/main" id="{448FCA41-6C64-441A-A163-1CBC5DFD964E}"/>
              </a:ext>
            </a:extLst>
          </p:cNvPr>
          <p:cNvSpPr>
            <a:spLocks xmlns:a="http://schemas.openxmlformats.org/drawingml/2006/main" noGrp="1"/>
          </p:cNvSpPr>
          <p:nvPr/>
        </p:nvSpPr>
        <p:spPr>
          <a:xfrm xmlns:a="http://schemas.openxmlformats.org/drawingml/2006/main">
            <a:off x="1619250" y="4429125"/>
            <a:ext cx="8953500" cy="1143000"/>
          </a:xfrm>
          <a:prstGeom xmlns:a="http://schemas.openxmlformats.org/drawingml/2006/main" prst="roundRect">
            <a:avLst>
              <a:gd name="adj" fmla="val 6667"/>
            </a:avLst>
          </a:prstGeom>
          <a:solidFill xmlns:a="http://schemas.openxmlformats.org/drawingml/2006/main">
            <a:srgbClr val="0B2747"/>
          </a:solidFill>
          <a:ln xmlns:a="http://schemas.openxmlformats.org/drawingml/2006/main" w="9525">
            <a:solidFill>
              <a:srgbClr val="214360"/>
            </a:solidFill>
          </a:ln>
        </p:spPr>
      </p:sp>
      <p:sp>
        <p:nvSpPr>
          <p:cNvPr id="31" name="">
            <a:extLst xmlns:a="http://schemas.openxmlformats.org/drawingml/2006/main">
              <a:ext uri="{FF2B5EF4-FFF2-40B4-BE49-F238E27FC236}">
                <a16:creationId xmlns:a16="http://schemas.microsoft.com/office/drawing/2014/main" id="{58BDA2FE-A9B3-4C9E-9F62-A3FA5AFF664B}"/>
              </a:ext>
            </a:extLst>
          </p:cNvPr>
          <p:cNvSpPr>
            <a:spLocks xmlns:a="http://schemas.openxmlformats.org/drawingml/2006/main" noGrp="1"/>
          </p:cNvSpPr>
          <p:nvPr/>
        </p:nvSpPr>
        <p:spPr>
          <a:xfrm xmlns:a="http://schemas.openxmlformats.org/drawingml/2006/main">
            <a:off x="1952625" y="466725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356"/>
          </a:bodyPr>
          <a:lstStyle xmlns:a="http://schemas.openxmlformats.org/drawingml/2006/main"/>
          <a:p xmlns:a="http://schemas.openxmlformats.org/drawingml/2006/main">
            <a:pPr>
              <a:defRPr sz="2175" b="1">
                <a:solidFill>
                  <a:srgbClr val="43E1A1"/>
                </a:solidFill>
                <a:latin typeface="Bahnschrift"/>
                <a:ea typeface="Bahnschrift"/>
                <a:cs typeface="Bahnschrift"/>
              </a:defRPr>
            </a:pPr>
            <a:r>
              <a:rPr sz="2175" b="1">
                <a:solidFill>
                  <a:srgbClr val="43E1A1"/>
                </a:solidFill>
                <a:latin typeface="Bahnschrift"/>
                <a:ea typeface="Bahnschrift"/>
                <a:cs typeface="Bahnschrift"/>
              </a:rPr>
              <a:t>The map marker and route progress remain separate</a:t>
            </a:r>
          </a:p>
        </p:txBody>
      </p:sp>
      <p:sp>
        <p:nvSpPr>
          <p:cNvPr id="32" name="">
            <a:extLst xmlns:a="http://schemas.openxmlformats.org/drawingml/2006/main">
              <a:ext uri="{FF2B5EF4-FFF2-40B4-BE49-F238E27FC236}">
                <a16:creationId xmlns:a16="http://schemas.microsoft.com/office/drawing/2014/main" id="{1605BBC8-3361-494E-AE75-154D44734FCD}"/>
              </a:ext>
            </a:extLst>
          </p:cNvPr>
          <p:cNvSpPr>
            <a:spLocks xmlns:a="http://schemas.openxmlformats.org/drawingml/2006/main" noGrp="1"/>
          </p:cNvSpPr>
          <p:nvPr/>
        </p:nvSpPr>
        <p:spPr>
          <a:xfrm xmlns:a="http://schemas.openxmlformats.org/drawingml/2006/main">
            <a:off x="2143125" y="5143500"/>
            <a:ext cx="790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847"/>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BusTrack preserves the real last-known location while showing whether that location is fresh enough to change the route.</a:t>
            </a:r>
          </a:p>
        </p:txBody>
      </p:sp>
    </p:spTree>
    <p:extLst>
      <p:ext uri="{BB962C8B-B14F-4D97-AF65-F5344CB8AC3E}">
        <p14:creationId xmlns:p14="http://schemas.microsoft.com/office/powerpoint/2010/main" val="1409774169"/>
      </p:ext>
    </p:extLst>
  </p:cSld>
</p:sld>
</file>

<file path=ppt/slides/slide5.xml><?xml version="1.0" encoding="utf-8"?>
<p:sld xmlns:p="http://schemas.openxmlformats.org/presentationml/2006/main">
  <p:cSld>
    <p:bg>
      <p:bgPr>
        <a:solidFill xmlns:a="http://schemas.openxmlformats.org/drawingml/2006/main">
          <a:srgbClr val="06172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A6117A4-FA9B-4859-B2C6-8FC56A290263}"/>
              </a:ext>
            </a:extLst>
          </p:cNvPr>
          <p:cNvSpPr>
            <a:spLocks xmlns:a="http://schemas.openxmlformats.org/drawingml/2006/main" noGrp="1"/>
          </p:cNvSpPr>
          <p:nvPr/>
        </p:nvSpPr>
        <p:spPr>
          <a:xfrm xmlns:a="http://schemas.openxmlformats.org/drawingml/2006/main">
            <a:off x="609600" y="266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3AD6FF"/>
                </a:solidFill>
                <a:latin typeface="Bahnschrift"/>
                <a:ea typeface="Bahnschrift"/>
                <a:cs typeface="Bahnschrift"/>
              </a:defRPr>
            </a:pPr>
            <a:r>
              <a:rPr sz="1200" b="1">
                <a:solidFill>
                  <a:srgbClr val="3AD6FF"/>
                </a:solidFill>
                <a:latin typeface="Bahnschrift"/>
                <a:ea typeface="Bahnschrift"/>
                <a:cs typeface="Bahnschrift"/>
              </a:rPr>
              <a:t>05</a:t>
            </a:r>
          </a:p>
        </p:txBody>
      </p:sp>
      <p:sp>
        <p:nvSpPr>
          <p:cNvPr id="2" name="">
            <a:extLst xmlns:a="http://schemas.openxmlformats.org/drawingml/2006/main">
              <a:ext uri="{FF2B5EF4-FFF2-40B4-BE49-F238E27FC236}">
                <a16:creationId xmlns:a16="http://schemas.microsoft.com/office/drawing/2014/main" id="{D12EEEAC-4E36-4E95-92E1-BE8482B64277}"/>
              </a:ext>
            </a:extLst>
          </p:cNvPr>
          <p:cNvSpPr>
            <a:spLocks xmlns:a="http://schemas.openxmlformats.org/drawingml/2006/main" noGrp="1"/>
          </p:cNvSpPr>
          <p:nvPr/>
        </p:nvSpPr>
        <p:spPr>
          <a:xfrm xmlns:a="http://schemas.openxmlformats.org/drawingml/2006/main">
            <a:off x="609600" y="5715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58"/>
          </a:bodyPr>
          <a:lstStyle xmlns:a="http://schemas.openxmlformats.org/drawingml/2006/main"/>
          <a:p xmlns:a="http://schemas.openxmlformats.org/drawingml/2006/main">
            <a:pPr>
              <a:defRPr sz="3450" b="1">
                <a:solidFill>
                  <a:srgbClr val="F5FAFF"/>
                </a:solidFill>
                <a:latin typeface="Bahnschrift"/>
                <a:ea typeface="Bahnschrift"/>
                <a:cs typeface="Bahnschrift"/>
              </a:defRPr>
            </a:pPr>
            <a:r>
              <a:rPr sz="3450" b="1">
                <a:solidFill>
                  <a:srgbClr val="F5FAFF"/>
                </a:solidFill>
                <a:latin typeface="Bahnschrift"/>
                <a:ea typeface="Bahnschrift"/>
                <a:cs typeface="Bahnschrift"/>
              </a:rPr>
              <a:t>Student live tracking</a:t>
            </a:r>
          </a:p>
        </p:txBody>
      </p:sp>
      <p:sp>
        <p:nvSpPr>
          <p:cNvPr id="3" name="">
            <a:extLst xmlns:a="http://schemas.openxmlformats.org/drawingml/2006/main">
              <a:ext uri="{FF2B5EF4-FFF2-40B4-BE49-F238E27FC236}">
                <a16:creationId xmlns:a16="http://schemas.microsoft.com/office/drawing/2014/main" id="{A0F34D8A-9D1B-4EEE-98DC-D33F94AF7A42}"/>
              </a:ext>
            </a:extLst>
          </p:cNvPr>
          <p:cNvSpPr>
            <a:spLocks xmlns:a="http://schemas.openxmlformats.org/drawingml/2006/main" noGrp="1"/>
          </p:cNvSpPr>
          <p:nvPr/>
        </p:nvSpPr>
        <p:spPr>
          <a:xfrm xmlns:a="http://schemas.openxmlformats.org/drawingml/2006/main">
            <a:off x="609600" y="1209675"/>
            <a:ext cx="819150" cy="38100"/>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5220D2E-8FF3-44CF-AF8D-E9F74A2F7F93}"/>
              </a:ext>
            </a:extLst>
          </p:cNvPr>
          <p:cNvSpPr>
            <a:spLocks xmlns:a="http://schemas.openxmlformats.org/drawingml/2006/main" noGrp="1"/>
          </p:cNvSpPr>
          <p:nvPr/>
        </p:nvSpPr>
        <p:spPr>
          <a:xfrm xmlns:a="http://schemas.openxmlformats.org/drawingml/2006/main">
            <a:off x="1666875" y="1104900"/>
            <a:ext cx="919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A clear answer to where the bus is and what happens next</a:t>
            </a:r>
          </a:p>
        </p:txBody>
      </p:sp>
      <p:sp>
        <p:nvSpPr>
          <p:cNvPr id="5" name="">
            <a:extLst xmlns:a="http://schemas.openxmlformats.org/drawingml/2006/main">
              <a:ext uri="{FF2B5EF4-FFF2-40B4-BE49-F238E27FC236}">
                <a16:creationId xmlns:a16="http://schemas.microsoft.com/office/drawing/2014/main" id="{9BF7A53A-4D32-4B22-B920-99B28E298DFB}"/>
              </a:ext>
            </a:extLst>
          </p:cNvPr>
          <p:cNvSpPr>
            <a:spLocks xmlns:a="http://schemas.openxmlformats.org/drawingml/2006/main" noGrp="1"/>
          </p:cNvSpPr>
          <p:nvPr/>
        </p:nvSpPr>
        <p:spPr>
          <a:xfrm xmlns:a="http://schemas.openxmlformats.org/drawingml/2006/main">
            <a:off x="11334750" y="64389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0000"/>
          </a:bodyPr>
          <a:lstStyle xmlns:a="http://schemas.openxmlformats.org/drawingml/2006/main"/>
          <a:p xmlns:a="http://schemas.openxmlformats.org/drawingml/2006/main">
            <a:pPr>
              <a:defRPr sz="1050" b="0">
                <a:solidFill>
                  <a:srgbClr val="6E8AA0"/>
                </a:solidFill>
                <a:latin typeface="Segoe UI"/>
                <a:ea typeface="Segoe UI"/>
                <a:cs typeface="Segoe UI"/>
              </a:defRPr>
            </a:pPr>
            <a:r>
              <a:rPr sz="1050" b="0">
                <a:solidFill>
                  <a:srgbClr val="6E8AA0"/>
                </a:solidFill>
                <a:latin typeface="Segoe UI"/>
                <a:ea typeface="Segoe UI"/>
                <a:cs typeface="Segoe UI"/>
              </a:rPr>
              <a:t>5</a:t>
            </a:r>
          </a:p>
        </p:txBody>
      </p:sp>
      <p:sp>
        <p:nvSpPr>
          <p:cNvPr id="6" name="">
            <a:extLst xmlns:a="http://schemas.openxmlformats.org/drawingml/2006/main">
              <a:ext uri="{FF2B5EF4-FFF2-40B4-BE49-F238E27FC236}">
                <a16:creationId xmlns:a16="http://schemas.microsoft.com/office/drawing/2014/main" id="{713FB147-7B1B-4783-B24B-740E827C96BC}"/>
              </a:ext>
            </a:extLst>
          </p:cNvPr>
          <p:cNvSpPr>
            <a:spLocks xmlns:a="http://schemas.openxmlformats.org/drawingml/2006/main" noGrp="1"/>
          </p:cNvSpPr>
          <p:nvPr/>
        </p:nvSpPr>
        <p:spPr>
          <a:xfrm xmlns:a="http://schemas.openxmlformats.org/drawingml/2006/main">
            <a:off x="609600" y="171450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524"/>
          </a:bodyPr>
          <a:lstStyle xmlns:a="http://schemas.openxmlformats.org/drawingml/2006/main"/>
          <a:p xmlns:a="http://schemas.openxmlformats.org/drawingml/2006/main">
            <a:pPr>
              <a:defRPr sz="2100" b="1">
                <a:solidFill>
                  <a:srgbClr val="3AD6FF"/>
                </a:solidFill>
                <a:latin typeface="Bahnschrift"/>
                <a:ea typeface="Bahnschrift"/>
                <a:cs typeface="Bahnschrift"/>
              </a:defRPr>
            </a:pPr>
            <a:r>
              <a:rPr sz="2100" b="1">
                <a:solidFill>
                  <a:srgbClr val="3AD6FF"/>
                </a:solidFill>
                <a:latin typeface="Bahnschrift"/>
                <a:ea typeface="Bahnschrift"/>
                <a:cs typeface="Bahnschrift"/>
              </a:rPr>
              <a:t>Students can see</a:t>
            </a:r>
          </a:p>
        </p:txBody>
      </p:sp>
      <p:sp>
        <p:nvSpPr>
          <p:cNvPr id="7" name="">
            <a:extLst xmlns:a="http://schemas.openxmlformats.org/drawingml/2006/main">
              <a:ext uri="{FF2B5EF4-FFF2-40B4-BE49-F238E27FC236}">
                <a16:creationId xmlns:a16="http://schemas.microsoft.com/office/drawing/2014/main" id="{146AF6BE-ED3B-409B-BEB4-D26FD0008B61}"/>
              </a:ext>
            </a:extLst>
          </p:cNvPr>
          <p:cNvSpPr>
            <a:spLocks xmlns:a="http://schemas.openxmlformats.org/drawingml/2006/main" noGrp="1"/>
          </p:cNvSpPr>
          <p:nvPr/>
        </p:nvSpPr>
        <p:spPr>
          <a:xfrm xmlns:a="http://schemas.openxmlformats.org/drawingml/2006/main">
            <a:off x="609600" y="2333625"/>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defRPr sz="1800" b="1">
                <a:solidFill>
                  <a:srgbClr val="3AD6FF"/>
                </a:solidFill>
                <a:latin typeface="Bahnschrift"/>
                <a:ea typeface="Bahnschrift"/>
                <a:cs typeface="Bahnschrift"/>
              </a:defRPr>
            </a:pPr>
            <a:r>
              <a:rPr sz="1800" b="1">
                <a:solidFill>
                  <a:srgbClr val="3AD6FF"/>
                </a:solidFill>
                <a:latin typeface="Bahnschrift"/>
                <a:ea typeface="Bahnschrift"/>
                <a:cs typeface="Bahnschrift"/>
              </a:rPr>
              <a:t>01</a:t>
            </a:r>
          </a:p>
        </p:txBody>
      </p:sp>
      <p:sp>
        <p:nvSpPr>
          <p:cNvPr id="8" name="">
            <a:extLst xmlns:a="http://schemas.openxmlformats.org/drawingml/2006/main">
              <a:ext uri="{FF2B5EF4-FFF2-40B4-BE49-F238E27FC236}">
                <a16:creationId xmlns:a16="http://schemas.microsoft.com/office/drawing/2014/main" id="{6D2F689E-E1CE-49BD-A778-56C32306FEE0}"/>
              </a:ext>
            </a:extLst>
          </p:cNvPr>
          <p:cNvSpPr>
            <a:spLocks xmlns:a="http://schemas.openxmlformats.org/drawingml/2006/main" noGrp="1"/>
          </p:cNvSpPr>
          <p:nvPr/>
        </p:nvSpPr>
        <p:spPr>
          <a:xfrm xmlns:a="http://schemas.openxmlformats.org/drawingml/2006/main">
            <a:off x="1257300" y="2333625"/>
            <a:ext cx="3209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Route progress</a:t>
            </a:r>
          </a:p>
        </p:txBody>
      </p:sp>
      <p:sp>
        <p:nvSpPr>
          <p:cNvPr id="9" name="">
            <a:extLst xmlns:a="http://schemas.openxmlformats.org/drawingml/2006/main">
              <a:ext uri="{FF2B5EF4-FFF2-40B4-BE49-F238E27FC236}">
                <a16:creationId xmlns:a16="http://schemas.microsoft.com/office/drawing/2014/main" id="{D9277230-3CC4-4599-9601-4F2F011977B6}"/>
              </a:ext>
            </a:extLst>
          </p:cNvPr>
          <p:cNvSpPr>
            <a:spLocks xmlns:a="http://schemas.openxmlformats.org/drawingml/2006/main" noGrp="1"/>
          </p:cNvSpPr>
          <p:nvPr/>
        </p:nvSpPr>
        <p:spPr>
          <a:xfrm xmlns:a="http://schemas.openxmlformats.org/drawingml/2006/main">
            <a:off x="1257300" y="2667000"/>
            <a:ext cx="32099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Approaching, reached, passed and upcoming stops.</a:t>
            </a:r>
          </a:p>
        </p:txBody>
      </p:sp>
      <p:sp>
        <p:nvSpPr>
          <p:cNvPr id="10" name="">
            <a:extLst xmlns:a="http://schemas.openxmlformats.org/drawingml/2006/main">
              <a:ext uri="{FF2B5EF4-FFF2-40B4-BE49-F238E27FC236}">
                <a16:creationId xmlns:a16="http://schemas.microsoft.com/office/drawing/2014/main" id="{8064D2CF-4159-4F3E-92E3-B645E84F5F0D}"/>
              </a:ext>
            </a:extLst>
          </p:cNvPr>
          <p:cNvSpPr>
            <a:spLocks xmlns:a="http://schemas.openxmlformats.org/drawingml/2006/main" noGrp="1"/>
          </p:cNvSpPr>
          <p:nvPr/>
        </p:nvSpPr>
        <p:spPr>
          <a:xfrm xmlns:a="http://schemas.openxmlformats.org/drawingml/2006/main">
            <a:off x="609600" y="3476625"/>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defRPr sz="1800" b="1">
                <a:solidFill>
                  <a:srgbClr val="3AD6FF"/>
                </a:solidFill>
                <a:latin typeface="Bahnschrift"/>
                <a:ea typeface="Bahnschrift"/>
                <a:cs typeface="Bahnschrift"/>
              </a:defRPr>
            </a:pPr>
            <a:r>
              <a:rPr sz="1800" b="1">
                <a:solidFill>
                  <a:srgbClr val="3AD6FF"/>
                </a:solidFill>
                <a:latin typeface="Bahnschrift"/>
                <a:ea typeface="Bahnschrift"/>
                <a:cs typeface="Bahnschrift"/>
              </a:rPr>
              <a:t>02</a:t>
            </a:r>
          </a:p>
        </p:txBody>
      </p:sp>
      <p:sp>
        <p:nvSpPr>
          <p:cNvPr id="11" name="">
            <a:extLst xmlns:a="http://schemas.openxmlformats.org/drawingml/2006/main">
              <a:ext uri="{FF2B5EF4-FFF2-40B4-BE49-F238E27FC236}">
                <a16:creationId xmlns:a16="http://schemas.microsoft.com/office/drawing/2014/main" id="{8B6EA664-F86E-4977-8F99-6D83AE5F31FB}"/>
              </a:ext>
            </a:extLst>
          </p:cNvPr>
          <p:cNvSpPr>
            <a:spLocks xmlns:a="http://schemas.openxmlformats.org/drawingml/2006/main" noGrp="1"/>
          </p:cNvSpPr>
          <p:nvPr/>
        </p:nvSpPr>
        <p:spPr>
          <a:xfrm xmlns:a="http://schemas.openxmlformats.org/drawingml/2006/main">
            <a:off x="1257300" y="3476625"/>
            <a:ext cx="3209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Journey direction</a:t>
            </a:r>
          </a:p>
        </p:txBody>
      </p:sp>
      <p:sp>
        <p:nvSpPr>
          <p:cNvPr id="12" name="">
            <a:extLst xmlns:a="http://schemas.openxmlformats.org/drawingml/2006/main">
              <a:ext uri="{FF2B5EF4-FFF2-40B4-BE49-F238E27FC236}">
                <a16:creationId xmlns:a16="http://schemas.microsoft.com/office/drawing/2014/main" id="{DCA9AFF7-4174-41BA-94D4-33349B95A9E4}"/>
              </a:ext>
            </a:extLst>
          </p:cNvPr>
          <p:cNvSpPr>
            <a:spLocks xmlns:a="http://schemas.openxmlformats.org/drawingml/2006/main" noGrp="1"/>
          </p:cNvSpPr>
          <p:nvPr/>
        </p:nvSpPr>
        <p:spPr>
          <a:xfrm xmlns:a="http://schemas.openxmlformats.org/drawingml/2006/main">
            <a:off x="1257300" y="3810000"/>
            <a:ext cx="32099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Outbound and return routes appear in the correct order.</a:t>
            </a:r>
          </a:p>
        </p:txBody>
      </p:sp>
      <p:sp>
        <p:nvSpPr>
          <p:cNvPr id="13" name="">
            <a:extLst xmlns:a="http://schemas.openxmlformats.org/drawingml/2006/main">
              <a:ext uri="{FF2B5EF4-FFF2-40B4-BE49-F238E27FC236}">
                <a16:creationId xmlns:a16="http://schemas.microsoft.com/office/drawing/2014/main" id="{E725F5EE-F78B-4094-A32E-9AD245340E9A}"/>
              </a:ext>
            </a:extLst>
          </p:cNvPr>
          <p:cNvSpPr>
            <a:spLocks xmlns:a="http://schemas.openxmlformats.org/drawingml/2006/main" noGrp="1"/>
          </p:cNvSpPr>
          <p:nvPr/>
        </p:nvSpPr>
        <p:spPr>
          <a:xfrm xmlns:a="http://schemas.openxmlformats.org/drawingml/2006/main">
            <a:off x="609600" y="4619625"/>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defRPr sz="1800" b="1">
                <a:solidFill>
                  <a:srgbClr val="3AD6FF"/>
                </a:solidFill>
                <a:latin typeface="Bahnschrift"/>
                <a:ea typeface="Bahnschrift"/>
                <a:cs typeface="Bahnschrift"/>
              </a:defRPr>
            </a:pPr>
            <a:r>
              <a:rPr sz="1800" b="1">
                <a:solidFill>
                  <a:srgbClr val="3AD6FF"/>
                </a:solidFill>
                <a:latin typeface="Bahnschrift"/>
                <a:ea typeface="Bahnschrift"/>
                <a:cs typeface="Bahnschrift"/>
              </a:rPr>
              <a:t>03</a:t>
            </a:r>
          </a:p>
        </p:txBody>
      </p:sp>
      <p:sp>
        <p:nvSpPr>
          <p:cNvPr id="14" name="">
            <a:extLst xmlns:a="http://schemas.openxmlformats.org/drawingml/2006/main">
              <a:ext uri="{FF2B5EF4-FFF2-40B4-BE49-F238E27FC236}">
                <a16:creationId xmlns:a16="http://schemas.microsoft.com/office/drawing/2014/main" id="{B0CF7FEC-01CA-4AC1-A716-0E52E79EE89F}"/>
              </a:ext>
            </a:extLst>
          </p:cNvPr>
          <p:cNvSpPr>
            <a:spLocks xmlns:a="http://schemas.openxmlformats.org/drawingml/2006/main" noGrp="1"/>
          </p:cNvSpPr>
          <p:nvPr/>
        </p:nvSpPr>
        <p:spPr>
          <a:xfrm xmlns:a="http://schemas.openxmlformats.org/drawingml/2006/main">
            <a:off x="1257300" y="4619625"/>
            <a:ext cx="3209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Location confidence</a:t>
            </a:r>
          </a:p>
        </p:txBody>
      </p:sp>
      <p:sp>
        <p:nvSpPr>
          <p:cNvPr id="15" name="">
            <a:extLst xmlns:a="http://schemas.openxmlformats.org/drawingml/2006/main">
              <a:ext uri="{FF2B5EF4-FFF2-40B4-BE49-F238E27FC236}">
                <a16:creationId xmlns:a16="http://schemas.microsoft.com/office/drawing/2014/main" id="{45C2FD12-4DA8-447A-A135-935E191F8801}"/>
              </a:ext>
            </a:extLst>
          </p:cNvPr>
          <p:cNvSpPr>
            <a:spLocks xmlns:a="http://schemas.openxmlformats.org/drawingml/2006/main" noGrp="1"/>
          </p:cNvSpPr>
          <p:nvPr/>
        </p:nvSpPr>
        <p:spPr>
          <a:xfrm xmlns:a="http://schemas.openxmlformats.org/drawingml/2006/main">
            <a:off x="1257300" y="4953000"/>
            <a:ext cx="32099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Last-update time and stale warnings prevent false certainty.</a:t>
            </a:r>
          </a:p>
        </p:txBody>
      </p:sp>
      <p:sp>
        <p:nvSpPr>
          <p:cNvPr id="16" name="">
            <a:extLst xmlns:a="http://schemas.openxmlformats.org/drawingml/2006/main">
              <a:ext uri="{FF2B5EF4-FFF2-40B4-BE49-F238E27FC236}">
                <a16:creationId xmlns:a16="http://schemas.microsoft.com/office/drawing/2014/main" id="{CDC52D3D-B4A7-43CD-8BEF-331D23922B50}"/>
              </a:ext>
            </a:extLst>
          </p:cNvPr>
          <p:cNvSpPr>
            <a:spLocks xmlns:a="http://schemas.openxmlformats.org/drawingml/2006/main" noGrp="1"/>
          </p:cNvSpPr>
          <p:nvPr/>
        </p:nvSpPr>
        <p:spPr>
          <a:xfrm xmlns:a="http://schemas.openxmlformats.org/drawingml/2006/main">
            <a:off x="4781550" y="1590675"/>
            <a:ext cx="6819900" cy="4391025"/>
          </a:xfrm>
          <a:prstGeom xmlns:a="http://schemas.openxmlformats.org/drawingml/2006/main" prst="roundRect">
            <a:avLst>
              <a:gd name="adj" fmla="val 1735"/>
            </a:avLst>
          </a:prstGeom>
          <a:solidFill xmlns:a="http://schemas.openxmlformats.org/drawingml/2006/main">
            <a:srgbClr val="12385F"/>
          </a:solidFill>
          <a:ln xmlns:a="http://schemas.openxmlformats.org/drawingml/2006/main" w="9525">
            <a:solidFill>
              <a:srgbClr val="3AD6FF"/>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21582cce84264658"/>
          <a:srcRect xmlns:a="http://schemas.openxmlformats.org/drawingml/2006/main" l="6370" t="0" r="6370" b="0"/>
          <a:stretch xmlns:a="http://schemas.openxmlformats.org/drawingml/2006/main">
            <a:fillRect l="0" t="0" r="0" b="0"/>
          </a:stretch>
        </p:blipFill>
        <p:spPr>
          <a:xfrm xmlns:a="http://schemas.openxmlformats.org/drawingml/2006/main">
            <a:off x="4810125" y="1619250"/>
            <a:ext cx="6762750" cy="4333875"/>
          </a:xfrm>
          <a:prstGeom xmlns:a="http://schemas.openxmlformats.org/drawingml/2006/main" prst="roundRect">
            <a:avLst>
              <a:gd name="adj" fmla="val 2637"/>
            </a:avLst>
          </a:prstGeom>
        </p:spPr>
      </p:pic>
    </p:spTree>
    <p:extLst>
      <p:ext uri="{BB962C8B-B14F-4D97-AF65-F5344CB8AC3E}">
        <p14:creationId xmlns:p14="http://schemas.microsoft.com/office/powerpoint/2010/main" val="421081572"/>
      </p:ext>
    </p:extLst>
  </p:cSld>
</p:sld>
</file>

<file path=ppt/slides/slide6.xml><?xml version="1.0" encoding="utf-8"?>
<p:sld xmlns:p="http://schemas.openxmlformats.org/presentationml/2006/main">
  <p:cSld>
    <p:bg>
      <p:bgPr>
        <a:solidFill xmlns:a="http://schemas.openxmlformats.org/drawingml/2006/main">
          <a:srgbClr val="06172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BA787A-8541-44B3-B2C5-E4A43C296FB3}"/>
              </a:ext>
            </a:extLst>
          </p:cNvPr>
          <p:cNvSpPr>
            <a:spLocks xmlns:a="http://schemas.openxmlformats.org/drawingml/2006/main" noGrp="1"/>
          </p:cNvSpPr>
          <p:nvPr/>
        </p:nvSpPr>
        <p:spPr>
          <a:xfrm xmlns:a="http://schemas.openxmlformats.org/drawingml/2006/main">
            <a:off x="609600" y="266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3AD6FF"/>
                </a:solidFill>
                <a:latin typeface="Bahnschrift"/>
                <a:ea typeface="Bahnschrift"/>
                <a:cs typeface="Bahnschrift"/>
              </a:defRPr>
            </a:pPr>
            <a:r>
              <a:rPr sz="1200" b="1">
                <a:solidFill>
                  <a:srgbClr val="3AD6FF"/>
                </a:solidFill>
                <a:latin typeface="Bahnschrift"/>
                <a:ea typeface="Bahnschrift"/>
                <a:cs typeface="Bahnschrift"/>
              </a:rPr>
              <a:t>06</a:t>
            </a:r>
          </a:p>
        </p:txBody>
      </p:sp>
      <p:sp>
        <p:nvSpPr>
          <p:cNvPr id="2" name="">
            <a:extLst xmlns:a="http://schemas.openxmlformats.org/drawingml/2006/main">
              <a:ext uri="{FF2B5EF4-FFF2-40B4-BE49-F238E27FC236}">
                <a16:creationId xmlns:a16="http://schemas.microsoft.com/office/drawing/2014/main" id="{9BB50BD2-4A19-41E9-8BD7-BE714D51FFFB}"/>
              </a:ext>
            </a:extLst>
          </p:cNvPr>
          <p:cNvSpPr>
            <a:spLocks xmlns:a="http://schemas.openxmlformats.org/drawingml/2006/main" noGrp="1"/>
          </p:cNvSpPr>
          <p:nvPr/>
        </p:nvSpPr>
        <p:spPr>
          <a:xfrm xmlns:a="http://schemas.openxmlformats.org/drawingml/2006/main">
            <a:off x="609600" y="5715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58"/>
          </a:bodyPr>
          <a:lstStyle xmlns:a="http://schemas.openxmlformats.org/drawingml/2006/main"/>
          <a:p xmlns:a="http://schemas.openxmlformats.org/drawingml/2006/main">
            <a:pPr>
              <a:defRPr sz="3450" b="1">
                <a:solidFill>
                  <a:srgbClr val="F5FAFF"/>
                </a:solidFill>
                <a:latin typeface="Bahnschrift"/>
                <a:ea typeface="Bahnschrift"/>
                <a:cs typeface="Bahnschrift"/>
              </a:defRPr>
            </a:pPr>
            <a:r>
              <a:rPr sz="3450" b="1">
                <a:solidFill>
                  <a:srgbClr val="F5FAFF"/>
                </a:solidFill>
                <a:latin typeface="Bahnschrift"/>
                <a:ea typeface="Bahnschrift"/>
                <a:cs typeface="Bahnschrift"/>
              </a:rPr>
              <a:t>Transport administration</a:t>
            </a:r>
          </a:p>
        </p:txBody>
      </p:sp>
      <p:sp>
        <p:nvSpPr>
          <p:cNvPr id="3" name="">
            <a:extLst xmlns:a="http://schemas.openxmlformats.org/drawingml/2006/main">
              <a:ext uri="{FF2B5EF4-FFF2-40B4-BE49-F238E27FC236}">
                <a16:creationId xmlns:a16="http://schemas.microsoft.com/office/drawing/2014/main" id="{1C42DFD6-F42D-47B5-A3DF-0CD2FF0F3CEC}"/>
              </a:ext>
            </a:extLst>
          </p:cNvPr>
          <p:cNvSpPr>
            <a:spLocks xmlns:a="http://schemas.openxmlformats.org/drawingml/2006/main" noGrp="1"/>
          </p:cNvSpPr>
          <p:nvPr/>
        </p:nvSpPr>
        <p:spPr>
          <a:xfrm xmlns:a="http://schemas.openxmlformats.org/drawingml/2006/main">
            <a:off x="609600" y="1209675"/>
            <a:ext cx="819150" cy="38100"/>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1DD8A9-8B8A-4933-BBD9-D1445C398323}"/>
              </a:ext>
            </a:extLst>
          </p:cNvPr>
          <p:cNvSpPr>
            <a:spLocks xmlns:a="http://schemas.openxmlformats.org/drawingml/2006/main" noGrp="1"/>
          </p:cNvSpPr>
          <p:nvPr/>
        </p:nvSpPr>
        <p:spPr>
          <a:xfrm xmlns:a="http://schemas.openxmlformats.org/drawingml/2006/main">
            <a:off x="1666875" y="1104900"/>
            <a:ext cx="919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One place to manage the fleet and review completed journeys</a:t>
            </a:r>
          </a:p>
        </p:txBody>
      </p:sp>
      <p:sp>
        <p:nvSpPr>
          <p:cNvPr id="5" name="">
            <a:extLst xmlns:a="http://schemas.openxmlformats.org/drawingml/2006/main">
              <a:ext uri="{FF2B5EF4-FFF2-40B4-BE49-F238E27FC236}">
                <a16:creationId xmlns:a16="http://schemas.microsoft.com/office/drawing/2014/main" id="{07B55715-11D1-4317-A104-86FCF9E35D65}"/>
              </a:ext>
            </a:extLst>
          </p:cNvPr>
          <p:cNvSpPr>
            <a:spLocks xmlns:a="http://schemas.openxmlformats.org/drawingml/2006/main" noGrp="1"/>
          </p:cNvSpPr>
          <p:nvPr/>
        </p:nvSpPr>
        <p:spPr>
          <a:xfrm xmlns:a="http://schemas.openxmlformats.org/drawingml/2006/main">
            <a:off x="11334750" y="64389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0000"/>
          </a:bodyPr>
          <a:lstStyle xmlns:a="http://schemas.openxmlformats.org/drawingml/2006/main"/>
          <a:p xmlns:a="http://schemas.openxmlformats.org/drawingml/2006/main">
            <a:pPr>
              <a:defRPr sz="1050" b="0">
                <a:solidFill>
                  <a:srgbClr val="6E8AA0"/>
                </a:solidFill>
                <a:latin typeface="Segoe UI"/>
                <a:ea typeface="Segoe UI"/>
                <a:cs typeface="Segoe UI"/>
              </a:defRPr>
            </a:pPr>
            <a:r>
              <a:rPr sz="1050" b="0">
                <a:solidFill>
                  <a:srgbClr val="6E8AA0"/>
                </a:solidFill>
                <a:latin typeface="Segoe UI"/>
                <a:ea typeface="Segoe UI"/>
                <a:cs typeface="Segoe UI"/>
              </a:rPr>
              <a:t>6</a:t>
            </a:r>
          </a:p>
        </p:txBody>
      </p:sp>
      <p:sp>
        <p:nvSpPr>
          <p:cNvPr id="6" name="">
            <a:extLst xmlns:a="http://schemas.openxmlformats.org/drawingml/2006/main">
              <a:ext uri="{FF2B5EF4-FFF2-40B4-BE49-F238E27FC236}">
                <a16:creationId xmlns:a16="http://schemas.microsoft.com/office/drawing/2014/main" id="{091FE639-2242-4374-BEE5-99637F50D3BB}"/>
              </a:ext>
            </a:extLst>
          </p:cNvPr>
          <p:cNvSpPr>
            <a:spLocks xmlns:a="http://schemas.openxmlformats.org/drawingml/2006/main" noGrp="1"/>
          </p:cNvSpPr>
          <p:nvPr/>
        </p:nvSpPr>
        <p:spPr>
          <a:xfrm xmlns:a="http://schemas.openxmlformats.org/drawingml/2006/main">
            <a:off x="581025" y="1590675"/>
            <a:ext cx="7010400" cy="4057650"/>
          </a:xfrm>
          <a:prstGeom xmlns:a="http://schemas.openxmlformats.org/drawingml/2006/main" prst="roundRect">
            <a:avLst>
              <a:gd name="adj" fmla="val 1878"/>
            </a:avLst>
          </a:prstGeom>
          <a:solidFill xmlns:a="http://schemas.openxmlformats.org/drawingml/2006/main">
            <a:srgbClr val="12385F"/>
          </a:solidFill>
          <a:ln xmlns:a="http://schemas.openxmlformats.org/drawingml/2006/main" w="9525">
            <a:solidFill>
              <a:srgbClr val="3AD6FF"/>
            </a:solid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e90b1c9e9f94a46"/>
          <a:srcRect xmlns:a="http://schemas.openxmlformats.org/drawingml/2006/main" l="4169" t="0" r="4169" b="0"/>
          <a:stretch xmlns:a="http://schemas.openxmlformats.org/drawingml/2006/main">
            <a:fillRect l="0" t="0" r="0" b="0"/>
          </a:stretch>
        </p:blipFill>
        <p:spPr>
          <a:xfrm xmlns:a="http://schemas.openxmlformats.org/drawingml/2006/main">
            <a:off x="609600" y="1619250"/>
            <a:ext cx="6953250" cy="4000500"/>
          </a:xfrm>
          <a:prstGeom xmlns:a="http://schemas.openxmlformats.org/drawingml/2006/main" prst="roundRect">
            <a:avLst>
              <a:gd name="adj" fmla="val 2857"/>
            </a:avLst>
          </a:prstGeom>
        </p:spPr>
      </p:pic>
      <p:sp>
        <p:nvSpPr>
          <p:cNvPr id="8" name="">
            <a:extLst xmlns:a="http://schemas.openxmlformats.org/drawingml/2006/main">
              <a:ext uri="{FF2B5EF4-FFF2-40B4-BE49-F238E27FC236}">
                <a16:creationId xmlns:a16="http://schemas.microsoft.com/office/drawing/2014/main" id="{CE7960CD-DB1C-42A5-B87B-073E9C85EC05}"/>
              </a:ext>
            </a:extLst>
          </p:cNvPr>
          <p:cNvSpPr>
            <a:spLocks xmlns:a="http://schemas.openxmlformats.org/drawingml/2006/main" noGrp="1"/>
          </p:cNvSpPr>
          <p:nvPr/>
        </p:nvSpPr>
        <p:spPr>
          <a:xfrm xmlns:a="http://schemas.openxmlformats.org/drawingml/2006/main">
            <a:off x="8048625" y="17145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524"/>
          </a:bodyPr>
          <a:lstStyle xmlns:a="http://schemas.openxmlformats.org/drawingml/2006/main"/>
          <a:p xmlns:a="http://schemas.openxmlformats.org/drawingml/2006/main">
            <a:pPr>
              <a:defRPr sz="2100" b="1">
                <a:solidFill>
                  <a:srgbClr val="3AD6FF"/>
                </a:solidFill>
                <a:latin typeface="Bahnschrift"/>
                <a:ea typeface="Bahnschrift"/>
                <a:cs typeface="Bahnschrift"/>
              </a:defRPr>
            </a:pPr>
            <a:r>
              <a:rPr sz="2100" b="1">
                <a:solidFill>
                  <a:srgbClr val="3AD6FF"/>
                </a:solidFill>
                <a:latin typeface="Bahnschrift"/>
                <a:ea typeface="Bahnschrift"/>
                <a:cs typeface="Bahnschrift"/>
              </a:rPr>
              <a:t>Operational control</a:t>
            </a:r>
          </a:p>
        </p:txBody>
      </p:sp>
      <p:sp>
        <p:nvSpPr>
          <p:cNvPr id="9" name="">
            <a:extLst xmlns:a="http://schemas.openxmlformats.org/drawingml/2006/main">
              <a:ext uri="{FF2B5EF4-FFF2-40B4-BE49-F238E27FC236}">
                <a16:creationId xmlns:a16="http://schemas.microsoft.com/office/drawing/2014/main" id="{E355BAAE-C173-4441-9A76-C7A3CB2B8B45}"/>
              </a:ext>
            </a:extLst>
          </p:cNvPr>
          <p:cNvSpPr>
            <a:spLocks xmlns:a="http://schemas.openxmlformats.org/drawingml/2006/main" noGrp="1"/>
          </p:cNvSpPr>
          <p:nvPr/>
        </p:nvSpPr>
        <p:spPr>
          <a:xfrm xmlns:a="http://schemas.openxmlformats.org/drawingml/2006/main">
            <a:off x="8048625" y="2333625"/>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defRPr sz="1800" b="1">
                <a:solidFill>
                  <a:srgbClr val="3AD6FF"/>
                </a:solidFill>
                <a:latin typeface="Bahnschrift"/>
                <a:ea typeface="Bahnschrift"/>
                <a:cs typeface="Bahnschrift"/>
              </a:defRPr>
            </a:pPr>
            <a:r>
              <a:rPr sz="1800" b="1">
                <a:solidFill>
                  <a:srgbClr val="3AD6FF"/>
                </a:solidFill>
                <a:latin typeface="Bahnschrift"/>
                <a:ea typeface="Bahnschrift"/>
                <a:cs typeface="Bahnschrift"/>
              </a:rPr>
              <a:t>01</a:t>
            </a:r>
          </a:p>
        </p:txBody>
      </p:sp>
      <p:sp>
        <p:nvSpPr>
          <p:cNvPr id="10" name="">
            <a:extLst xmlns:a="http://schemas.openxmlformats.org/drawingml/2006/main">
              <a:ext uri="{FF2B5EF4-FFF2-40B4-BE49-F238E27FC236}">
                <a16:creationId xmlns:a16="http://schemas.microsoft.com/office/drawing/2014/main" id="{7A7C8A9B-4A5C-4AB4-BE21-FA9241ABD14A}"/>
              </a:ext>
            </a:extLst>
          </p:cNvPr>
          <p:cNvSpPr>
            <a:spLocks xmlns:a="http://schemas.openxmlformats.org/drawingml/2006/main" noGrp="1"/>
          </p:cNvSpPr>
          <p:nvPr/>
        </p:nvSpPr>
        <p:spPr>
          <a:xfrm xmlns:a="http://schemas.openxmlformats.org/drawingml/2006/main">
            <a:off x="8696325" y="2333625"/>
            <a:ext cx="2733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Manage the network</a:t>
            </a:r>
          </a:p>
        </p:txBody>
      </p:sp>
      <p:sp>
        <p:nvSpPr>
          <p:cNvPr id="11" name="">
            <a:extLst xmlns:a="http://schemas.openxmlformats.org/drawingml/2006/main">
              <a:ext uri="{FF2B5EF4-FFF2-40B4-BE49-F238E27FC236}">
                <a16:creationId xmlns:a16="http://schemas.microsoft.com/office/drawing/2014/main" id="{7D0B074B-9EF1-4F95-AC9C-5127B49C1B30}"/>
              </a:ext>
            </a:extLst>
          </p:cNvPr>
          <p:cNvSpPr>
            <a:spLocks xmlns:a="http://schemas.openxmlformats.org/drawingml/2006/main" noGrp="1"/>
          </p:cNvSpPr>
          <p:nvPr/>
        </p:nvSpPr>
        <p:spPr>
          <a:xfrm xmlns:a="http://schemas.openxmlformats.org/drawingml/2006/main">
            <a:off x="8696325" y="2667000"/>
            <a:ext cx="2733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Buses, routes, stops, drivers, students and assignments.</a:t>
            </a:r>
          </a:p>
        </p:txBody>
      </p:sp>
      <p:sp>
        <p:nvSpPr>
          <p:cNvPr id="12" name="">
            <a:extLst xmlns:a="http://schemas.openxmlformats.org/drawingml/2006/main">
              <a:ext uri="{FF2B5EF4-FFF2-40B4-BE49-F238E27FC236}">
                <a16:creationId xmlns:a16="http://schemas.microsoft.com/office/drawing/2014/main" id="{24F0DA3E-32D0-4C28-9FAE-2AAF6F5F954C}"/>
              </a:ext>
            </a:extLst>
          </p:cNvPr>
          <p:cNvSpPr>
            <a:spLocks xmlns:a="http://schemas.openxmlformats.org/drawingml/2006/main" noGrp="1"/>
          </p:cNvSpPr>
          <p:nvPr/>
        </p:nvSpPr>
        <p:spPr>
          <a:xfrm xmlns:a="http://schemas.openxmlformats.org/drawingml/2006/main">
            <a:off x="8048625" y="3476625"/>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defRPr sz="1800" b="1">
                <a:solidFill>
                  <a:srgbClr val="3AD6FF"/>
                </a:solidFill>
                <a:latin typeface="Bahnschrift"/>
                <a:ea typeface="Bahnschrift"/>
                <a:cs typeface="Bahnschrift"/>
              </a:defRPr>
            </a:pPr>
            <a:r>
              <a:rPr sz="1800" b="1">
                <a:solidFill>
                  <a:srgbClr val="3AD6FF"/>
                </a:solidFill>
                <a:latin typeface="Bahnschrift"/>
                <a:ea typeface="Bahnschrift"/>
                <a:cs typeface="Bahnschrift"/>
              </a:rPr>
              <a:t>02</a:t>
            </a:r>
          </a:p>
        </p:txBody>
      </p:sp>
      <p:sp>
        <p:nvSpPr>
          <p:cNvPr id="13" name="">
            <a:extLst xmlns:a="http://schemas.openxmlformats.org/drawingml/2006/main">
              <a:ext uri="{FF2B5EF4-FFF2-40B4-BE49-F238E27FC236}">
                <a16:creationId xmlns:a16="http://schemas.microsoft.com/office/drawing/2014/main" id="{F636808A-D64F-4A1E-80C5-081134132BC5}"/>
              </a:ext>
            </a:extLst>
          </p:cNvPr>
          <p:cNvSpPr>
            <a:spLocks xmlns:a="http://schemas.openxmlformats.org/drawingml/2006/main" noGrp="1"/>
          </p:cNvSpPr>
          <p:nvPr/>
        </p:nvSpPr>
        <p:spPr>
          <a:xfrm xmlns:a="http://schemas.openxmlformats.org/drawingml/2006/main">
            <a:off x="8696325" y="3476625"/>
            <a:ext cx="2733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Review evidence</a:t>
            </a:r>
          </a:p>
        </p:txBody>
      </p:sp>
      <p:sp>
        <p:nvSpPr>
          <p:cNvPr id="14" name="">
            <a:extLst xmlns:a="http://schemas.openxmlformats.org/drawingml/2006/main">
              <a:ext uri="{FF2B5EF4-FFF2-40B4-BE49-F238E27FC236}">
                <a16:creationId xmlns:a16="http://schemas.microsoft.com/office/drawing/2014/main" id="{1A399D6F-1255-45FB-855D-5E79B91849B9}"/>
              </a:ext>
            </a:extLst>
          </p:cNvPr>
          <p:cNvSpPr>
            <a:spLocks xmlns:a="http://schemas.openxmlformats.org/drawingml/2006/main" noGrp="1"/>
          </p:cNvSpPr>
          <p:nvPr/>
        </p:nvSpPr>
        <p:spPr>
          <a:xfrm xmlns:a="http://schemas.openxmlformats.org/drawingml/2006/main">
            <a:off x="8696325" y="3810000"/>
            <a:ext cx="2733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Stop arrival, departure, dwell time and journey direction.</a:t>
            </a:r>
          </a:p>
        </p:txBody>
      </p:sp>
      <p:sp>
        <p:nvSpPr>
          <p:cNvPr id="15" name="">
            <a:extLst xmlns:a="http://schemas.openxmlformats.org/drawingml/2006/main">
              <a:ext uri="{FF2B5EF4-FFF2-40B4-BE49-F238E27FC236}">
                <a16:creationId xmlns:a16="http://schemas.microsoft.com/office/drawing/2014/main" id="{5F2FF689-4A0C-47FA-87BD-E63A0903AA3D}"/>
              </a:ext>
            </a:extLst>
          </p:cNvPr>
          <p:cNvSpPr>
            <a:spLocks xmlns:a="http://schemas.openxmlformats.org/drawingml/2006/main" noGrp="1"/>
          </p:cNvSpPr>
          <p:nvPr/>
        </p:nvSpPr>
        <p:spPr>
          <a:xfrm xmlns:a="http://schemas.openxmlformats.org/drawingml/2006/main">
            <a:off x="8048625" y="4619625"/>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defRPr sz="1800" b="1">
                <a:solidFill>
                  <a:srgbClr val="3AD6FF"/>
                </a:solidFill>
                <a:latin typeface="Bahnschrift"/>
                <a:ea typeface="Bahnschrift"/>
                <a:cs typeface="Bahnschrift"/>
              </a:defRPr>
            </a:pPr>
            <a:r>
              <a:rPr sz="1800" b="1">
                <a:solidFill>
                  <a:srgbClr val="3AD6FF"/>
                </a:solidFill>
                <a:latin typeface="Bahnschrift"/>
                <a:ea typeface="Bahnschrift"/>
                <a:cs typeface="Bahnschrift"/>
              </a:rPr>
              <a:t>03</a:t>
            </a:r>
          </a:p>
        </p:txBody>
      </p:sp>
      <p:sp>
        <p:nvSpPr>
          <p:cNvPr id="16" name="">
            <a:extLst xmlns:a="http://schemas.openxmlformats.org/drawingml/2006/main">
              <a:ext uri="{FF2B5EF4-FFF2-40B4-BE49-F238E27FC236}">
                <a16:creationId xmlns:a16="http://schemas.microsoft.com/office/drawing/2014/main" id="{B4A4D383-2171-4B13-A6B3-FB4364EAF84D}"/>
              </a:ext>
            </a:extLst>
          </p:cNvPr>
          <p:cNvSpPr>
            <a:spLocks xmlns:a="http://schemas.openxmlformats.org/drawingml/2006/main" noGrp="1"/>
          </p:cNvSpPr>
          <p:nvPr/>
        </p:nvSpPr>
        <p:spPr>
          <a:xfrm xmlns:a="http://schemas.openxmlformats.org/drawingml/2006/main">
            <a:off x="8696325" y="4619625"/>
            <a:ext cx="2733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Act on issues</a:t>
            </a:r>
          </a:p>
        </p:txBody>
      </p:sp>
      <p:sp>
        <p:nvSpPr>
          <p:cNvPr id="17" name="">
            <a:extLst xmlns:a="http://schemas.openxmlformats.org/drawingml/2006/main">
              <a:ext uri="{FF2B5EF4-FFF2-40B4-BE49-F238E27FC236}">
                <a16:creationId xmlns:a16="http://schemas.microsoft.com/office/drawing/2014/main" id="{F430668E-2190-4C37-8494-131AB1FBC12C}"/>
              </a:ext>
            </a:extLst>
          </p:cNvPr>
          <p:cNvSpPr>
            <a:spLocks xmlns:a="http://schemas.openxmlformats.org/drawingml/2006/main" noGrp="1"/>
          </p:cNvSpPr>
          <p:nvPr/>
        </p:nvSpPr>
        <p:spPr>
          <a:xfrm xmlns:a="http://schemas.openxmlformats.org/drawingml/2006/main">
            <a:off x="8696325" y="4953000"/>
            <a:ext cx="2733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66"/>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Driver alerts, document reminders, users and active sessions.</a:t>
            </a:r>
          </a:p>
        </p:txBody>
      </p:sp>
    </p:spTree>
    <p:extLst>
      <p:ext uri="{BB962C8B-B14F-4D97-AF65-F5344CB8AC3E}">
        <p14:creationId xmlns:p14="http://schemas.microsoft.com/office/powerpoint/2010/main" val="1427196719"/>
      </p:ext>
    </p:extLst>
  </p:cSld>
</p:sld>
</file>

<file path=ppt/slides/slide7.xml><?xml version="1.0" encoding="utf-8"?>
<p:sld xmlns:p="http://schemas.openxmlformats.org/presentationml/2006/main">
  <p:cSld>
    <p:bg>
      <p:bgPr>
        <a:solidFill xmlns:a="http://schemas.openxmlformats.org/drawingml/2006/main">
          <a:srgbClr val="06172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8E6B254-2C16-4906-87A9-1B28E942B644}"/>
              </a:ext>
            </a:extLst>
          </p:cNvPr>
          <p:cNvSpPr>
            <a:spLocks xmlns:a="http://schemas.openxmlformats.org/drawingml/2006/main" noGrp="1"/>
          </p:cNvSpPr>
          <p:nvPr/>
        </p:nvSpPr>
        <p:spPr>
          <a:xfrm xmlns:a="http://schemas.openxmlformats.org/drawingml/2006/main">
            <a:off x="609600" y="266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3AD6FF"/>
                </a:solidFill>
                <a:latin typeface="Bahnschrift"/>
                <a:ea typeface="Bahnschrift"/>
                <a:cs typeface="Bahnschrift"/>
              </a:defRPr>
            </a:pPr>
            <a:r>
              <a:rPr sz="1200" b="1">
                <a:solidFill>
                  <a:srgbClr val="3AD6FF"/>
                </a:solidFill>
                <a:latin typeface="Bahnschrift"/>
                <a:ea typeface="Bahnschrift"/>
                <a:cs typeface="Bahnschrift"/>
              </a:rPr>
              <a:t>07</a:t>
            </a:r>
          </a:p>
        </p:txBody>
      </p:sp>
      <p:sp>
        <p:nvSpPr>
          <p:cNvPr id="2" name="">
            <a:extLst xmlns:a="http://schemas.openxmlformats.org/drawingml/2006/main">
              <a:ext uri="{FF2B5EF4-FFF2-40B4-BE49-F238E27FC236}">
                <a16:creationId xmlns:a16="http://schemas.microsoft.com/office/drawing/2014/main" id="{08430931-5A82-4114-B2DE-E27FE4BEB2C6}"/>
              </a:ext>
            </a:extLst>
          </p:cNvPr>
          <p:cNvSpPr>
            <a:spLocks xmlns:a="http://schemas.openxmlformats.org/drawingml/2006/main" noGrp="1"/>
          </p:cNvSpPr>
          <p:nvPr/>
        </p:nvSpPr>
        <p:spPr>
          <a:xfrm xmlns:a="http://schemas.openxmlformats.org/drawingml/2006/main">
            <a:off x="609600" y="5715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58"/>
          </a:bodyPr>
          <a:lstStyle xmlns:a="http://schemas.openxmlformats.org/drawingml/2006/main"/>
          <a:p xmlns:a="http://schemas.openxmlformats.org/drawingml/2006/main">
            <a:pPr>
              <a:defRPr sz="3450" b="1">
                <a:solidFill>
                  <a:srgbClr val="F5FAFF"/>
                </a:solidFill>
                <a:latin typeface="Bahnschrift"/>
                <a:ea typeface="Bahnschrift"/>
                <a:cs typeface="Bahnschrift"/>
              </a:defRPr>
            </a:pPr>
            <a:r>
              <a:rPr sz="3450" b="1">
                <a:solidFill>
                  <a:srgbClr val="F5FAFF"/>
                </a:solidFill>
                <a:latin typeface="Bahnschrift"/>
                <a:ea typeface="Bahnschrift"/>
                <a:cs typeface="Bahnschrift"/>
              </a:rPr>
              <a:t>Driver tools and secure bus passes</a:t>
            </a:r>
          </a:p>
        </p:txBody>
      </p:sp>
      <p:sp>
        <p:nvSpPr>
          <p:cNvPr id="3" name="">
            <a:extLst xmlns:a="http://schemas.openxmlformats.org/drawingml/2006/main">
              <a:ext uri="{FF2B5EF4-FFF2-40B4-BE49-F238E27FC236}">
                <a16:creationId xmlns:a16="http://schemas.microsoft.com/office/drawing/2014/main" id="{010FF73D-2583-4FF0-AC0B-32874E0A9AD1}"/>
              </a:ext>
            </a:extLst>
          </p:cNvPr>
          <p:cNvSpPr>
            <a:spLocks xmlns:a="http://schemas.openxmlformats.org/drawingml/2006/main" noGrp="1"/>
          </p:cNvSpPr>
          <p:nvPr/>
        </p:nvSpPr>
        <p:spPr>
          <a:xfrm xmlns:a="http://schemas.openxmlformats.org/drawingml/2006/main">
            <a:off x="609600" y="1209675"/>
            <a:ext cx="819150" cy="38100"/>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25A61A-30BC-4E04-9772-48522773B466}"/>
              </a:ext>
            </a:extLst>
          </p:cNvPr>
          <p:cNvSpPr>
            <a:spLocks xmlns:a="http://schemas.openxmlformats.org/drawingml/2006/main" noGrp="1"/>
          </p:cNvSpPr>
          <p:nvPr/>
        </p:nvSpPr>
        <p:spPr>
          <a:xfrm xmlns:a="http://schemas.openxmlformats.org/drawingml/2006/main">
            <a:off x="1666875" y="1104900"/>
            <a:ext cx="919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Journey controls and boarding verification on a mobile screen</a:t>
            </a:r>
          </a:p>
        </p:txBody>
      </p:sp>
      <p:sp>
        <p:nvSpPr>
          <p:cNvPr id="5" name="">
            <a:extLst xmlns:a="http://schemas.openxmlformats.org/drawingml/2006/main">
              <a:ext uri="{FF2B5EF4-FFF2-40B4-BE49-F238E27FC236}">
                <a16:creationId xmlns:a16="http://schemas.microsoft.com/office/drawing/2014/main" id="{12210A75-5959-4955-A441-E1E711393850}"/>
              </a:ext>
            </a:extLst>
          </p:cNvPr>
          <p:cNvSpPr>
            <a:spLocks xmlns:a="http://schemas.openxmlformats.org/drawingml/2006/main" noGrp="1"/>
          </p:cNvSpPr>
          <p:nvPr/>
        </p:nvSpPr>
        <p:spPr>
          <a:xfrm xmlns:a="http://schemas.openxmlformats.org/drawingml/2006/main">
            <a:off x="11334750" y="64389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0000"/>
          </a:bodyPr>
          <a:lstStyle xmlns:a="http://schemas.openxmlformats.org/drawingml/2006/main"/>
          <a:p xmlns:a="http://schemas.openxmlformats.org/drawingml/2006/main">
            <a:pPr>
              <a:defRPr sz="1050" b="0">
                <a:solidFill>
                  <a:srgbClr val="6E8AA0"/>
                </a:solidFill>
                <a:latin typeface="Segoe UI"/>
                <a:ea typeface="Segoe UI"/>
                <a:cs typeface="Segoe UI"/>
              </a:defRPr>
            </a:pPr>
            <a:r>
              <a:rPr sz="1050" b="0">
                <a:solidFill>
                  <a:srgbClr val="6E8AA0"/>
                </a:solidFill>
                <a:latin typeface="Segoe UI"/>
                <a:ea typeface="Segoe UI"/>
                <a:cs typeface="Segoe UI"/>
              </a:rPr>
              <a:t>7</a:t>
            </a:r>
          </a:p>
        </p:txBody>
      </p:sp>
      <p:sp>
        <p:nvSpPr>
          <p:cNvPr id="6" name="">
            <a:extLst xmlns:a="http://schemas.openxmlformats.org/drawingml/2006/main">
              <a:ext uri="{FF2B5EF4-FFF2-40B4-BE49-F238E27FC236}">
                <a16:creationId xmlns:a16="http://schemas.microsoft.com/office/drawing/2014/main" id="{E4B9A0DC-66CC-43F0-927F-7F3AB0025F4A}"/>
              </a:ext>
            </a:extLst>
          </p:cNvPr>
          <p:cNvSpPr>
            <a:spLocks xmlns:a="http://schemas.openxmlformats.org/drawingml/2006/main" noGrp="1"/>
          </p:cNvSpPr>
          <p:nvPr/>
        </p:nvSpPr>
        <p:spPr>
          <a:xfrm xmlns:a="http://schemas.openxmlformats.org/drawingml/2006/main">
            <a:off x="609600" y="1714500"/>
            <a:ext cx="338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524"/>
          </a:bodyPr>
          <a:lstStyle xmlns:a="http://schemas.openxmlformats.org/drawingml/2006/main"/>
          <a:p xmlns:a="http://schemas.openxmlformats.org/drawingml/2006/main">
            <a:pPr>
              <a:defRPr sz="2100" b="1">
                <a:solidFill>
                  <a:srgbClr val="3AD6FF"/>
                </a:solidFill>
                <a:latin typeface="Bahnschrift"/>
                <a:ea typeface="Bahnschrift"/>
                <a:cs typeface="Bahnschrift"/>
              </a:defRPr>
            </a:pPr>
            <a:r>
              <a:rPr sz="2100" b="1">
                <a:solidFill>
                  <a:srgbClr val="3AD6FF"/>
                </a:solidFill>
                <a:latin typeface="Bahnschrift"/>
                <a:ea typeface="Bahnschrift"/>
                <a:cs typeface="Bahnschrift"/>
              </a:rPr>
              <a:t>Driver portal</a:t>
            </a:r>
          </a:p>
        </p:txBody>
      </p:sp>
      <p:sp>
        <p:nvSpPr>
          <p:cNvPr id="7" name="">
            <a:extLst xmlns:a="http://schemas.openxmlformats.org/drawingml/2006/main">
              <a:ext uri="{FF2B5EF4-FFF2-40B4-BE49-F238E27FC236}">
                <a16:creationId xmlns:a16="http://schemas.microsoft.com/office/drawing/2014/main" id="{3F8DFB9F-1649-4FBE-A60D-8737C3C18D8A}"/>
              </a:ext>
            </a:extLst>
          </p:cNvPr>
          <p:cNvSpPr>
            <a:spLocks xmlns:a="http://schemas.openxmlformats.org/drawingml/2006/main" noGrp="1"/>
          </p:cNvSpPr>
          <p:nvPr/>
        </p:nvSpPr>
        <p:spPr>
          <a:xfrm xmlns:a="http://schemas.openxmlformats.org/drawingml/2006/main">
            <a:off x="609600" y="2333625"/>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defRPr sz="1800" b="1">
                <a:solidFill>
                  <a:srgbClr val="3AD6FF"/>
                </a:solidFill>
                <a:latin typeface="Bahnschrift"/>
                <a:ea typeface="Bahnschrift"/>
                <a:cs typeface="Bahnschrift"/>
              </a:defRPr>
            </a:pPr>
            <a:r>
              <a:rPr sz="1800" b="1">
                <a:solidFill>
                  <a:srgbClr val="3AD6FF"/>
                </a:solidFill>
                <a:latin typeface="Bahnschrift"/>
                <a:ea typeface="Bahnschrift"/>
                <a:cs typeface="Bahnschrift"/>
              </a:rPr>
              <a:t>01</a:t>
            </a:r>
          </a:p>
        </p:txBody>
      </p:sp>
      <p:sp>
        <p:nvSpPr>
          <p:cNvPr id="8" name="">
            <a:extLst xmlns:a="http://schemas.openxmlformats.org/drawingml/2006/main">
              <a:ext uri="{FF2B5EF4-FFF2-40B4-BE49-F238E27FC236}">
                <a16:creationId xmlns:a16="http://schemas.microsoft.com/office/drawing/2014/main" id="{4F797C53-0942-4369-97CA-F69D1692996A}"/>
              </a:ext>
            </a:extLst>
          </p:cNvPr>
          <p:cNvSpPr>
            <a:spLocks xmlns:a="http://schemas.openxmlformats.org/drawingml/2006/main" noGrp="1"/>
          </p:cNvSpPr>
          <p:nvPr/>
        </p:nvSpPr>
        <p:spPr>
          <a:xfrm xmlns:a="http://schemas.openxmlformats.org/drawingml/2006/main">
            <a:off x="1257300" y="23336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Assigned journey</a:t>
            </a:r>
          </a:p>
        </p:txBody>
      </p:sp>
      <p:sp>
        <p:nvSpPr>
          <p:cNvPr id="9" name="">
            <a:extLst xmlns:a="http://schemas.openxmlformats.org/drawingml/2006/main">
              <a:ext uri="{FF2B5EF4-FFF2-40B4-BE49-F238E27FC236}">
                <a16:creationId xmlns:a16="http://schemas.microsoft.com/office/drawing/2014/main" id="{6A7763CC-0725-4748-9647-13A407549436}"/>
              </a:ext>
            </a:extLst>
          </p:cNvPr>
          <p:cNvSpPr>
            <a:spLocks xmlns:a="http://schemas.openxmlformats.org/drawingml/2006/main" noGrp="1"/>
          </p:cNvSpPr>
          <p:nvPr/>
        </p:nvSpPr>
        <p:spPr>
          <a:xfrm xmlns:a="http://schemas.openxmlformats.org/drawingml/2006/main">
            <a:off x="1257300" y="2667000"/>
            <a:ext cx="3257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The driver sees the assigned bus, route and live direction.</a:t>
            </a:r>
          </a:p>
        </p:txBody>
      </p:sp>
      <p:sp>
        <p:nvSpPr>
          <p:cNvPr id="10" name="">
            <a:extLst xmlns:a="http://schemas.openxmlformats.org/drawingml/2006/main">
              <a:ext uri="{FF2B5EF4-FFF2-40B4-BE49-F238E27FC236}">
                <a16:creationId xmlns:a16="http://schemas.microsoft.com/office/drawing/2014/main" id="{F784D1CD-477A-4296-B5F6-75D3BBF60237}"/>
              </a:ext>
            </a:extLst>
          </p:cNvPr>
          <p:cNvSpPr>
            <a:spLocks xmlns:a="http://schemas.openxmlformats.org/drawingml/2006/main" noGrp="1"/>
          </p:cNvSpPr>
          <p:nvPr/>
        </p:nvSpPr>
        <p:spPr>
          <a:xfrm xmlns:a="http://schemas.openxmlformats.org/drawingml/2006/main">
            <a:off x="609600" y="3476625"/>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defRPr sz="1800" b="1">
                <a:solidFill>
                  <a:srgbClr val="3AD6FF"/>
                </a:solidFill>
                <a:latin typeface="Bahnschrift"/>
                <a:ea typeface="Bahnschrift"/>
                <a:cs typeface="Bahnschrift"/>
              </a:defRPr>
            </a:pPr>
            <a:r>
              <a:rPr sz="1800" b="1">
                <a:solidFill>
                  <a:srgbClr val="3AD6FF"/>
                </a:solidFill>
                <a:latin typeface="Bahnschrift"/>
                <a:ea typeface="Bahnschrift"/>
                <a:cs typeface="Bahnschrift"/>
              </a:rPr>
              <a:t>02</a:t>
            </a:r>
          </a:p>
        </p:txBody>
      </p:sp>
      <p:sp>
        <p:nvSpPr>
          <p:cNvPr id="11" name="">
            <a:extLst xmlns:a="http://schemas.openxmlformats.org/drawingml/2006/main">
              <a:ext uri="{FF2B5EF4-FFF2-40B4-BE49-F238E27FC236}">
                <a16:creationId xmlns:a16="http://schemas.microsoft.com/office/drawing/2014/main" id="{F1082486-4BF6-4AA6-B080-017FE0980A78}"/>
              </a:ext>
            </a:extLst>
          </p:cNvPr>
          <p:cNvSpPr>
            <a:spLocks xmlns:a="http://schemas.openxmlformats.org/drawingml/2006/main" noGrp="1"/>
          </p:cNvSpPr>
          <p:nvPr/>
        </p:nvSpPr>
        <p:spPr>
          <a:xfrm xmlns:a="http://schemas.openxmlformats.org/drawingml/2006/main">
            <a:off x="1257300" y="34766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Operational alerts</a:t>
            </a:r>
          </a:p>
        </p:txBody>
      </p:sp>
      <p:sp>
        <p:nvSpPr>
          <p:cNvPr id="12" name="">
            <a:extLst xmlns:a="http://schemas.openxmlformats.org/drawingml/2006/main">
              <a:ext uri="{FF2B5EF4-FFF2-40B4-BE49-F238E27FC236}">
                <a16:creationId xmlns:a16="http://schemas.microsoft.com/office/drawing/2014/main" id="{7D2D581A-2EB0-4FC6-B490-A9A1EAD815D6}"/>
              </a:ext>
            </a:extLst>
          </p:cNvPr>
          <p:cNvSpPr>
            <a:spLocks xmlns:a="http://schemas.openxmlformats.org/drawingml/2006/main" noGrp="1"/>
          </p:cNvSpPr>
          <p:nvPr/>
        </p:nvSpPr>
        <p:spPr>
          <a:xfrm xmlns:a="http://schemas.openxmlformats.org/drawingml/2006/main">
            <a:off x="1257300" y="3810000"/>
            <a:ext cx="3257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555"/>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Traffic, delay, breakdown and emergency reports reach the administrator.</a:t>
            </a:r>
          </a:p>
        </p:txBody>
      </p:sp>
      <p:sp>
        <p:nvSpPr>
          <p:cNvPr id="13" name="">
            <a:extLst xmlns:a="http://schemas.openxmlformats.org/drawingml/2006/main">
              <a:ext uri="{FF2B5EF4-FFF2-40B4-BE49-F238E27FC236}">
                <a16:creationId xmlns:a16="http://schemas.microsoft.com/office/drawing/2014/main" id="{671FAA34-968C-4CF8-B928-BF6DEE895EA8}"/>
              </a:ext>
            </a:extLst>
          </p:cNvPr>
          <p:cNvSpPr>
            <a:spLocks xmlns:a="http://schemas.openxmlformats.org/drawingml/2006/main" noGrp="1"/>
          </p:cNvSpPr>
          <p:nvPr/>
        </p:nvSpPr>
        <p:spPr>
          <a:xfrm xmlns:a="http://schemas.openxmlformats.org/drawingml/2006/main">
            <a:off x="609600" y="4762500"/>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defRPr sz="1800" b="1">
                <a:solidFill>
                  <a:srgbClr val="3AD6FF"/>
                </a:solidFill>
                <a:latin typeface="Bahnschrift"/>
                <a:ea typeface="Bahnschrift"/>
                <a:cs typeface="Bahnschrift"/>
              </a:defRPr>
            </a:pPr>
            <a:r>
              <a:rPr sz="1800" b="1">
                <a:solidFill>
                  <a:srgbClr val="3AD6FF"/>
                </a:solidFill>
                <a:latin typeface="Bahnschrift"/>
                <a:ea typeface="Bahnschrift"/>
                <a:cs typeface="Bahnschrift"/>
              </a:rPr>
              <a:t>03</a:t>
            </a:r>
          </a:p>
        </p:txBody>
      </p:sp>
      <p:sp>
        <p:nvSpPr>
          <p:cNvPr id="14" name="">
            <a:extLst xmlns:a="http://schemas.openxmlformats.org/drawingml/2006/main">
              <a:ext uri="{FF2B5EF4-FFF2-40B4-BE49-F238E27FC236}">
                <a16:creationId xmlns:a16="http://schemas.microsoft.com/office/drawing/2014/main" id="{FDB1CE06-3D4C-4AE0-97B4-88A211643582}"/>
              </a:ext>
            </a:extLst>
          </p:cNvPr>
          <p:cNvSpPr>
            <a:spLocks xmlns:a="http://schemas.openxmlformats.org/drawingml/2006/main" noGrp="1"/>
          </p:cNvSpPr>
          <p:nvPr/>
        </p:nvSpPr>
        <p:spPr>
          <a:xfrm xmlns:a="http://schemas.openxmlformats.org/drawingml/2006/main">
            <a:off x="1257300" y="4762500"/>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Live pass scan</a:t>
            </a:r>
          </a:p>
        </p:txBody>
      </p:sp>
      <p:sp>
        <p:nvSpPr>
          <p:cNvPr id="15" name="">
            <a:extLst xmlns:a="http://schemas.openxmlformats.org/drawingml/2006/main">
              <a:ext uri="{FF2B5EF4-FFF2-40B4-BE49-F238E27FC236}">
                <a16:creationId xmlns:a16="http://schemas.microsoft.com/office/drawing/2014/main" id="{D9F4D13D-F14C-4F44-BCC5-9D4ADDD93194}"/>
              </a:ext>
            </a:extLst>
          </p:cNvPr>
          <p:cNvSpPr>
            <a:spLocks xmlns:a="http://schemas.openxmlformats.org/drawingml/2006/main" noGrp="1"/>
          </p:cNvSpPr>
          <p:nvPr/>
        </p:nvSpPr>
        <p:spPr>
          <a:xfrm xmlns:a="http://schemas.openxmlformats.org/drawingml/2006/main">
            <a:off x="1257300" y="5095875"/>
            <a:ext cx="3257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Camera preview, short-lived QR and official-photo comparison.</a:t>
            </a:r>
          </a:p>
        </p:txBody>
      </p:sp>
      <p:sp>
        <p:nvSpPr>
          <p:cNvPr id="16" name="">
            <a:extLst xmlns:a="http://schemas.openxmlformats.org/drawingml/2006/main">
              <a:ext uri="{FF2B5EF4-FFF2-40B4-BE49-F238E27FC236}">
                <a16:creationId xmlns:a16="http://schemas.microsoft.com/office/drawing/2014/main" id="{557E7FD4-BA9F-4F7F-B67B-245B1EC1826A}"/>
              </a:ext>
            </a:extLst>
          </p:cNvPr>
          <p:cNvSpPr>
            <a:spLocks xmlns:a="http://schemas.openxmlformats.org/drawingml/2006/main" noGrp="1"/>
          </p:cNvSpPr>
          <p:nvPr/>
        </p:nvSpPr>
        <p:spPr>
          <a:xfrm xmlns:a="http://schemas.openxmlformats.org/drawingml/2006/main">
            <a:off x="4924425" y="1590675"/>
            <a:ext cx="6677025" cy="4152900"/>
          </a:xfrm>
          <a:prstGeom xmlns:a="http://schemas.openxmlformats.org/drawingml/2006/main" prst="roundRect">
            <a:avLst>
              <a:gd name="adj" fmla="val 1835"/>
            </a:avLst>
          </a:prstGeom>
          <a:solidFill xmlns:a="http://schemas.openxmlformats.org/drawingml/2006/main">
            <a:srgbClr val="12385F"/>
          </a:solidFill>
          <a:ln xmlns:a="http://schemas.openxmlformats.org/drawingml/2006/main" w="9525">
            <a:solidFill>
              <a:srgbClr val="3AD6FF"/>
            </a:solidFill>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0e8492e6abb4e82"/>
          <a:srcRect xmlns:a="http://schemas.openxmlformats.org/drawingml/2006/main" l="4555" t="0" r="4555" b="0"/>
          <a:stretch xmlns:a="http://schemas.openxmlformats.org/drawingml/2006/main">
            <a:fillRect l="0" t="0" r="0" b="0"/>
          </a:stretch>
        </p:blipFill>
        <p:spPr>
          <a:xfrm xmlns:a="http://schemas.openxmlformats.org/drawingml/2006/main">
            <a:off x="4953000" y="1619250"/>
            <a:ext cx="6619875" cy="4095750"/>
          </a:xfrm>
          <a:prstGeom xmlns:a="http://schemas.openxmlformats.org/drawingml/2006/main" prst="roundRect">
            <a:avLst>
              <a:gd name="adj" fmla="val 2791"/>
            </a:avLst>
          </a:prstGeom>
        </p:spPr>
      </p:pic>
      <p:sp>
        <p:nvSpPr>
          <p:cNvPr id="18" name="">
            <a:extLst xmlns:a="http://schemas.openxmlformats.org/drawingml/2006/main">
              <a:ext uri="{FF2B5EF4-FFF2-40B4-BE49-F238E27FC236}">
                <a16:creationId xmlns:a16="http://schemas.microsoft.com/office/drawing/2014/main" id="{5B78BEAF-B8EB-4DDC-B47A-6805342D7FB6}"/>
              </a:ext>
            </a:extLst>
          </p:cNvPr>
          <p:cNvSpPr>
            <a:spLocks xmlns:a="http://schemas.openxmlformats.org/drawingml/2006/main" noGrp="1"/>
          </p:cNvSpPr>
          <p:nvPr/>
        </p:nvSpPr>
        <p:spPr>
          <a:xfrm xmlns:a="http://schemas.openxmlformats.org/drawingml/2006/main">
            <a:off x="5095875" y="5905500"/>
            <a:ext cx="638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03"/>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The driver confirms the server decision and the student's official photo before boarding.</a:t>
            </a:r>
          </a:p>
        </p:txBody>
      </p:sp>
    </p:spTree>
    <p:extLst>
      <p:ext uri="{BB962C8B-B14F-4D97-AF65-F5344CB8AC3E}">
        <p14:creationId xmlns:p14="http://schemas.microsoft.com/office/powerpoint/2010/main" val="859188478"/>
      </p:ext>
    </p:extLst>
  </p:cSld>
</p:sld>
</file>

<file path=ppt/slides/slide8.xml><?xml version="1.0" encoding="utf-8"?>
<p:sld xmlns:p="http://schemas.openxmlformats.org/presentationml/2006/main">
  <p:cSld>
    <p:bg>
      <p:bgPr>
        <a:solidFill xmlns:a="http://schemas.openxmlformats.org/drawingml/2006/main">
          <a:srgbClr val="06172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A11D985-F473-458F-9846-9D1FA2E7181F}"/>
              </a:ext>
            </a:extLst>
          </p:cNvPr>
          <p:cNvSpPr>
            <a:spLocks xmlns:a="http://schemas.openxmlformats.org/drawingml/2006/main" noGrp="1"/>
          </p:cNvSpPr>
          <p:nvPr/>
        </p:nvSpPr>
        <p:spPr>
          <a:xfrm xmlns:a="http://schemas.openxmlformats.org/drawingml/2006/main">
            <a:off x="609600" y="266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3AD6FF"/>
                </a:solidFill>
                <a:latin typeface="Bahnschrift"/>
                <a:ea typeface="Bahnschrift"/>
                <a:cs typeface="Bahnschrift"/>
              </a:defRPr>
            </a:pPr>
            <a:r>
              <a:rPr sz="1200" b="1">
                <a:solidFill>
                  <a:srgbClr val="3AD6FF"/>
                </a:solidFill>
                <a:latin typeface="Bahnschrift"/>
                <a:ea typeface="Bahnschrift"/>
                <a:cs typeface="Bahnschrift"/>
              </a:rPr>
              <a:t>08</a:t>
            </a:r>
          </a:p>
        </p:txBody>
      </p:sp>
      <p:sp>
        <p:nvSpPr>
          <p:cNvPr id="2" name="">
            <a:extLst xmlns:a="http://schemas.openxmlformats.org/drawingml/2006/main">
              <a:ext uri="{FF2B5EF4-FFF2-40B4-BE49-F238E27FC236}">
                <a16:creationId xmlns:a16="http://schemas.microsoft.com/office/drawing/2014/main" id="{5117043C-2307-4C81-9749-D3FB29E51AD4}"/>
              </a:ext>
            </a:extLst>
          </p:cNvPr>
          <p:cNvSpPr>
            <a:spLocks xmlns:a="http://schemas.openxmlformats.org/drawingml/2006/main" noGrp="1"/>
          </p:cNvSpPr>
          <p:nvPr/>
        </p:nvSpPr>
        <p:spPr>
          <a:xfrm xmlns:a="http://schemas.openxmlformats.org/drawingml/2006/main">
            <a:off x="609600" y="5715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58"/>
          </a:bodyPr>
          <a:lstStyle xmlns:a="http://schemas.openxmlformats.org/drawingml/2006/main"/>
          <a:p xmlns:a="http://schemas.openxmlformats.org/drawingml/2006/main">
            <a:pPr>
              <a:defRPr sz="3450" b="1">
                <a:solidFill>
                  <a:srgbClr val="F5FAFF"/>
                </a:solidFill>
                <a:latin typeface="Bahnschrift"/>
                <a:ea typeface="Bahnschrift"/>
                <a:cs typeface="Bahnschrift"/>
              </a:defRPr>
            </a:pPr>
            <a:r>
              <a:rPr sz="3450" b="1">
                <a:solidFill>
                  <a:srgbClr val="F5FAFF"/>
                </a:solidFill>
                <a:latin typeface="Bahnschrift"/>
                <a:ea typeface="Bahnschrift"/>
                <a:cs typeface="Bahnschrift"/>
              </a:rPr>
              <a:t>GPS reliability and provider health</a:t>
            </a:r>
          </a:p>
        </p:txBody>
      </p:sp>
      <p:sp>
        <p:nvSpPr>
          <p:cNvPr id="3" name="">
            <a:extLst xmlns:a="http://schemas.openxmlformats.org/drawingml/2006/main">
              <a:ext uri="{FF2B5EF4-FFF2-40B4-BE49-F238E27FC236}">
                <a16:creationId xmlns:a16="http://schemas.microsoft.com/office/drawing/2014/main" id="{C1618B03-7694-4962-8E1F-F1EF921CBA56}"/>
              </a:ext>
            </a:extLst>
          </p:cNvPr>
          <p:cNvSpPr>
            <a:spLocks xmlns:a="http://schemas.openxmlformats.org/drawingml/2006/main" noGrp="1"/>
          </p:cNvSpPr>
          <p:nvPr/>
        </p:nvSpPr>
        <p:spPr>
          <a:xfrm xmlns:a="http://schemas.openxmlformats.org/drawingml/2006/main">
            <a:off x="609600" y="1209675"/>
            <a:ext cx="819150" cy="38100"/>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035525-08E2-4334-A5A0-CD66163A975F}"/>
              </a:ext>
            </a:extLst>
          </p:cNvPr>
          <p:cNvSpPr>
            <a:spLocks xmlns:a="http://schemas.openxmlformats.org/drawingml/2006/main" noGrp="1"/>
          </p:cNvSpPr>
          <p:nvPr/>
        </p:nvSpPr>
        <p:spPr>
          <a:xfrm xmlns:a="http://schemas.openxmlformats.org/drawingml/2006/main">
            <a:off x="1666875" y="1104900"/>
            <a:ext cx="919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Airotrack and Kingstrack work through the same route engine</a:t>
            </a:r>
          </a:p>
        </p:txBody>
      </p:sp>
      <p:sp>
        <p:nvSpPr>
          <p:cNvPr id="5" name="">
            <a:extLst xmlns:a="http://schemas.openxmlformats.org/drawingml/2006/main">
              <a:ext uri="{FF2B5EF4-FFF2-40B4-BE49-F238E27FC236}">
                <a16:creationId xmlns:a16="http://schemas.microsoft.com/office/drawing/2014/main" id="{D11BAFF1-6C8E-4972-8E7F-7A5C0A8FFF92}"/>
              </a:ext>
            </a:extLst>
          </p:cNvPr>
          <p:cNvSpPr>
            <a:spLocks xmlns:a="http://schemas.openxmlformats.org/drawingml/2006/main" noGrp="1"/>
          </p:cNvSpPr>
          <p:nvPr/>
        </p:nvSpPr>
        <p:spPr>
          <a:xfrm xmlns:a="http://schemas.openxmlformats.org/drawingml/2006/main">
            <a:off x="11334750" y="64389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0000"/>
          </a:bodyPr>
          <a:lstStyle xmlns:a="http://schemas.openxmlformats.org/drawingml/2006/main"/>
          <a:p xmlns:a="http://schemas.openxmlformats.org/drawingml/2006/main">
            <a:pPr>
              <a:defRPr sz="1050" b="0">
                <a:solidFill>
                  <a:srgbClr val="6E8AA0"/>
                </a:solidFill>
                <a:latin typeface="Segoe UI"/>
                <a:ea typeface="Segoe UI"/>
                <a:cs typeface="Segoe UI"/>
              </a:defRPr>
            </a:pPr>
            <a:r>
              <a:rPr sz="1050" b="0">
                <a:solidFill>
                  <a:srgbClr val="6E8AA0"/>
                </a:solidFill>
                <a:latin typeface="Segoe UI"/>
                <a:ea typeface="Segoe UI"/>
                <a:cs typeface="Segoe UI"/>
              </a:rPr>
              <a:t>8</a:t>
            </a:r>
          </a:p>
        </p:txBody>
      </p:sp>
      <p:sp>
        <p:nvSpPr>
          <p:cNvPr id="6" name="">
            <a:extLst xmlns:a="http://schemas.openxmlformats.org/drawingml/2006/main">
              <a:ext uri="{FF2B5EF4-FFF2-40B4-BE49-F238E27FC236}">
                <a16:creationId xmlns:a16="http://schemas.microsoft.com/office/drawing/2014/main" id="{B348C037-82D8-45EA-9FEA-98478B7AAB56}"/>
              </a:ext>
            </a:extLst>
          </p:cNvPr>
          <p:cNvSpPr>
            <a:spLocks xmlns:a="http://schemas.openxmlformats.org/drawingml/2006/main" noGrp="1"/>
          </p:cNvSpPr>
          <p:nvPr/>
        </p:nvSpPr>
        <p:spPr>
          <a:xfrm xmlns:a="http://schemas.openxmlformats.org/drawingml/2006/main">
            <a:off x="581025" y="1638300"/>
            <a:ext cx="7058025" cy="4000500"/>
          </a:xfrm>
          <a:prstGeom xmlns:a="http://schemas.openxmlformats.org/drawingml/2006/main" prst="roundRect">
            <a:avLst>
              <a:gd name="adj" fmla="val 1905"/>
            </a:avLst>
          </a:prstGeom>
          <a:solidFill xmlns:a="http://schemas.openxmlformats.org/drawingml/2006/main">
            <a:srgbClr val="12385F"/>
          </a:solidFill>
          <a:ln xmlns:a="http://schemas.openxmlformats.org/drawingml/2006/main" w="9525">
            <a:solidFill>
              <a:srgbClr val="3AD6FF"/>
            </a:solid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faac68faa454ae5"/>
          <a:srcRect xmlns:a="http://schemas.openxmlformats.org/drawingml/2006/main" l="82" t="0" r="82" b="0"/>
          <a:stretch xmlns:a="http://schemas.openxmlformats.org/drawingml/2006/main">
            <a:fillRect l="0" t="0" r="0" b="0"/>
          </a:stretch>
        </p:blipFill>
        <p:spPr>
          <a:xfrm xmlns:a="http://schemas.openxmlformats.org/drawingml/2006/main">
            <a:off x="609600" y="1666875"/>
            <a:ext cx="7000875" cy="3943350"/>
          </a:xfrm>
          <a:prstGeom xmlns:a="http://schemas.openxmlformats.org/drawingml/2006/main" prst="roundRect">
            <a:avLst>
              <a:gd name="adj" fmla="val 2899"/>
            </a:avLst>
          </a:prstGeom>
        </p:spPr>
      </p:pic>
      <p:sp>
        <p:nvSpPr>
          <p:cNvPr id="8" name="">
            <a:extLst xmlns:a="http://schemas.openxmlformats.org/drawingml/2006/main">
              <a:ext uri="{FF2B5EF4-FFF2-40B4-BE49-F238E27FC236}">
                <a16:creationId xmlns:a16="http://schemas.microsoft.com/office/drawing/2014/main" id="{0857A445-E7B7-4078-BD14-845D16C784CC}"/>
              </a:ext>
            </a:extLst>
          </p:cNvPr>
          <p:cNvSpPr>
            <a:spLocks xmlns:a="http://schemas.openxmlformats.org/drawingml/2006/main" noGrp="1"/>
          </p:cNvSpPr>
          <p:nvPr/>
        </p:nvSpPr>
        <p:spPr>
          <a:xfrm xmlns:a="http://schemas.openxmlformats.org/drawingml/2006/main">
            <a:off x="8048625" y="171450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524"/>
          </a:bodyPr>
          <a:lstStyle xmlns:a="http://schemas.openxmlformats.org/drawingml/2006/main"/>
          <a:p xmlns:a="http://schemas.openxmlformats.org/drawingml/2006/main">
            <a:pPr>
              <a:defRPr sz="2100" b="1">
                <a:solidFill>
                  <a:srgbClr val="3AD6FF"/>
                </a:solidFill>
                <a:latin typeface="Bahnschrift"/>
                <a:ea typeface="Bahnschrift"/>
                <a:cs typeface="Bahnschrift"/>
              </a:defRPr>
            </a:pPr>
            <a:r>
              <a:rPr sz="2100" b="1">
                <a:solidFill>
                  <a:srgbClr val="3AD6FF"/>
                </a:solidFill>
                <a:latin typeface="Bahnschrift"/>
                <a:ea typeface="Bahnschrift"/>
                <a:cs typeface="Bahnschrift"/>
              </a:rPr>
              <a:t>Built for imperfect data</a:t>
            </a:r>
          </a:p>
        </p:txBody>
      </p:sp>
      <p:sp>
        <p:nvSpPr>
          <p:cNvPr id="9" name="">
            <a:extLst xmlns:a="http://schemas.openxmlformats.org/drawingml/2006/main">
              <a:ext uri="{FF2B5EF4-FFF2-40B4-BE49-F238E27FC236}">
                <a16:creationId xmlns:a16="http://schemas.microsoft.com/office/drawing/2014/main" id="{D807F274-A4CE-47D2-8DFA-38E1DBEC3004}"/>
              </a:ext>
            </a:extLst>
          </p:cNvPr>
          <p:cNvSpPr>
            <a:spLocks xmlns:a="http://schemas.openxmlformats.org/drawingml/2006/main" noGrp="1"/>
          </p:cNvSpPr>
          <p:nvPr/>
        </p:nvSpPr>
        <p:spPr>
          <a:xfrm xmlns:a="http://schemas.openxmlformats.org/drawingml/2006/main">
            <a:off x="8048625" y="2333625"/>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defRPr sz="1800" b="1">
                <a:solidFill>
                  <a:srgbClr val="3AD6FF"/>
                </a:solidFill>
                <a:latin typeface="Bahnschrift"/>
                <a:ea typeface="Bahnschrift"/>
                <a:cs typeface="Bahnschrift"/>
              </a:defRPr>
            </a:pPr>
            <a:r>
              <a:rPr sz="1800" b="1">
                <a:solidFill>
                  <a:srgbClr val="3AD6FF"/>
                </a:solidFill>
                <a:latin typeface="Bahnschrift"/>
                <a:ea typeface="Bahnschrift"/>
                <a:cs typeface="Bahnschrift"/>
              </a:rPr>
              <a:t>01</a:t>
            </a:r>
          </a:p>
        </p:txBody>
      </p:sp>
      <p:sp>
        <p:nvSpPr>
          <p:cNvPr id="10" name="">
            <a:extLst xmlns:a="http://schemas.openxmlformats.org/drawingml/2006/main">
              <a:ext uri="{FF2B5EF4-FFF2-40B4-BE49-F238E27FC236}">
                <a16:creationId xmlns:a16="http://schemas.microsoft.com/office/drawing/2014/main" id="{42495F00-8C6C-4FED-A850-9424255C4A0A}"/>
              </a:ext>
            </a:extLst>
          </p:cNvPr>
          <p:cNvSpPr>
            <a:spLocks xmlns:a="http://schemas.openxmlformats.org/drawingml/2006/main" noGrp="1"/>
          </p:cNvSpPr>
          <p:nvPr/>
        </p:nvSpPr>
        <p:spPr>
          <a:xfrm xmlns:a="http://schemas.openxmlformats.org/drawingml/2006/main">
            <a:off x="8696325" y="2333625"/>
            <a:ext cx="2733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Provider separation</a:t>
            </a:r>
          </a:p>
        </p:txBody>
      </p:sp>
      <p:sp>
        <p:nvSpPr>
          <p:cNvPr id="11" name="">
            <a:extLst xmlns:a="http://schemas.openxmlformats.org/drawingml/2006/main">
              <a:ext uri="{FF2B5EF4-FFF2-40B4-BE49-F238E27FC236}">
                <a16:creationId xmlns:a16="http://schemas.microsoft.com/office/drawing/2014/main" id="{2A433F5E-1155-4A89-9FF7-056B2B134902}"/>
              </a:ext>
            </a:extLst>
          </p:cNvPr>
          <p:cNvSpPr>
            <a:spLocks xmlns:a="http://schemas.openxmlformats.org/drawingml/2006/main" noGrp="1"/>
          </p:cNvSpPr>
          <p:nvPr/>
        </p:nvSpPr>
        <p:spPr>
          <a:xfrm xmlns:a="http://schemas.openxmlformats.org/drawingml/2006/main">
            <a:off x="8696325" y="2667000"/>
            <a:ext cx="2733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Each bus stays assigned to its detected GPS provider.</a:t>
            </a:r>
          </a:p>
        </p:txBody>
      </p:sp>
      <p:sp>
        <p:nvSpPr>
          <p:cNvPr id="12" name="">
            <a:extLst xmlns:a="http://schemas.openxmlformats.org/drawingml/2006/main">
              <a:ext uri="{FF2B5EF4-FFF2-40B4-BE49-F238E27FC236}">
                <a16:creationId xmlns:a16="http://schemas.microsoft.com/office/drawing/2014/main" id="{5FA8B693-0C97-4099-8DD6-6DE9313A8420}"/>
              </a:ext>
            </a:extLst>
          </p:cNvPr>
          <p:cNvSpPr>
            <a:spLocks xmlns:a="http://schemas.openxmlformats.org/drawingml/2006/main" noGrp="1"/>
          </p:cNvSpPr>
          <p:nvPr/>
        </p:nvSpPr>
        <p:spPr>
          <a:xfrm xmlns:a="http://schemas.openxmlformats.org/drawingml/2006/main">
            <a:off x="8048625" y="3476625"/>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defRPr sz="1800" b="1">
                <a:solidFill>
                  <a:srgbClr val="3AD6FF"/>
                </a:solidFill>
                <a:latin typeface="Bahnschrift"/>
                <a:ea typeface="Bahnschrift"/>
                <a:cs typeface="Bahnschrift"/>
              </a:defRPr>
            </a:pPr>
            <a:r>
              <a:rPr sz="1800" b="1">
                <a:solidFill>
                  <a:srgbClr val="3AD6FF"/>
                </a:solidFill>
                <a:latin typeface="Bahnschrift"/>
                <a:ea typeface="Bahnschrift"/>
                <a:cs typeface="Bahnschrift"/>
              </a:rPr>
              <a:t>02</a:t>
            </a:r>
          </a:p>
        </p:txBody>
      </p:sp>
      <p:sp>
        <p:nvSpPr>
          <p:cNvPr id="13" name="">
            <a:extLst xmlns:a="http://schemas.openxmlformats.org/drawingml/2006/main">
              <a:ext uri="{FF2B5EF4-FFF2-40B4-BE49-F238E27FC236}">
                <a16:creationId xmlns:a16="http://schemas.microsoft.com/office/drawing/2014/main" id="{0164C691-E2FA-41F7-90FE-9F8AE799DAEF}"/>
              </a:ext>
            </a:extLst>
          </p:cNvPr>
          <p:cNvSpPr>
            <a:spLocks xmlns:a="http://schemas.openxmlformats.org/drawingml/2006/main" noGrp="1"/>
          </p:cNvSpPr>
          <p:nvPr/>
        </p:nvSpPr>
        <p:spPr>
          <a:xfrm xmlns:a="http://schemas.openxmlformats.org/drawingml/2006/main">
            <a:off x="8696325" y="3476625"/>
            <a:ext cx="2733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Visible delay</a:t>
            </a:r>
          </a:p>
        </p:txBody>
      </p:sp>
      <p:sp>
        <p:nvSpPr>
          <p:cNvPr id="14" name="">
            <a:extLst xmlns:a="http://schemas.openxmlformats.org/drawingml/2006/main">
              <a:ext uri="{FF2B5EF4-FFF2-40B4-BE49-F238E27FC236}">
                <a16:creationId xmlns:a16="http://schemas.microsoft.com/office/drawing/2014/main" id="{79AE57CB-AB4B-47FC-AB24-9BAE481D53B3}"/>
              </a:ext>
            </a:extLst>
          </p:cNvPr>
          <p:cNvSpPr>
            <a:spLocks xmlns:a="http://schemas.openxmlformats.org/drawingml/2006/main" noGrp="1"/>
          </p:cNvSpPr>
          <p:nvPr/>
        </p:nvSpPr>
        <p:spPr>
          <a:xfrm xmlns:a="http://schemas.openxmlformats.org/drawingml/2006/main">
            <a:off x="8696325" y="3810000"/>
            <a:ext cx="2733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Contact time, device time and update gaps appear separately.</a:t>
            </a:r>
          </a:p>
        </p:txBody>
      </p:sp>
      <p:sp>
        <p:nvSpPr>
          <p:cNvPr id="15" name="">
            <a:extLst xmlns:a="http://schemas.openxmlformats.org/drawingml/2006/main">
              <a:ext uri="{FF2B5EF4-FFF2-40B4-BE49-F238E27FC236}">
                <a16:creationId xmlns:a16="http://schemas.microsoft.com/office/drawing/2014/main" id="{551F59EA-FD5D-4DAE-BFAD-3C1121F56C63}"/>
              </a:ext>
            </a:extLst>
          </p:cNvPr>
          <p:cNvSpPr>
            <a:spLocks xmlns:a="http://schemas.openxmlformats.org/drawingml/2006/main" noGrp="1"/>
          </p:cNvSpPr>
          <p:nvPr/>
        </p:nvSpPr>
        <p:spPr>
          <a:xfrm xmlns:a="http://schemas.openxmlformats.org/drawingml/2006/main">
            <a:off x="8048625" y="4619625"/>
            <a:ext cx="552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11"/>
          </a:bodyPr>
          <a:lstStyle xmlns:a="http://schemas.openxmlformats.org/drawingml/2006/main"/>
          <a:p xmlns:a="http://schemas.openxmlformats.org/drawingml/2006/main">
            <a:pPr>
              <a:defRPr sz="1800" b="1">
                <a:solidFill>
                  <a:srgbClr val="3AD6FF"/>
                </a:solidFill>
                <a:latin typeface="Bahnschrift"/>
                <a:ea typeface="Bahnschrift"/>
                <a:cs typeface="Bahnschrift"/>
              </a:defRPr>
            </a:pPr>
            <a:r>
              <a:rPr sz="1800" b="1">
                <a:solidFill>
                  <a:srgbClr val="3AD6FF"/>
                </a:solidFill>
                <a:latin typeface="Bahnschrift"/>
                <a:ea typeface="Bahnschrift"/>
                <a:cs typeface="Bahnschrift"/>
              </a:rPr>
              <a:t>03</a:t>
            </a:r>
          </a:p>
        </p:txBody>
      </p:sp>
      <p:sp>
        <p:nvSpPr>
          <p:cNvPr id="16" name="">
            <a:extLst xmlns:a="http://schemas.openxmlformats.org/drawingml/2006/main">
              <a:ext uri="{FF2B5EF4-FFF2-40B4-BE49-F238E27FC236}">
                <a16:creationId xmlns:a16="http://schemas.microsoft.com/office/drawing/2014/main" id="{43BBD9D9-6E78-4109-BF24-1487BEFBF633}"/>
              </a:ext>
            </a:extLst>
          </p:cNvPr>
          <p:cNvSpPr>
            <a:spLocks xmlns:a="http://schemas.openxmlformats.org/drawingml/2006/main" noGrp="1"/>
          </p:cNvSpPr>
          <p:nvPr/>
        </p:nvSpPr>
        <p:spPr>
          <a:xfrm xmlns:a="http://schemas.openxmlformats.org/drawingml/2006/main">
            <a:off x="8696325" y="4619625"/>
            <a:ext cx="2733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Failure isolation</a:t>
            </a:r>
          </a:p>
        </p:txBody>
      </p:sp>
      <p:sp>
        <p:nvSpPr>
          <p:cNvPr id="17" name="">
            <a:extLst xmlns:a="http://schemas.openxmlformats.org/drawingml/2006/main">
              <a:ext uri="{FF2B5EF4-FFF2-40B4-BE49-F238E27FC236}">
                <a16:creationId xmlns:a16="http://schemas.microsoft.com/office/drawing/2014/main" id="{3897871A-00A8-4D17-9904-230EE4665EEB}"/>
              </a:ext>
            </a:extLst>
          </p:cNvPr>
          <p:cNvSpPr>
            <a:spLocks xmlns:a="http://schemas.openxmlformats.org/drawingml/2006/main" noGrp="1"/>
          </p:cNvSpPr>
          <p:nvPr/>
        </p:nvSpPr>
        <p:spPr>
          <a:xfrm xmlns:a="http://schemas.openxmlformats.org/drawingml/2006/main">
            <a:off x="8696325" y="4953000"/>
            <a:ext cx="2733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A problem with one provider does not stop the other.</a:t>
            </a:r>
          </a:p>
        </p:txBody>
      </p:sp>
    </p:spTree>
    <p:extLst>
      <p:ext uri="{BB962C8B-B14F-4D97-AF65-F5344CB8AC3E}">
        <p14:creationId xmlns:p14="http://schemas.microsoft.com/office/powerpoint/2010/main" val="2114067247"/>
      </p:ext>
    </p:extLst>
  </p:cSld>
</p:sld>
</file>

<file path=ppt/slides/slide9.xml><?xml version="1.0" encoding="utf-8"?>
<p:sld xmlns:p="http://schemas.openxmlformats.org/presentationml/2006/main">
  <p:cSld>
    <p:bg>
      <p:bgPr>
        <a:solidFill xmlns:a="http://schemas.openxmlformats.org/drawingml/2006/main">
          <a:srgbClr val="06172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9E7220B-0171-41FA-B708-6B78F438D6EE}"/>
              </a:ext>
            </a:extLst>
          </p:cNvPr>
          <p:cNvSpPr>
            <a:spLocks xmlns:a="http://schemas.openxmlformats.org/drawingml/2006/main" noGrp="1"/>
          </p:cNvSpPr>
          <p:nvPr/>
        </p:nvSpPr>
        <p:spPr>
          <a:xfrm xmlns:a="http://schemas.openxmlformats.org/drawingml/2006/main">
            <a:off x="609600" y="266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3AD6FF"/>
                </a:solidFill>
                <a:latin typeface="Bahnschrift"/>
                <a:ea typeface="Bahnschrift"/>
                <a:cs typeface="Bahnschrift"/>
              </a:defRPr>
            </a:pPr>
            <a:r>
              <a:rPr sz="1200" b="1">
                <a:solidFill>
                  <a:srgbClr val="3AD6FF"/>
                </a:solidFill>
                <a:latin typeface="Bahnschrift"/>
                <a:ea typeface="Bahnschrift"/>
                <a:cs typeface="Bahnschrift"/>
              </a:rPr>
              <a:t>09</a:t>
            </a:r>
          </a:p>
        </p:txBody>
      </p:sp>
      <p:sp>
        <p:nvSpPr>
          <p:cNvPr id="2" name="">
            <a:extLst xmlns:a="http://schemas.openxmlformats.org/drawingml/2006/main">
              <a:ext uri="{FF2B5EF4-FFF2-40B4-BE49-F238E27FC236}">
                <a16:creationId xmlns:a16="http://schemas.microsoft.com/office/drawing/2014/main" id="{33FB69CA-8AD4-4AF5-96A3-52A730ABD6B8}"/>
              </a:ext>
            </a:extLst>
          </p:cNvPr>
          <p:cNvSpPr>
            <a:spLocks xmlns:a="http://schemas.openxmlformats.org/drawingml/2006/main" noGrp="1"/>
          </p:cNvSpPr>
          <p:nvPr/>
        </p:nvSpPr>
        <p:spPr>
          <a:xfrm xmlns:a="http://schemas.openxmlformats.org/drawingml/2006/main">
            <a:off x="609600" y="5715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58"/>
          </a:bodyPr>
          <a:lstStyle xmlns:a="http://schemas.openxmlformats.org/drawingml/2006/main"/>
          <a:p xmlns:a="http://schemas.openxmlformats.org/drawingml/2006/main">
            <a:pPr>
              <a:defRPr sz="3450" b="1">
                <a:solidFill>
                  <a:srgbClr val="F5FAFF"/>
                </a:solidFill>
                <a:latin typeface="Bahnschrift"/>
                <a:ea typeface="Bahnschrift"/>
                <a:cs typeface="Bahnschrift"/>
              </a:defRPr>
            </a:pPr>
            <a:r>
              <a:rPr sz="3450" b="1">
                <a:solidFill>
                  <a:srgbClr val="F5FAFF"/>
                </a:solidFill>
                <a:latin typeface="Bahnschrift"/>
                <a:ea typeface="Bahnschrift"/>
                <a:cs typeface="Bahnschrift"/>
              </a:rPr>
              <a:t>Protection from incorrect GPS data</a:t>
            </a:r>
          </a:p>
        </p:txBody>
      </p:sp>
      <p:sp>
        <p:nvSpPr>
          <p:cNvPr id="3" name="">
            <a:extLst xmlns:a="http://schemas.openxmlformats.org/drawingml/2006/main">
              <a:ext uri="{FF2B5EF4-FFF2-40B4-BE49-F238E27FC236}">
                <a16:creationId xmlns:a16="http://schemas.microsoft.com/office/drawing/2014/main" id="{20B1DD07-7C2E-4A52-932B-8E6E725D39B0}"/>
              </a:ext>
            </a:extLst>
          </p:cNvPr>
          <p:cNvSpPr>
            <a:spLocks xmlns:a="http://schemas.openxmlformats.org/drawingml/2006/main" noGrp="1"/>
          </p:cNvSpPr>
          <p:nvPr/>
        </p:nvSpPr>
        <p:spPr>
          <a:xfrm xmlns:a="http://schemas.openxmlformats.org/drawingml/2006/main">
            <a:off x="609600" y="1209675"/>
            <a:ext cx="819150" cy="38100"/>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46C6F94-CC7D-4F7F-9524-50F65072E733}"/>
              </a:ext>
            </a:extLst>
          </p:cNvPr>
          <p:cNvSpPr>
            <a:spLocks xmlns:a="http://schemas.openxmlformats.org/drawingml/2006/main" noGrp="1"/>
          </p:cNvSpPr>
          <p:nvPr/>
        </p:nvSpPr>
        <p:spPr>
          <a:xfrm xmlns:a="http://schemas.openxmlformats.org/drawingml/2006/main">
            <a:off x="1666875" y="1104900"/>
            <a:ext cx="919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Delayed or misdated packets remain visible without taking control of the journey</a:t>
            </a:r>
          </a:p>
        </p:txBody>
      </p:sp>
      <p:sp>
        <p:nvSpPr>
          <p:cNvPr id="5" name="">
            <a:extLst xmlns:a="http://schemas.openxmlformats.org/drawingml/2006/main">
              <a:ext uri="{FF2B5EF4-FFF2-40B4-BE49-F238E27FC236}">
                <a16:creationId xmlns:a16="http://schemas.microsoft.com/office/drawing/2014/main" id="{E7B561CD-D668-4716-9CCF-0F4D4E23422E}"/>
              </a:ext>
            </a:extLst>
          </p:cNvPr>
          <p:cNvSpPr>
            <a:spLocks xmlns:a="http://schemas.openxmlformats.org/drawingml/2006/main" noGrp="1"/>
          </p:cNvSpPr>
          <p:nvPr/>
        </p:nvSpPr>
        <p:spPr>
          <a:xfrm xmlns:a="http://schemas.openxmlformats.org/drawingml/2006/main">
            <a:off x="11334750" y="64389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0000"/>
          </a:bodyPr>
          <a:lstStyle xmlns:a="http://schemas.openxmlformats.org/drawingml/2006/main"/>
          <a:p xmlns:a="http://schemas.openxmlformats.org/drawingml/2006/main">
            <a:pPr>
              <a:defRPr sz="1050" b="0">
                <a:solidFill>
                  <a:srgbClr val="6E8AA0"/>
                </a:solidFill>
                <a:latin typeface="Segoe UI"/>
                <a:ea typeface="Segoe UI"/>
                <a:cs typeface="Segoe UI"/>
              </a:defRPr>
            </a:pPr>
            <a:r>
              <a:rPr sz="1050" b="0">
                <a:solidFill>
                  <a:srgbClr val="6E8AA0"/>
                </a:solidFill>
                <a:latin typeface="Segoe UI"/>
                <a:ea typeface="Segoe UI"/>
                <a:cs typeface="Segoe UI"/>
              </a:rPr>
              <a:t>9</a:t>
            </a:r>
          </a:p>
        </p:txBody>
      </p:sp>
      <p:sp>
        <p:nvSpPr>
          <p:cNvPr id="6" name="">
            <a:extLst xmlns:a="http://schemas.openxmlformats.org/drawingml/2006/main">
              <a:ext uri="{FF2B5EF4-FFF2-40B4-BE49-F238E27FC236}">
                <a16:creationId xmlns:a16="http://schemas.microsoft.com/office/drawing/2014/main" id="{E0B2EA7C-1BF4-426B-A703-979EC22840C8}"/>
              </a:ext>
            </a:extLst>
          </p:cNvPr>
          <p:cNvSpPr>
            <a:spLocks xmlns:a="http://schemas.openxmlformats.org/drawingml/2006/main" noGrp="1"/>
          </p:cNvSpPr>
          <p:nvPr/>
        </p:nvSpPr>
        <p:spPr>
          <a:xfrm xmlns:a="http://schemas.openxmlformats.org/drawingml/2006/main">
            <a:off x="609600" y="1762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3AD6FF"/>
                </a:solidFill>
                <a:latin typeface="Bahnschrift"/>
                <a:ea typeface="Bahnschrift"/>
                <a:cs typeface="Bahnschrift"/>
              </a:defRPr>
            </a:pPr>
            <a:r>
              <a:rPr sz="1275" b="1">
                <a:solidFill>
                  <a:srgbClr val="3AD6FF"/>
                </a:solidFill>
                <a:latin typeface="Bahnschrift"/>
                <a:ea typeface="Bahnschrift"/>
                <a:cs typeface="Bahnschrift"/>
              </a:rPr>
              <a:t>01</a:t>
            </a:r>
          </a:p>
        </p:txBody>
      </p:sp>
      <p:sp>
        <p:nvSpPr>
          <p:cNvPr id="7" name="">
            <a:extLst xmlns:a="http://schemas.openxmlformats.org/drawingml/2006/main">
              <a:ext uri="{FF2B5EF4-FFF2-40B4-BE49-F238E27FC236}">
                <a16:creationId xmlns:a16="http://schemas.microsoft.com/office/drawing/2014/main" id="{21D0D251-E59C-4CFC-977F-FF10CA19E8BE}"/>
              </a:ext>
            </a:extLst>
          </p:cNvPr>
          <p:cNvSpPr>
            <a:spLocks xmlns:a="http://schemas.openxmlformats.org/drawingml/2006/main" noGrp="1"/>
          </p:cNvSpPr>
          <p:nvPr/>
        </p:nvSpPr>
        <p:spPr>
          <a:xfrm xmlns:a="http://schemas.openxmlformats.org/drawingml/2006/main">
            <a:off x="609600" y="2209800"/>
            <a:ext cx="2238375" cy="47625"/>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50385CC-A9AB-4617-BF14-3283F8F0B0DF}"/>
              </a:ext>
            </a:extLst>
          </p:cNvPr>
          <p:cNvSpPr>
            <a:spLocks xmlns:a="http://schemas.openxmlformats.org/drawingml/2006/main" noGrp="1"/>
          </p:cNvSpPr>
          <p:nvPr/>
        </p:nvSpPr>
        <p:spPr>
          <a:xfrm xmlns:a="http://schemas.openxmlformats.org/drawingml/2006/main">
            <a:off x="609600" y="252412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67"/>
          </a:bodyPr>
          <a:lstStyle xmlns:a="http://schemas.openxmlformats.org/drawingml/2006/main"/>
          <a:p xmlns:a="http://schemas.openxmlformats.org/drawingml/2006/main">
            <a:pPr>
              <a:defRPr sz="1875" b="1">
                <a:solidFill>
                  <a:srgbClr val="F5FAFF"/>
                </a:solidFill>
                <a:latin typeface="Bahnschrift"/>
                <a:ea typeface="Bahnschrift"/>
                <a:cs typeface="Bahnschrift"/>
              </a:defRPr>
            </a:pPr>
            <a:r>
              <a:rPr sz="1875" b="1">
                <a:solidFill>
                  <a:srgbClr val="F5FAFF"/>
                </a:solidFill>
                <a:latin typeface="Bahnschrift"/>
                <a:ea typeface="Bahnschrift"/>
                <a:cs typeface="Bahnschrift"/>
              </a:rPr>
              <a:t>RECEIVE</a:t>
            </a:r>
          </a:p>
        </p:txBody>
      </p:sp>
      <p:sp>
        <p:nvSpPr>
          <p:cNvPr id="9" name="">
            <a:extLst xmlns:a="http://schemas.openxmlformats.org/drawingml/2006/main">
              <a:ext uri="{FF2B5EF4-FFF2-40B4-BE49-F238E27FC236}">
                <a16:creationId xmlns:a16="http://schemas.microsoft.com/office/drawing/2014/main" id="{FACF3116-9608-4AC9-927B-69C0D24FD990}"/>
              </a:ext>
            </a:extLst>
          </p:cNvPr>
          <p:cNvSpPr>
            <a:spLocks xmlns:a="http://schemas.openxmlformats.org/drawingml/2006/main" noGrp="1"/>
          </p:cNvSpPr>
          <p:nvPr/>
        </p:nvSpPr>
        <p:spPr>
          <a:xfrm xmlns:a="http://schemas.openxmlformats.org/drawingml/2006/main">
            <a:off x="609600" y="3048000"/>
            <a:ext cx="2238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Keep the original coordinate and device timestamp</a:t>
            </a:r>
          </a:p>
        </p:txBody>
      </p:sp>
      <p:sp>
        <p:nvSpPr>
          <p:cNvPr id="10" name="">
            <a:extLst xmlns:a="http://schemas.openxmlformats.org/drawingml/2006/main">
              <a:ext uri="{FF2B5EF4-FFF2-40B4-BE49-F238E27FC236}">
                <a16:creationId xmlns:a16="http://schemas.microsoft.com/office/drawing/2014/main" id="{C9524FC6-B56B-4056-9522-8911C48EAEEF}"/>
              </a:ext>
            </a:extLst>
          </p:cNvPr>
          <p:cNvSpPr>
            <a:spLocks xmlns:a="http://schemas.openxmlformats.org/drawingml/2006/main" noGrp="1"/>
          </p:cNvSpPr>
          <p:nvPr/>
        </p:nvSpPr>
        <p:spPr>
          <a:xfrm xmlns:a="http://schemas.openxmlformats.org/drawingml/2006/main">
            <a:off x="3390900" y="1762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9EEBFF"/>
                </a:solidFill>
                <a:latin typeface="Bahnschrift"/>
                <a:ea typeface="Bahnschrift"/>
                <a:cs typeface="Bahnschrift"/>
              </a:defRPr>
            </a:pPr>
            <a:r>
              <a:rPr sz="1275" b="1">
                <a:solidFill>
                  <a:srgbClr val="9EEBFF"/>
                </a:solidFill>
                <a:latin typeface="Bahnschrift"/>
                <a:ea typeface="Bahnschrift"/>
                <a:cs typeface="Bahnschrift"/>
              </a:rPr>
              <a:t>02</a:t>
            </a:r>
          </a:p>
        </p:txBody>
      </p:sp>
      <p:sp>
        <p:nvSpPr>
          <p:cNvPr id="11" name="">
            <a:extLst xmlns:a="http://schemas.openxmlformats.org/drawingml/2006/main">
              <a:ext uri="{FF2B5EF4-FFF2-40B4-BE49-F238E27FC236}">
                <a16:creationId xmlns:a16="http://schemas.microsoft.com/office/drawing/2014/main" id="{10118BA0-25E4-4F07-BD23-BDED45B04D2A}"/>
              </a:ext>
            </a:extLst>
          </p:cNvPr>
          <p:cNvSpPr>
            <a:spLocks xmlns:a="http://schemas.openxmlformats.org/drawingml/2006/main" noGrp="1"/>
          </p:cNvSpPr>
          <p:nvPr/>
        </p:nvSpPr>
        <p:spPr>
          <a:xfrm xmlns:a="http://schemas.openxmlformats.org/drawingml/2006/main">
            <a:off x="3390900" y="2209800"/>
            <a:ext cx="2238375" cy="47625"/>
          </a:xfrm>
          <a:prstGeom xmlns:a="http://schemas.openxmlformats.org/drawingml/2006/main" prst="rect">
            <a:avLst/>
          </a:prstGeom>
          <a:solidFill xmlns:a="http://schemas.openxmlformats.org/drawingml/2006/main">
            <a:srgbClr val="9EEB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BBF9709-C9EA-45FD-8B19-DD345086967C}"/>
              </a:ext>
            </a:extLst>
          </p:cNvPr>
          <p:cNvSpPr>
            <a:spLocks xmlns:a="http://schemas.openxmlformats.org/drawingml/2006/main" noGrp="1"/>
          </p:cNvSpPr>
          <p:nvPr/>
        </p:nvSpPr>
        <p:spPr>
          <a:xfrm xmlns:a="http://schemas.openxmlformats.org/drawingml/2006/main">
            <a:off x="3390900" y="252412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67"/>
          </a:bodyPr>
          <a:lstStyle xmlns:a="http://schemas.openxmlformats.org/drawingml/2006/main"/>
          <a:p xmlns:a="http://schemas.openxmlformats.org/drawingml/2006/main">
            <a:pPr>
              <a:defRPr sz="1875" b="1">
                <a:solidFill>
                  <a:srgbClr val="F5FAFF"/>
                </a:solidFill>
                <a:latin typeface="Bahnschrift"/>
                <a:ea typeface="Bahnschrift"/>
                <a:cs typeface="Bahnschrift"/>
              </a:defRPr>
            </a:pPr>
            <a:r>
              <a:rPr sz="1875" b="1">
                <a:solidFill>
                  <a:srgbClr val="F5FAFF"/>
                </a:solidFill>
                <a:latin typeface="Bahnschrift"/>
                <a:ea typeface="Bahnschrift"/>
                <a:cs typeface="Bahnschrift"/>
              </a:rPr>
              <a:t>CHECK</a:t>
            </a:r>
          </a:p>
        </p:txBody>
      </p:sp>
      <p:sp>
        <p:nvSpPr>
          <p:cNvPr id="13" name="">
            <a:extLst xmlns:a="http://schemas.openxmlformats.org/drawingml/2006/main">
              <a:ext uri="{FF2B5EF4-FFF2-40B4-BE49-F238E27FC236}">
                <a16:creationId xmlns:a16="http://schemas.microsoft.com/office/drawing/2014/main" id="{C606072B-B260-4B10-9936-E92B0AC8B9D3}"/>
              </a:ext>
            </a:extLst>
          </p:cNvPr>
          <p:cNvSpPr>
            <a:spLocks xmlns:a="http://schemas.openxmlformats.org/drawingml/2006/main" noGrp="1"/>
          </p:cNvSpPr>
          <p:nvPr/>
        </p:nvSpPr>
        <p:spPr>
          <a:xfrm xmlns:a="http://schemas.openxmlformats.org/drawingml/2006/main">
            <a:off x="3390900" y="3048000"/>
            <a:ext cx="2238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Compare device time, receipt time and accepted state</a:t>
            </a:r>
          </a:p>
        </p:txBody>
      </p:sp>
      <p:sp>
        <p:nvSpPr>
          <p:cNvPr id="14" name="">
            <a:extLst xmlns:a="http://schemas.openxmlformats.org/drawingml/2006/main">
              <a:ext uri="{FF2B5EF4-FFF2-40B4-BE49-F238E27FC236}">
                <a16:creationId xmlns:a16="http://schemas.microsoft.com/office/drawing/2014/main" id="{A310B53A-AB16-41B6-B427-62F78D396837}"/>
              </a:ext>
            </a:extLst>
          </p:cNvPr>
          <p:cNvSpPr>
            <a:spLocks xmlns:a="http://schemas.openxmlformats.org/drawingml/2006/main" noGrp="1"/>
          </p:cNvSpPr>
          <p:nvPr/>
        </p:nvSpPr>
        <p:spPr>
          <a:xfrm xmlns:a="http://schemas.openxmlformats.org/drawingml/2006/main">
            <a:off x="6172200" y="1762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FFBD4A"/>
                </a:solidFill>
                <a:latin typeface="Bahnschrift"/>
                <a:ea typeface="Bahnschrift"/>
                <a:cs typeface="Bahnschrift"/>
              </a:defRPr>
            </a:pPr>
            <a:r>
              <a:rPr sz="1275" b="1">
                <a:solidFill>
                  <a:srgbClr val="FFBD4A"/>
                </a:solidFill>
                <a:latin typeface="Bahnschrift"/>
                <a:ea typeface="Bahnschrift"/>
                <a:cs typeface="Bahnschrift"/>
              </a:rPr>
              <a:t>03</a:t>
            </a:r>
          </a:p>
        </p:txBody>
      </p:sp>
      <p:sp>
        <p:nvSpPr>
          <p:cNvPr id="15" name="">
            <a:extLst xmlns:a="http://schemas.openxmlformats.org/drawingml/2006/main">
              <a:ext uri="{FF2B5EF4-FFF2-40B4-BE49-F238E27FC236}">
                <a16:creationId xmlns:a16="http://schemas.microsoft.com/office/drawing/2014/main" id="{2E0ADD43-D793-4973-BC4B-B268DF64EC4C}"/>
              </a:ext>
            </a:extLst>
          </p:cNvPr>
          <p:cNvSpPr>
            <a:spLocks xmlns:a="http://schemas.openxmlformats.org/drawingml/2006/main" noGrp="1"/>
          </p:cNvSpPr>
          <p:nvPr/>
        </p:nvSpPr>
        <p:spPr>
          <a:xfrm xmlns:a="http://schemas.openxmlformats.org/drawingml/2006/main">
            <a:off x="6172200" y="2209800"/>
            <a:ext cx="2238375" cy="47625"/>
          </a:xfrm>
          <a:prstGeom xmlns:a="http://schemas.openxmlformats.org/drawingml/2006/main" prst="rect">
            <a:avLst/>
          </a:prstGeom>
          <a:solidFill xmlns:a="http://schemas.openxmlformats.org/drawingml/2006/main">
            <a:srgbClr val="FFBD4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9BD1369-2D5F-4308-9E62-A5426EF1D62D}"/>
              </a:ext>
            </a:extLst>
          </p:cNvPr>
          <p:cNvSpPr>
            <a:spLocks xmlns:a="http://schemas.openxmlformats.org/drawingml/2006/main" noGrp="1"/>
          </p:cNvSpPr>
          <p:nvPr/>
        </p:nvSpPr>
        <p:spPr>
          <a:xfrm xmlns:a="http://schemas.openxmlformats.org/drawingml/2006/main">
            <a:off x="6172200" y="252412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67"/>
          </a:bodyPr>
          <a:lstStyle xmlns:a="http://schemas.openxmlformats.org/drawingml/2006/main"/>
          <a:p xmlns:a="http://schemas.openxmlformats.org/drawingml/2006/main">
            <a:pPr>
              <a:defRPr sz="1875" b="1">
                <a:solidFill>
                  <a:srgbClr val="F5FAFF"/>
                </a:solidFill>
                <a:latin typeface="Bahnschrift"/>
                <a:ea typeface="Bahnschrift"/>
                <a:cs typeface="Bahnschrift"/>
              </a:defRPr>
            </a:pPr>
            <a:r>
              <a:rPr sz="1875" b="1">
                <a:solidFill>
                  <a:srgbClr val="F5FAFF"/>
                </a:solidFill>
                <a:latin typeface="Bahnschrift"/>
                <a:ea typeface="Bahnschrift"/>
                <a:cs typeface="Bahnschrift"/>
              </a:rPr>
              <a:t>DECIDE</a:t>
            </a:r>
          </a:p>
        </p:txBody>
      </p:sp>
      <p:sp>
        <p:nvSpPr>
          <p:cNvPr id="17" name="">
            <a:extLst xmlns:a="http://schemas.openxmlformats.org/drawingml/2006/main">
              <a:ext uri="{FF2B5EF4-FFF2-40B4-BE49-F238E27FC236}">
                <a16:creationId xmlns:a16="http://schemas.microsoft.com/office/drawing/2014/main" id="{70A39C2A-77FC-4AB2-BFED-618C1A1B270B}"/>
              </a:ext>
            </a:extLst>
          </p:cNvPr>
          <p:cNvSpPr>
            <a:spLocks xmlns:a="http://schemas.openxmlformats.org/drawingml/2006/main" noGrp="1"/>
          </p:cNvSpPr>
          <p:nvPr/>
        </p:nvSpPr>
        <p:spPr>
          <a:xfrm xmlns:a="http://schemas.openxmlformats.org/drawingml/2006/main">
            <a:off x="6172200" y="3048000"/>
            <a:ext cx="2238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Accept a fresh observation or quarantine an unsafe one</a:t>
            </a:r>
          </a:p>
        </p:txBody>
      </p:sp>
      <p:sp>
        <p:nvSpPr>
          <p:cNvPr id="18" name="">
            <a:extLst xmlns:a="http://schemas.openxmlformats.org/drawingml/2006/main">
              <a:ext uri="{FF2B5EF4-FFF2-40B4-BE49-F238E27FC236}">
                <a16:creationId xmlns:a16="http://schemas.microsoft.com/office/drawing/2014/main" id="{F14050C3-EC81-494F-A2B4-AA1B605A638F}"/>
              </a:ext>
            </a:extLst>
          </p:cNvPr>
          <p:cNvSpPr>
            <a:spLocks xmlns:a="http://schemas.openxmlformats.org/drawingml/2006/main" noGrp="1"/>
          </p:cNvSpPr>
          <p:nvPr/>
        </p:nvSpPr>
        <p:spPr>
          <a:xfrm xmlns:a="http://schemas.openxmlformats.org/drawingml/2006/main">
            <a:off x="8953500" y="1762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43E1A1"/>
                </a:solidFill>
                <a:latin typeface="Bahnschrift"/>
                <a:ea typeface="Bahnschrift"/>
                <a:cs typeface="Bahnschrift"/>
              </a:defRPr>
            </a:pPr>
            <a:r>
              <a:rPr sz="1275" b="1">
                <a:solidFill>
                  <a:srgbClr val="43E1A1"/>
                </a:solidFill>
                <a:latin typeface="Bahnschrift"/>
                <a:ea typeface="Bahnschrift"/>
                <a:cs typeface="Bahnschrift"/>
              </a:rPr>
              <a:t>04</a:t>
            </a:r>
          </a:p>
        </p:txBody>
      </p:sp>
      <p:sp>
        <p:nvSpPr>
          <p:cNvPr id="19" name="">
            <a:extLst xmlns:a="http://schemas.openxmlformats.org/drawingml/2006/main">
              <a:ext uri="{FF2B5EF4-FFF2-40B4-BE49-F238E27FC236}">
                <a16:creationId xmlns:a16="http://schemas.microsoft.com/office/drawing/2014/main" id="{B5A21F1E-149A-40C6-994C-27E866593585}"/>
              </a:ext>
            </a:extLst>
          </p:cNvPr>
          <p:cNvSpPr>
            <a:spLocks xmlns:a="http://schemas.openxmlformats.org/drawingml/2006/main" noGrp="1"/>
          </p:cNvSpPr>
          <p:nvPr/>
        </p:nvSpPr>
        <p:spPr>
          <a:xfrm xmlns:a="http://schemas.openxmlformats.org/drawingml/2006/main">
            <a:off x="8953500" y="2209800"/>
            <a:ext cx="2238375" cy="47625"/>
          </a:xfrm>
          <a:prstGeom xmlns:a="http://schemas.openxmlformats.org/drawingml/2006/main" prst="rect">
            <a:avLst/>
          </a:prstGeom>
          <a:solidFill xmlns:a="http://schemas.openxmlformats.org/drawingml/2006/main">
            <a:srgbClr val="43E1A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D673C48-9FEB-4CC3-9047-B4E55CA25FDC}"/>
              </a:ext>
            </a:extLst>
          </p:cNvPr>
          <p:cNvSpPr>
            <a:spLocks xmlns:a="http://schemas.openxmlformats.org/drawingml/2006/main" noGrp="1"/>
          </p:cNvSpPr>
          <p:nvPr/>
        </p:nvSpPr>
        <p:spPr>
          <a:xfrm xmlns:a="http://schemas.openxmlformats.org/drawingml/2006/main">
            <a:off x="8953500" y="252412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67"/>
          </a:bodyPr>
          <a:lstStyle xmlns:a="http://schemas.openxmlformats.org/drawingml/2006/main"/>
          <a:p xmlns:a="http://schemas.openxmlformats.org/drawingml/2006/main">
            <a:pPr>
              <a:defRPr sz="1875" b="1">
                <a:solidFill>
                  <a:srgbClr val="F5FAFF"/>
                </a:solidFill>
                <a:latin typeface="Bahnschrift"/>
                <a:ea typeface="Bahnschrift"/>
                <a:cs typeface="Bahnschrift"/>
              </a:defRPr>
            </a:pPr>
            <a:r>
              <a:rPr sz="1875" b="1">
                <a:solidFill>
                  <a:srgbClr val="F5FAFF"/>
                </a:solidFill>
                <a:latin typeface="Bahnschrift"/>
                <a:ea typeface="Bahnschrift"/>
                <a:cs typeface="Bahnschrift"/>
              </a:rPr>
              <a:t>UPDATE</a:t>
            </a:r>
          </a:p>
        </p:txBody>
      </p:sp>
      <p:sp>
        <p:nvSpPr>
          <p:cNvPr id="21" name="">
            <a:extLst xmlns:a="http://schemas.openxmlformats.org/drawingml/2006/main">
              <a:ext uri="{FF2B5EF4-FFF2-40B4-BE49-F238E27FC236}">
                <a16:creationId xmlns:a16="http://schemas.microsoft.com/office/drawing/2014/main" id="{00DD370A-441B-43A6-88F9-1120C010CCC3}"/>
              </a:ext>
            </a:extLst>
          </p:cNvPr>
          <p:cNvSpPr>
            <a:spLocks xmlns:a="http://schemas.openxmlformats.org/drawingml/2006/main" noGrp="1"/>
          </p:cNvSpPr>
          <p:nvPr/>
        </p:nvSpPr>
        <p:spPr>
          <a:xfrm xmlns:a="http://schemas.openxmlformats.org/drawingml/2006/main">
            <a:off x="8953500" y="3048000"/>
            <a:ext cx="2238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Advance the route only from valid ordered data</a:t>
            </a:r>
          </a:p>
        </p:txBody>
      </p:sp>
      <p:sp>
        <p:nvSpPr>
          <p:cNvPr id="22" name="">
            <a:extLst xmlns:a="http://schemas.openxmlformats.org/drawingml/2006/main">
              <a:ext uri="{FF2B5EF4-FFF2-40B4-BE49-F238E27FC236}">
                <a16:creationId xmlns:a16="http://schemas.microsoft.com/office/drawing/2014/main" id="{B48430E1-49F1-496E-B87B-C87E679FAC19}"/>
              </a:ext>
            </a:extLst>
          </p:cNvPr>
          <p:cNvSpPr>
            <a:spLocks xmlns:a="http://schemas.openxmlformats.org/drawingml/2006/main" noGrp="1"/>
          </p:cNvSpPr>
          <p:nvPr/>
        </p:nvSpPr>
        <p:spPr>
          <a:xfrm xmlns:a="http://schemas.openxmlformats.org/drawingml/2006/main">
            <a:off x="609600" y="4476750"/>
            <a:ext cx="10668000" cy="19050"/>
          </a:xfrm>
          <a:prstGeom xmlns:a="http://schemas.openxmlformats.org/drawingml/2006/main" prst="rect">
            <a:avLst/>
          </a:prstGeom>
          <a:solidFill xmlns:a="http://schemas.openxmlformats.org/drawingml/2006/main">
            <a:srgbClr val="21436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325CACB-9A7D-409B-9648-16FD9C8E7D3C}"/>
              </a:ext>
            </a:extLst>
          </p:cNvPr>
          <p:cNvSpPr>
            <a:spLocks xmlns:a="http://schemas.openxmlformats.org/drawingml/2006/main" noGrp="1"/>
          </p:cNvSpPr>
          <p:nvPr/>
        </p:nvSpPr>
        <p:spPr>
          <a:xfrm xmlns:a="http://schemas.openxmlformats.org/drawingml/2006/main">
            <a:off x="609600" y="4810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33"/>
          </a:bodyPr>
          <a:lstStyle xmlns:a="http://schemas.openxmlformats.org/drawingml/2006/main"/>
          <a:p xmlns:a="http://schemas.openxmlformats.org/drawingml/2006/main">
            <a:pPr>
              <a:defRPr sz="1875" b="1">
                <a:solidFill>
                  <a:srgbClr val="806BFF"/>
                </a:solidFill>
                <a:latin typeface="Bahnschrift"/>
                <a:ea typeface="Bahnschrift"/>
                <a:cs typeface="Bahnschrift"/>
              </a:defRPr>
            </a:pPr>
            <a:r>
              <a:rPr sz="1875" b="1">
                <a:solidFill>
                  <a:srgbClr val="806BFF"/>
                </a:solidFill>
                <a:latin typeface="Bahnschrift"/>
                <a:ea typeface="Bahnschrift"/>
                <a:cs typeface="Bahnschrift"/>
              </a:rPr>
              <a:t>Additional safeguards</a:t>
            </a:r>
          </a:p>
        </p:txBody>
      </p:sp>
      <p:sp>
        <p:nvSpPr>
          <p:cNvPr id="24" name="">
            <a:extLst xmlns:a="http://schemas.openxmlformats.org/drawingml/2006/main">
              <a:ext uri="{FF2B5EF4-FFF2-40B4-BE49-F238E27FC236}">
                <a16:creationId xmlns:a16="http://schemas.microsoft.com/office/drawing/2014/main" id="{5821727F-988A-41CA-BD45-CB363C8BDAA1}"/>
              </a:ext>
            </a:extLst>
          </p:cNvPr>
          <p:cNvSpPr>
            <a:spLocks xmlns:a="http://schemas.openxmlformats.org/drawingml/2006/main" noGrp="1"/>
          </p:cNvSpPr>
          <p:nvPr/>
        </p:nvSpPr>
        <p:spPr>
          <a:xfrm xmlns:a="http://schemas.openxmlformats.org/drawingml/2006/main">
            <a:off x="3714750" y="4762500"/>
            <a:ext cx="752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0">
                <a:solidFill>
                  <a:srgbClr val="F5FAFF"/>
                </a:solidFill>
                <a:latin typeface="Segoe UI"/>
                <a:ea typeface="Segoe UI"/>
                <a:cs typeface="Segoe UI"/>
              </a:defRPr>
            </a:pPr>
            <a:r>
              <a:rPr sz="1725" b="0">
                <a:solidFill>
                  <a:srgbClr val="F5FAFF"/>
                </a:solidFill>
                <a:latin typeface="Segoe UI"/>
                <a:ea typeface="Segoe UI"/>
                <a:cs typeface="Segoe UI"/>
              </a:rPr>
              <a:t>Older observations cannot move the route backward. A route reset waits for a fresh arrival at its selected first stop. The real bus marker stays at its last-known coordinate.</a:t>
            </a:r>
          </a:p>
        </p:txBody>
      </p:sp>
    </p:spTree>
    <p:extLst>
      <p:ext uri="{BB962C8B-B14F-4D97-AF65-F5344CB8AC3E}">
        <p14:creationId xmlns:p14="http://schemas.microsoft.com/office/powerpoint/2010/main" val="1096367896"/>
      </p:ext>
    </p:extLst>
  </p:cSld>
</p:sld>
</file>

<file path=ppt/slides/slide10.xml><?xml version="1.0" encoding="utf-8"?>
<p:sld xmlns:p="http://schemas.openxmlformats.org/presentationml/2006/main">
  <p:cSld>
    <p:bg>
      <p:bgPr>
        <a:solidFill xmlns:a="http://schemas.openxmlformats.org/drawingml/2006/main">
          <a:srgbClr val="06172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E5AAAB-6182-4BB5-AE37-1F1DF1F20B00}"/>
              </a:ext>
            </a:extLst>
          </p:cNvPr>
          <p:cNvSpPr>
            <a:spLocks xmlns:a="http://schemas.openxmlformats.org/drawingml/2006/main" noGrp="1"/>
          </p:cNvSpPr>
          <p:nvPr/>
        </p:nvSpPr>
        <p:spPr>
          <a:xfrm xmlns:a="http://schemas.openxmlformats.org/drawingml/2006/main">
            <a:off x="609600" y="266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3AD6FF"/>
                </a:solidFill>
                <a:latin typeface="Bahnschrift"/>
                <a:ea typeface="Bahnschrift"/>
                <a:cs typeface="Bahnschrift"/>
              </a:defRPr>
            </a:pPr>
            <a:r>
              <a:rPr sz="1200" b="1">
                <a:solidFill>
                  <a:srgbClr val="3AD6FF"/>
                </a:solidFill>
                <a:latin typeface="Bahnschrift"/>
                <a:ea typeface="Bahnschrift"/>
                <a:cs typeface="Bahnschrift"/>
              </a:rPr>
              <a:t>10</a:t>
            </a:r>
          </a:p>
        </p:txBody>
      </p:sp>
      <p:sp>
        <p:nvSpPr>
          <p:cNvPr id="2" name="">
            <a:extLst xmlns:a="http://schemas.openxmlformats.org/drawingml/2006/main">
              <a:ext uri="{FF2B5EF4-FFF2-40B4-BE49-F238E27FC236}">
                <a16:creationId xmlns:a16="http://schemas.microsoft.com/office/drawing/2014/main" id="{B3F01A73-7F31-4A2F-8675-B8203B63A19D}"/>
              </a:ext>
            </a:extLst>
          </p:cNvPr>
          <p:cNvSpPr>
            <a:spLocks xmlns:a="http://schemas.openxmlformats.org/drawingml/2006/main" noGrp="1"/>
          </p:cNvSpPr>
          <p:nvPr/>
        </p:nvSpPr>
        <p:spPr>
          <a:xfrm xmlns:a="http://schemas.openxmlformats.org/drawingml/2006/main">
            <a:off x="609600" y="5715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58"/>
          </a:bodyPr>
          <a:lstStyle xmlns:a="http://schemas.openxmlformats.org/drawingml/2006/main"/>
          <a:p xmlns:a="http://schemas.openxmlformats.org/drawingml/2006/main">
            <a:pPr>
              <a:defRPr sz="3450" b="1">
                <a:solidFill>
                  <a:srgbClr val="F5FAFF"/>
                </a:solidFill>
                <a:latin typeface="Bahnschrift"/>
                <a:ea typeface="Bahnschrift"/>
                <a:cs typeface="Bahnschrift"/>
              </a:defRPr>
            </a:pPr>
            <a:r>
              <a:rPr sz="3450" b="1">
                <a:solidFill>
                  <a:srgbClr val="F5FAFF"/>
                </a:solidFill>
                <a:latin typeface="Bahnschrift"/>
                <a:ea typeface="Bahnschrift"/>
                <a:cs typeface="Bahnschrift"/>
              </a:rPr>
              <a:t>Three approaches to campus tracking</a:t>
            </a:r>
          </a:p>
        </p:txBody>
      </p:sp>
      <p:sp>
        <p:nvSpPr>
          <p:cNvPr id="3" name="">
            <a:extLst xmlns:a="http://schemas.openxmlformats.org/drawingml/2006/main">
              <a:ext uri="{FF2B5EF4-FFF2-40B4-BE49-F238E27FC236}">
                <a16:creationId xmlns:a16="http://schemas.microsoft.com/office/drawing/2014/main" id="{307AD728-8DC0-411A-8034-76738069DF3A}"/>
              </a:ext>
            </a:extLst>
          </p:cNvPr>
          <p:cNvSpPr>
            <a:spLocks xmlns:a="http://schemas.openxmlformats.org/drawingml/2006/main" noGrp="1"/>
          </p:cNvSpPr>
          <p:nvPr/>
        </p:nvSpPr>
        <p:spPr>
          <a:xfrm xmlns:a="http://schemas.openxmlformats.org/drawingml/2006/main">
            <a:off x="609600" y="1209675"/>
            <a:ext cx="819150" cy="38100"/>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60CC6F-E124-4864-B1FC-93AB5BF301B2}"/>
              </a:ext>
            </a:extLst>
          </p:cNvPr>
          <p:cNvSpPr>
            <a:spLocks xmlns:a="http://schemas.openxmlformats.org/drawingml/2006/main" noGrp="1"/>
          </p:cNvSpPr>
          <p:nvPr/>
        </p:nvSpPr>
        <p:spPr>
          <a:xfrm xmlns:a="http://schemas.openxmlformats.org/drawingml/2006/main">
            <a:off x="1666875" y="1104900"/>
            <a:ext cx="919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The college currently operates without a tracking system</a:t>
            </a:r>
          </a:p>
        </p:txBody>
      </p:sp>
      <p:sp>
        <p:nvSpPr>
          <p:cNvPr id="5" name="">
            <a:extLst xmlns:a="http://schemas.openxmlformats.org/drawingml/2006/main">
              <a:ext uri="{FF2B5EF4-FFF2-40B4-BE49-F238E27FC236}">
                <a16:creationId xmlns:a16="http://schemas.microsoft.com/office/drawing/2014/main" id="{F5CB101A-13DF-46F0-9C65-00A671391722}"/>
              </a:ext>
            </a:extLst>
          </p:cNvPr>
          <p:cNvSpPr>
            <a:spLocks xmlns:a="http://schemas.openxmlformats.org/drawingml/2006/main" noGrp="1"/>
          </p:cNvSpPr>
          <p:nvPr/>
        </p:nvSpPr>
        <p:spPr>
          <a:xfrm xmlns:a="http://schemas.openxmlformats.org/drawingml/2006/main">
            <a:off x="11334750" y="64389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0000"/>
          </a:bodyPr>
          <a:lstStyle xmlns:a="http://schemas.openxmlformats.org/drawingml/2006/main"/>
          <a:p xmlns:a="http://schemas.openxmlformats.org/drawingml/2006/main">
            <a:pPr>
              <a:defRPr sz="1050" b="0">
                <a:solidFill>
                  <a:srgbClr val="6E8AA0"/>
                </a:solidFill>
                <a:latin typeface="Segoe UI"/>
                <a:ea typeface="Segoe UI"/>
                <a:cs typeface="Segoe UI"/>
              </a:defRPr>
            </a:pPr>
            <a:r>
              <a:rPr sz="1050" b="0">
                <a:solidFill>
                  <a:srgbClr val="6E8AA0"/>
                </a:solidFill>
                <a:latin typeface="Segoe UI"/>
                <a:ea typeface="Segoe UI"/>
                <a:cs typeface="Segoe UI"/>
              </a:rPr>
              <a:t>10</a:t>
            </a:r>
          </a:p>
        </p:txBody>
      </p:sp>
      <p:graphicFrame>
        <p:nvGraphicFramePr>
          <p:cNvPr id="13" name=""/>
          <p:cNvGraphicFramePr/>
          <p:nvPr/>
        </p:nvGraphicFramePr>
        <p:xfrm>
          <a:off xmlns:a="http://schemas.openxmlformats.org/drawingml/2006/main" x="590550" y="1666875"/>
          <a:ext xmlns:a="http://schemas.openxmlformats.org/drawingml/2006/main" cx="11001375" cy="4191000"/>
        </p:xfrm>
        <a:graphic xmlns:a="http://schemas.openxmlformats.org/drawingml/2006/main">
          <a:graphicData uri="http://schemas.openxmlformats.org/drawingml/2006/table">
            <a:tbl>
              <a:tblPr/>
              <a:tblGrid>
                <a:gridCol w="1714500"/>
                <a:gridCol w="2476500"/>
                <a:gridCol w="2905125"/>
                <a:gridCol w="3905250"/>
              </a:tblGrid>
              <a:tr h="598714">
                <a:tc>
                  <a:txBody>
                    <a:bodyPr>
                      <a:normAutofit/>
                    </a:bodyPr>
                    <a:lstStyle/>
                    <a:p>
                      <a:r>
                        <a:rPr sz="1575" b="1">
                          <a:solidFill>
                            <a:srgbClr val="F5FAFF"/>
                          </a:solidFill>
                          <a:latin typeface="Bahnschrift"/>
                          <a:ea typeface="Bahnschrift"/>
                          <a:cs typeface="Bahnschrift"/>
                        </a:rPr>
                        <a:t>Capability</a:t>
                      </a:r>
                    </a:p>
                  </a:txBody>
                  <a:tcPr marL="91440" marR="91440" marT="45720" marB="45720" anchor="ctr">
                    <a:solidFill>
                      <a:srgbClr val="12385F"/>
                    </a:solidFill>
                  </a:tcPr>
                </a:tc>
                <a:tc>
                  <a:txBody>
                    <a:bodyPr>
                      <a:normAutofit/>
                    </a:bodyPr>
                    <a:lstStyle/>
                    <a:p>
                      <a:r>
                        <a:rPr sz="1575" b="1">
                          <a:solidFill>
                            <a:srgbClr val="F5FAFF"/>
                          </a:solidFill>
                          <a:latin typeface="Bahnschrift"/>
                          <a:ea typeface="Bahnschrift"/>
                          <a:cs typeface="Bahnschrift"/>
                        </a:rPr>
                        <a:t>Current situation</a:t>
                      </a:r>
                    </a:p>
                  </a:txBody>
                  <a:tcPr marL="91440" marR="91440" marT="45720" marB="45720" anchor="ctr">
                    <a:solidFill>
                      <a:srgbClr val="12385F"/>
                    </a:solidFill>
                  </a:tcPr>
                </a:tc>
                <a:tc>
                  <a:txBody>
                    <a:bodyPr>
                      <a:normAutofit/>
                    </a:bodyPr>
                    <a:lstStyle/>
                    <a:p>
                      <a:r>
                        <a:rPr sz="1575" b="1">
                          <a:solidFill>
                            <a:srgbClr val="F5FAFF"/>
                          </a:solidFill>
                          <a:latin typeface="Bahnschrift"/>
                          <a:ea typeface="Bahnschrift"/>
                          <a:cs typeface="Bahnschrift"/>
                        </a:rPr>
                        <a:t>Possible WhatsApp workaround</a:t>
                      </a:r>
                    </a:p>
                  </a:txBody>
                  <a:tcPr marL="91440" marR="91440" marT="45720" marB="45720" anchor="ctr">
                    <a:solidFill>
                      <a:srgbClr val="12385F"/>
                    </a:solidFill>
                  </a:tcPr>
                </a:tc>
                <a:tc>
                  <a:txBody>
                    <a:bodyPr>
                      <a:normAutofit/>
                    </a:bodyPr>
                    <a:lstStyle/>
                    <a:p>
                      <a:r>
                        <a:rPr sz="1575" b="1">
                          <a:solidFill>
                            <a:srgbClr val="F5FAFF"/>
                          </a:solidFill>
                          <a:latin typeface="Bahnschrift"/>
                          <a:ea typeface="Bahnschrift"/>
                          <a:cs typeface="Bahnschrift"/>
                        </a:rPr>
                        <a:t>BusTrack</a:t>
                      </a:r>
                    </a:p>
                  </a:txBody>
                  <a:tcPr marL="91440" marR="91440" marT="45720" marB="45720" anchor="ctr">
                    <a:solidFill>
                      <a:srgbClr val="12385F"/>
                    </a:solidFill>
                  </a:tcPr>
                </a:tc>
              </a:tr>
              <a:tr h="598714">
                <a:tc>
                  <a:txBody>
                    <a:bodyPr>
                      <a:normAutofit/>
                    </a:bodyPr>
                    <a:lstStyle/>
                    <a:p>
                      <a:r>
                        <a:rPr sz="1425" b="1">
                          <a:solidFill>
                            <a:srgbClr val="A9C1D3"/>
                          </a:solidFill>
                          <a:latin typeface="Bahnschrift"/>
                          <a:ea typeface="Bahnschrift"/>
                          <a:cs typeface="Bahnschrift"/>
                        </a:rPr>
                        <a:t>Live visibility</a:t>
                      </a:r>
                    </a:p>
                  </a:txBody>
                  <a:tcPr marL="91440" marR="91440" marT="45720" marB="45720" anchor="ctr">
                    <a:solidFill>
                      <a:srgbClr val="0B2747"/>
                    </a:solidFill>
                  </a:tcPr>
                </a:tc>
                <a:tc>
                  <a:txBody>
                    <a:bodyPr>
                      <a:normAutofit/>
                    </a:bodyPr>
                    <a:lstStyle/>
                    <a:p>
                      <a:r>
                        <a:rPr sz="1425" b="0">
                          <a:solidFill>
                            <a:srgbClr val="A9C1D3"/>
                          </a:solidFill>
                          <a:latin typeface="Segoe UI"/>
                          <a:ea typeface="Segoe UI"/>
                          <a:cs typeface="Segoe UI"/>
                        </a:rPr>
                        <a:t>No shared live view</a:t>
                      </a:r>
                    </a:p>
                  </a:txBody>
                  <a:tcPr marL="91440" marR="91440" marT="45720" marB="45720" anchor="ctr">
                    <a:solidFill>
                      <a:srgbClr val="0B2747"/>
                    </a:solidFill>
                  </a:tcPr>
                </a:tc>
                <a:tc>
                  <a:txBody>
                    <a:bodyPr>
                      <a:normAutofit/>
                    </a:bodyPr>
                    <a:lstStyle/>
                    <a:p>
                      <a:r>
                        <a:rPr sz="1425" b="0">
                          <a:solidFill>
                            <a:srgbClr val="A9C1D3"/>
                          </a:solidFill>
                          <a:latin typeface="Segoe UI"/>
                          <a:ea typeface="Segoe UI"/>
                          <a:cs typeface="Segoe UI"/>
                        </a:rPr>
                        <a:t>Someone manually shares phone location</a:t>
                      </a:r>
                    </a:p>
                  </a:txBody>
                  <a:tcPr marL="91440" marR="91440" marT="45720" marB="45720" anchor="ctr">
                    <a:solidFill>
                      <a:srgbClr val="0B2747"/>
                    </a:solidFill>
                  </a:tcPr>
                </a:tc>
                <a:tc>
                  <a:txBody>
                    <a:bodyPr>
                      <a:normAutofit/>
                    </a:bodyPr>
                    <a:lstStyle/>
                    <a:p>
                      <a:r>
                        <a:rPr sz="1425" b="1">
                          <a:solidFill>
                            <a:srgbClr val="9EEBFF"/>
                          </a:solidFill>
                          <a:latin typeface="Segoe UI"/>
                          <a:ea typeface="Segoe UI"/>
                          <a:cs typeface="Segoe UI"/>
                        </a:rPr>
                        <a:t>Vehicle GPS with phone continuity</a:t>
                      </a:r>
                    </a:p>
                  </a:txBody>
                  <a:tcPr marL="91440" marR="91440" marT="45720" marB="45720" anchor="ctr">
                    <a:solidFill>
                      <a:srgbClr val="0D354E"/>
                    </a:solidFill>
                  </a:tcPr>
                </a:tc>
              </a:tr>
              <a:tr h="598714">
                <a:tc>
                  <a:txBody>
                    <a:bodyPr>
                      <a:normAutofit/>
                    </a:bodyPr>
                    <a:lstStyle/>
                    <a:p>
                      <a:r>
                        <a:rPr sz="1425" b="1">
                          <a:solidFill>
                            <a:srgbClr val="A9C1D3"/>
                          </a:solidFill>
                          <a:latin typeface="Bahnschrift"/>
                          <a:ea typeface="Bahnschrift"/>
                          <a:cs typeface="Bahnschrift"/>
                        </a:rPr>
                        <a:t>Stop progress</a:t>
                      </a:r>
                    </a:p>
                  </a:txBody>
                  <a:tcPr marL="91440" marR="91440" marT="45720" marB="45720" anchor="ctr">
                    <a:solidFill>
                      <a:srgbClr val="0B2747"/>
                    </a:solidFill>
                  </a:tcPr>
                </a:tc>
                <a:tc>
                  <a:txBody>
                    <a:bodyPr>
                      <a:normAutofit/>
                    </a:bodyPr>
                    <a:lstStyle/>
                    <a:p>
                      <a:r>
                        <a:rPr sz="1425" b="0">
                          <a:solidFill>
                            <a:srgbClr val="A9C1D3"/>
                          </a:solidFill>
                          <a:latin typeface="Segoe UI"/>
                          <a:ea typeface="Segoe UI"/>
                          <a:cs typeface="Segoe UI"/>
                        </a:rPr>
                        <a:t>Students estimate</a:t>
                      </a:r>
                    </a:p>
                  </a:txBody>
                  <a:tcPr marL="91440" marR="91440" marT="45720" marB="45720" anchor="ctr">
                    <a:solidFill>
                      <a:srgbClr val="0B2747"/>
                    </a:solidFill>
                  </a:tcPr>
                </a:tc>
                <a:tc>
                  <a:txBody>
                    <a:bodyPr>
                      <a:normAutofit/>
                    </a:bodyPr>
                    <a:lstStyle/>
                    <a:p>
                      <a:r>
                        <a:rPr sz="1425" b="0">
                          <a:solidFill>
                            <a:srgbClr val="A9C1D3"/>
                          </a:solidFill>
                          <a:latin typeface="Segoe UI"/>
                          <a:ea typeface="Segoe UI"/>
                          <a:cs typeface="Segoe UI"/>
                        </a:rPr>
                        <a:t>A map pin without route meaning</a:t>
                      </a:r>
                    </a:p>
                  </a:txBody>
                  <a:tcPr marL="91440" marR="91440" marT="45720" marB="45720" anchor="ctr">
                    <a:solidFill>
                      <a:srgbClr val="0B2747"/>
                    </a:solidFill>
                  </a:tcPr>
                </a:tc>
                <a:tc>
                  <a:txBody>
                    <a:bodyPr>
                      <a:normAutofit/>
                    </a:bodyPr>
                    <a:lstStyle/>
                    <a:p>
                      <a:r>
                        <a:rPr sz="1425" b="1">
                          <a:solidFill>
                            <a:srgbClr val="9EEBFF"/>
                          </a:solidFill>
                          <a:latin typeface="Segoe UI"/>
                          <a:ea typeface="Segoe UI"/>
                          <a:cs typeface="Segoe UI"/>
                        </a:rPr>
                        <a:t>Approaching, reached, passed and upcoming</a:t>
                      </a:r>
                    </a:p>
                  </a:txBody>
                  <a:tcPr marL="91440" marR="91440" marT="45720" marB="45720" anchor="ctr">
                    <a:solidFill>
                      <a:srgbClr val="0D354E"/>
                    </a:solidFill>
                  </a:tcPr>
                </a:tc>
              </a:tr>
              <a:tr h="598714">
                <a:tc>
                  <a:txBody>
                    <a:bodyPr>
                      <a:normAutofit/>
                    </a:bodyPr>
                    <a:lstStyle/>
                    <a:p>
                      <a:r>
                        <a:rPr sz="1425" b="1">
                          <a:solidFill>
                            <a:srgbClr val="A9C1D3"/>
                          </a:solidFill>
                          <a:latin typeface="Bahnschrift"/>
                          <a:ea typeface="Bahnschrift"/>
                          <a:cs typeface="Bahnschrift"/>
                        </a:rPr>
                        <a:t>Freshness</a:t>
                      </a:r>
                    </a:p>
                  </a:txBody>
                  <a:tcPr marL="91440" marR="91440" marT="45720" marB="45720" anchor="ctr">
                    <a:solidFill>
                      <a:srgbClr val="0B2747"/>
                    </a:solidFill>
                  </a:tcPr>
                </a:tc>
                <a:tc>
                  <a:txBody>
                    <a:bodyPr>
                      <a:normAutofit/>
                    </a:bodyPr>
                    <a:lstStyle/>
                    <a:p>
                      <a:r>
                        <a:rPr sz="1425" b="0">
                          <a:solidFill>
                            <a:srgbClr val="A9C1D3"/>
                          </a:solidFill>
                          <a:latin typeface="Segoe UI"/>
                          <a:ea typeface="Segoe UI"/>
                          <a:cs typeface="Segoe UI"/>
                        </a:rPr>
                        <a:t>Unknown</a:t>
                      </a:r>
                    </a:p>
                  </a:txBody>
                  <a:tcPr marL="91440" marR="91440" marT="45720" marB="45720" anchor="ctr">
                    <a:solidFill>
                      <a:srgbClr val="0B2747"/>
                    </a:solidFill>
                  </a:tcPr>
                </a:tc>
                <a:tc>
                  <a:txBody>
                    <a:bodyPr>
                      <a:normAutofit/>
                    </a:bodyPr>
                    <a:lstStyle/>
                    <a:p>
                      <a:r>
                        <a:rPr sz="1425" b="0">
                          <a:solidFill>
                            <a:srgbClr val="A9C1D3"/>
                          </a:solidFill>
                          <a:latin typeface="Segoe UI"/>
                          <a:ea typeface="Segoe UI"/>
                          <a:cs typeface="Segoe UI"/>
                        </a:rPr>
                        <a:t>Depends on the sender and phone</a:t>
                      </a:r>
                    </a:p>
                  </a:txBody>
                  <a:tcPr marL="91440" marR="91440" marT="45720" marB="45720" anchor="ctr">
                    <a:solidFill>
                      <a:srgbClr val="0B2747"/>
                    </a:solidFill>
                  </a:tcPr>
                </a:tc>
                <a:tc>
                  <a:txBody>
                    <a:bodyPr>
                      <a:normAutofit/>
                    </a:bodyPr>
                    <a:lstStyle/>
                    <a:p>
                      <a:r>
                        <a:rPr sz="1425" b="1">
                          <a:solidFill>
                            <a:srgbClr val="9EEBFF"/>
                          </a:solidFill>
                          <a:latin typeface="Segoe UI"/>
                          <a:ea typeface="Segoe UI"/>
                          <a:cs typeface="Segoe UI"/>
                        </a:rPr>
                        <a:t>Device time, receipt time and stale warning</a:t>
                      </a:r>
                    </a:p>
                  </a:txBody>
                  <a:tcPr marL="91440" marR="91440" marT="45720" marB="45720" anchor="ctr">
                    <a:solidFill>
                      <a:srgbClr val="0D354E"/>
                    </a:solidFill>
                  </a:tcPr>
                </a:tc>
              </a:tr>
              <a:tr h="598714">
                <a:tc>
                  <a:txBody>
                    <a:bodyPr>
                      <a:normAutofit/>
                    </a:bodyPr>
                    <a:lstStyle/>
                    <a:p>
                      <a:r>
                        <a:rPr sz="1425" b="1">
                          <a:solidFill>
                            <a:srgbClr val="A9C1D3"/>
                          </a:solidFill>
                          <a:latin typeface="Bahnschrift"/>
                          <a:ea typeface="Bahnschrift"/>
                          <a:cs typeface="Bahnschrift"/>
                        </a:rPr>
                        <a:t>Fleet records</a:t>
                      </a:r>
                    </a:p>
                  </a:txBody>
                  <a:tcPr marL="91440" marR="91440" marT="45720" marB="45720" anchor="ctr">
                    <a:solidFill>
                      <a:srgbClr val="0B2747"/>
                    </a:solidFill>
                  </a:tcPr>
                </a:tc>
                <a:tc>
                  <a:txBody>
                    <a:bodyPr>
                      <a:normAutofit/>
                    </a:bodyPr>
                    <a:lstStyle/>
                    <a:p>
                      <a:r>
                        <a:rPr sz="1425" b="0">
                          <a:solidFill>
                            <a:srgbClr val="A9C1D3"/>
                          </a:solidFill>
                          <a:latin typeface="Segoe UI"/>
                          <a:ea typeface="Segoe UI"/>
                          <a:cs typeface="Segoe UI"/>
                        </a:rPr>
                        <a:t>No structured history</a:t>
                      </a:r>
                    </a:p>
                  </a:txBody>
                  <a:tcPr marL="91440" marR="91440" marT="45720" marB="45720" anchor="ctr">
                    <a:solidFill>
                      <a:srgbClr val="0B2747"/>
                    </a:solidFill>
                  </a:tcPr>
                </a:tc>
                <a:tc>
                  <a:txBody>
                    <a:bodyPr>
                      <a:normAutofit/>
                    </a:bodyPr>
                    <a:lstStyle/>
                    <a:p>
                      <a:r>
                        <a:rPr sz="1425" b="0">
                          <a:solidFill>
                            <a:srgbClr val="A9C1D3"/>
                          </a:solidFill>
                          <a:latin typeface="Segoe UI"/>
                          <a:ea typeface="Segoe UI"/>
                          <a:cs typeface="Segoe UI"/>
                        </a:rPr>
                        <a:t>Messages remain scattered in chats</a:t>
                      </a:r>
                    </a:p>
                  </a:txBody>
                  <a:tcPr marL="91440" marR="91440" marT="45720" marB="45720" anchor="ctr">
                    <a:solidFill>
                      <a:srgbClr val="0B2747"/>
                    </a:solidFill>
                  </a:tcPr>
                </a:tc>
                <a:tc>
                  <a:txBody>
                    <a:bodyPr>
                      <a:normAutofit/>
                    </a:bodyPr>
                    <a:lstStyle/>
                    <a:p>
                      <a:r>
                        <a:rPr sz="1425" b="1">
                          <a:solidFill>
                            <a:srgbClr val="9EEBFF"/>
                          </a:solidFill>
                          <a:latin typeface="Segoe UI"/>
                          <a:ea typeface="Segoe UI"/>
                          <a:cs typeface="Segoe UI"/>
                        </a:rPr>
                        <a:t>Searchable trips and stop events</a:t>
                      </a:r>
                    </a:p>
                  </a:txBody>
                  <a:tcPr marL="91440" marR="91440" marT="45720" marB="45720" anchor="ctr">
                    <a:solidFill>
                      <a:srgbClr val="0D354E"/>
                    </a:solidFill>
                  </a:tcPr>
                </a:tc>
              </a:tr>
              <a:tr h="598714">
                <a:tc>
                  <a:txBody>
                    <a:bodyPr>
                      <a:normAutofit/>
                    </a:bodyPr>
                    <a:lstStyle/>
                    <a:p>
                      <a:r>
                        <a:rPr sz="1425" b="1">
                          <a:solidFill>
                            <a:srgbClr val="A9C1D3"/>
                          </a:solidFill>
                          <a:latin typeface="Bahnschrift"/>
                          <a:ea typeface="Bahnschrift"/>
                          <a:cs typeface="Bahnschrift"/>
                        </a:rPr>
                        <a:t>Operations</a:t>
                      </a:r>
                    </a:p>
                  </a:txBody>
                  <a:tcPr marL="91440" marR="91440" marT="45720" marB="45720" anchor="ctr">
                    <a:solidFill>
                      <a:srgbClr val="0B2747"/>
                    </a:solidFill>
                  </a:tcPr>
                </a:tc>
                <a:tc>
                  <a:txBody>
                    <a:bodyPr>
                      <a:normAutofit/>
                    </a:bodyPr>
                    <a:lstStyle/>
                    <a:p>
                      <a:r>
                        <a:rPr sz="1425" b="0">
                          <a:solidFill>
                            <a:srgbClr val="A9C1D3"/>
                          </a:solidFill>
                          <a:latin typeface="Segoe UI"/>
                          <a:ea typeface="Segoe UI"/>
                          <a:cs typeface="Segoe UI"/>
                        </a:rPr>
                        <a:t>Calls and informal updates</a:t>
                      </a:r>
                    </a:p>
                  </a:txBody>
                  <a:tcPr marL="91440" marR="91440" marT="45720" marB="45720" anchor="ctr">
                    <a:solidFill>
                      <a:srgbClr val="0B2747"/>
                    </a:solidFill>
                  </a:tcPr>
                </a:tc>
                <a:tc>
                  <a:txBody>
                    <a:bodyPr>
                      <a:normAutofit/>
                    </a:bodyPr>
                    <a:lstStyle/>
                    <a:p>
                      <a:r>
                        <a:rPr sz="1425" b="0">
                          <a:solidFill>
                            <a:srgbClr val="A9C1D3"/>
                          </a:solidFill>
                          <a:latin typeface="Segoe UI"/>
                          <a:ea typeface="Segoe UI"/>
                          <a:cs typeface="Segoe UI"/>
                        </a:rPr>
                        <a:t>Multiple groups and repeated messages</a:t>
                      </a:r>
                    </a:p>
                  </a:txBody>
                  <a:tcPr marL="91440" marR="91440" marT="45720" marB="45720" anchor="ctr">
                    <a:solidFill>
                      <a:srgbClr val="0B2747"/>
                    </a:solidFill>
                  </a:tcPr>
                </a:tc>
                <a:tc>
                  <a:txBody>
                    <a:bodyPr>
                      <a:normAutofit/>
                    </a:bodyPr>
                    <a:lstStyle/>
                    <a:p>
                      <a:r>
                        <a:rPr sz="1425" b="1">
                          <a:solidFill>
                            <a:srgbClr val="9EEBFF"/>
                          </a:solidFill>
                          <a:latin typeface="Segoe UI"/>
                          <a:ea typeface="Segoe UI"/>
                          <a:cs typeface="Segoe UI"/>
                        </a:rPr>
                        <a:t>Role portals, alerts and assignments</a:t>
                      </a:r>
                    </a:p>
                  </a:txBody>
                  <a:tcPr marL="91440" marR="91440" marT="45720" marB="45720" anchor="ctr">
                    <a:solidFill>
                      <a:srgbClr val="0D354E"/>
                    </a:solidFill>
                  </a:tcPr>
                </a:tc>
              </a:tr>
              <a:tr h="598714">
                <a:tc>
                  <a:txBody>
                    <a:bodyPr>
                      <a:normAutofit/>
                    </a:bodyPr>
                    <a:lstStyle/>
                    <a:p>
                      <a:r>
                        <a:rPr sz="1425" b="1">
                          <a:solidFill>
                            <a:srgbClr val="A9C1D3"/>
                          </a:solidFill>
                          <a:latin typeface="Bahnschrift"/>
                          <a:ea typeface="Bahnschrift"/>
                          <a:cs typeface="Bahnschrift"/>
                        </a:rPr>
                        <a:t>Boarding</a:t>
                      </a:r>
                    </a:p>
                  </a:txBody>
                  <a:tcPr marL="91440" marR="91440" marT="45720" marB="45720" anchor="ctr">
                    <a:solidFill>
                      <a:srgbClr val="0B2747"/>
                    </a:solidFill>
                  </a:tcPr>
                </a:tc>
                <a:tc>
                  <a:txBody>
                    <a:bodyPr>
                      <a:normAutofit/>
                    </a:bodyPr>
                    <a:lstStyle/>
                    <a:p>
                      <a:r>
                        <a:rPr sz="1425" b="0">
                          <a:solidFill>
                            <a:srgbClr val="A9C1D3"/>
                          </a:solidFill>
                          <a:latin typeface="Segoe UI"/>
                          <a:ea typeface="Segoe UI"/>
                          <a:cs typeface="Segoe UI"/>
                        </a:rPr>
                        <a:t>Manual identification</a:t>
                      </a:r>
                    </a:p>
                  </a:txBody>
                  <a:tcPr marL="91440" marR="91440" marT="45720" marB="45720" anchor="ctr">
                    <a:solidFill>
                      <a:srgbClr val="0B2747"/>
                    </a:solidFill>
                  </a:tcPr>
                </a:tc>
                <a:tc>
                  <a:txBody>
                    <a:bodyPr>
                      <a:normAutofit/>
                    </a:bodyPr>
                    <a:lstStyle/>
                    <a:p>
                      <a:r>
                        <a:rPr sz="1425" b="0">
                          <a:solidFill>
                            <a:srgbClr val="A9C1D3"/>
                          </a:solidFill>
                          <a:latin typeface="Segoe UI"/>
                          <a:ea typeface="Segoe UI"/>
                          <a:cs typeface="Segoe UI"/>
                        </a:rPr>
                        <a:t>Separate from tracking</a:t>
                      </a:r>
                    </a:p>
                  </a:txBody>
                  <a:tcPr marL="91440" marR="91440" marT="45720" marB="45720" anchor="ctr">
                    <a:solidFill>
                      <a:srgbClr val="0B2747"/>
                    </a:solidFill>
                  </a:tcPr>
                </a:tc>
                <a:tc>
                  <a:txBody>
                    <a:bodyPr>
                      <a:normAutofit/>
                    </a:bodyPr>
                    <a:lstStyle/>
                    <a:p>
                      <a:r>
                        <a:rPr sz="1425" b="1">
                          <a:solidFill>
                            <a:srgbClr val="9EEBFF"/>
                          </a:solidFill>
                          <a:latin typeface="Segoe UI"/>
                          <a:ea typeface="Segoe UI"/>
                          <a:cs typeface="Segoe UI"/>
                        </a:rPr>
                        <a:t>Live QR with official-photo check</a:t>
                      </a:r>
                    </a:p>
                  </a:txBody>
                  <a:tcPr marL="91440" marR="91440" marT="45720" marB="45720" anchor="ctr">
                    <a:solidFill>
                      <a:srgbClr val="0D354E"/>
                    </a:solidFill>
                  </a:tcPr>
                </a:tc>
              </a:tr>
            </a:tbl>
          </a:graphicData>
        </a:graphic>
      </p:graphicFrame>
      <p:sp>
        <p:nvSpPr>
          <p:cNvPr id="7" name="">
            <a:extLst xmlns:a="http://schemas.openxmlformats.org/drawingml/2006/main">
              <a:ext uri="{FF2B5EF4-FFF2-40B4-BE49-F238E27FC236}">
                <a16:creationId xmlns:a16="http://schemas.microsoft.com/office/drawing/2014/main" id="{64AA972A-689D-4201-BA1E-05C5EB86F956}"/>
              </a:ext>
            </a:extLst>
          </p:cNvPr>
          <p:cNvSpPr>
            <a:spLocks xmlns:a="http://schemas.openxmlformats.org/drawingml/2006/main" noGrp="1"/>
          </p:cNvSpPr>
          <p:nvPr/>
        </p:nvSpPr>
        <p:spPr>
          <a:xfrm xmlns:a="http://schemas.openxmlformats.org/drawingml/2006/main">
            <a:off x="609600" y="60483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A9C1D3"/>
                </a:solidFill>
                <a:latin typeface="Segoe UI"/>
                <a:ea typeface="Segoe UI"/>
                <a:cs typeface="Segoe UI"/>
              </a:defRPr>
            </a:pPr>
            <a:r>
              <a:rPr sz="1425" b="0">
                <a:solidFill>
                  <a:srgbClr val="A9C1D3"/>
                </a:solidFill>
                <a:latin typeface="Segoe UI"/>
                <a:ea typeface="Segoe UI"/>
                <a:cs typeface="Segoe UI"/>
              </a:rPr>
              <a:t>WhatsApp remains useful for communication. BusTrack manages the structured transport journey.</a:t>
            </a:r>
          </a:p>
        </p:txBody>
      </p:sp>
    </p:spTree>
    <p:extLst>
      <p:ext uri="{BB962C8B-B14F-4D97-AF65-F5344CB8AC3E}">
        <p14:creationId xmlns:p14="http://schemas.microsoft.com/office/powerpoint/2010/main" val="1980110993"/>
      </p:ext>
    </p:extLst>
  </p:cSld>
</p:sld>
</file>

<file path=ppt/slides/slide11.xml><?xml version="1.0" encoding="utf-8"?>
<p:sld xmlns:p="http://schemas.openxmlformats.org/presentationml/2006/main">
  <p:cSld>
    <p:bg>
      <p:bgPr>
        <a:solidFill xmlns:a="http://schemas.openxmlformats.org/drawingml/2006/main">
          <a:srgbClr val="06172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13CDA0F-7C28-45A2-9AD6-DB3B0C83F2E6}"/>
              </a:ext>
            </a:extLst>
          </p:cNvPr>
          <p:cNvSpPr>
            <a:spLocks xmlns:a="http://schemas.openxmlformats.org/drawingml/2006/main" noGrp="1"/>
          </p:cNvSpPr>
          <p:nvPr/>
        </p:nvSpPr>
        <p:spPr>
          <a:xfrm xmlns:a="http://schemas.openxmlformats.org/drawingml/2006/main">
            <a:off x="609600" y="266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3AD6FF"/>
                </a:solidFill>
                <a:latin typeface="Bahnschrift"/>
                <a:ea typeface="Bahnschrift"/>
                <a:cs typeface="Bahnschrift"/>
              </a:defRPr>
            </a:pPr>
            <a:r>
              <a:rPr sz="1200" b="1">
                <a:solidFill>
                  <a:srgbClr val="3AD6FF"/>
                </a:solidFill>
                <a:latin typeface="Bahnschrift"/>
                <a:ea typeface="Bahnschrift"/>
                <a:cs typeface="Bahnschrift"/>
              </a:rPr>
              <a:t>11</a:t>
            </a:r>
          </a:p>
        </p:txBody>
      </p:sp>
      <p:sp>
        <p:nvSpPr>
          <p:cNvPr id="2" name="">
            <a:extLst xmlns:a="http://schemas.openxmlformats.org/drawingml/2006/main">
              <a:ext uri="{FF2B5EF4-FFF2-40B4-BE49-F238E27FC236}">
                <a16:creationId xmlns:a16="http://schemas.microsoft.com/office/drawing/2014/main" id="{2053901B-E811-4258-96C8-3D1514AE9B16}"/>
              </a:ext>
            </a:extLst>
          </p:cNvPr>
          <p:cNvSpPr>
            <a:spLocks xmlns:a="http://schemas.openxmlformats.org/drawingml/2006/main" noGrp="1"/>
          </p:cNvSpPr>
          <p:nvPr/>
        </p:nvSpPr>
        <p:spPr>
          <a:xfrm xmlns:a="http://schemas.openxmlformats.org/drawingml/2006/main">
            <a:off x="609600" y="5715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58"/>
          </a:bodyPr>
          <a:lstStyle xmlns:a="http://schemas.openxmlformats.org/drawingml/2006/main"/>
          <a:p xmlns:a="http://schemas.openxmlformats.org/drawingml/2006/main">
            <a:pPr>
              <a:defRPr sz="3450" b="1">
                <a:solidFill>
                  <a:srgbClr val="F5FAFF"/>
                </a:solidFill>
                <a:latin typeface="Bahnschrift"/>
                <a:ea typeface="Bahnschrift"/>
                <a:cs typeface="Bahnschrift"/>
              </a:defRPr>
            </a:pPr>
            <a:r>
              <a:rPr sz="3450" b="1">
                <a:solidFill>
                  <a:srgbClr val="F5FAFF"/>
                </a:solidFill>
                <a:latin typeface="Bahnschrift"/>
                <a:ea typeface="Bahnschrift"/>
                <a:cs typeface="Bahnschrift"/>
              </a:rPr>
              <a:t>Why a college would adopt BusTrack</a:t>
            </a:r>
          </a:p>
        </p:txBody>
      </p:sp>
      <p:sp>
        <p:nvSpPr>
          <p:cNvPr id="3" name="">
            <a:extLst xmlns:a="http://schemas.openxmlformats.org/drawingml/2006/main">
              <a:ext uri="{FF2B5EF4-FFF2-40B4-BE49-F238E27FC236}">
                <a16:creationId xmlns:a16="http://schemas.microsoft.com/office/drawing/2014/main" id="{52E2859A-E6F9-405C-9CC2-51C0BF22A8B7}"/>
              </a:ext>
            </a:extLst>
          </p:cNvPr>
          <p:cNvSpPr>
            <a:spLocks xmlns:a="http://schemas.openxmlformats.org/drawingml/2006/main" noGrp="1"/>
          </p:cNvSpPr>
          <p:nvPr/>
        </p:nvSpPr>
        <p:spPr>
          <a:xfrm xmlns:a="http://schemas.openxmlformats.org/drawingml/2006/main">
            <a:off x="609600" y="1209675"/>
            <a:ext cx="819150" cy="38100"/>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02390E-2EEA-4FE3-AB58-4BF1B24585C8}"/>
              </a:ext>
            </a:extLst>
          </p:cNvPr>
          <p:cNvSpPr>
            <a:spLocks xmlns:a="http://schemas.openxmlformats.org/drawingml/2006/main" noGrp="1"/>
          </p:cNvSpPr>
          <p:nvPr/>
        </p:nvSpPr>
        <p:spPr>
          <a:xfrm xmlns:a="http://schemas.openxmlformats.org/drawingml/2006/main">
            <a:off x="1666875" y="1104900"/>
            <a:ext cx="919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The benefit extends beyond showing a bus marker</a:t>
            </a:r>
          </a:p>
        </p:txBody>
      </p:sp>
      <p:sp>
        <p:nvSpPr>
          <p:cNvPr id="5" name="">
            <a:extLst xmlns:a="http://schemas.openxmlformats.org/drawingml/2006/main">
              <a:ext uri="{FF2B5EF4-FFF2-40B4-BE49-F238E27FC236}">
                <a16:creationId xmlns:a16="http://schemas.microsoft.com/office/drawing/2014/main" id="{49BC5B93-D823-48AA-97F5-E88F45C40F06}"/>
              </a:ext>
            </a:extLst>
          </p:cNvPr>
          <p:cNvSpPr>
            <a:spLocks xmlns:a="http://schemas.openxmlformats.org/drawingml/2006/main" noGrp="1"/>
          </p:cNvSpPr>
          <p:nvPr/>
        </p:nvSpPr>
        <p:spPr>
          <a:xfrm xmlns:a="http://schemas.openxmlformats.org/drawingml/2006/main">
            <a:off x="11334750" y="64389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0000"/>
          </a:bodyPr>
          <a:lstStyle xmlns:a="http://schemas.openxmlformats.org/drawingml/2006/main"/>
          <a:p xmlns:a="http://schemas.openxmlformats.org/drawingml/2006/main">
            <a:pPr>
              <a:defRPr sz="1050" b="0">
                <a:solidFill>
                  <a:srgbClr val="6E8AA0"/>
                </a:solidFill>
                <a:latin typeface="Segoe UI"/>
                <a:ea typeface="Segoe UI"/>
                <a:cs typeface="Segoe UI"/>
              </a:defRPr>
            </a:pPr>
            <a:r>
              <a:rPr sz="1050" b="0">
                <a:solidFill>
                  <a:srgbClr val="6E8AA0"/>
                </a:solidFill>
                <a:latin typeface="Segoe UI"/>
                <a:ea typeface="Segoe UI"/>
                <a:cs typeface="Segoe UI"/>
              </a:rPr>
              <a:t>11</a:t>
            </a:r>
          </a:p>
        </p:txBody>
      </p:sp>
      <p:sp>
        <p:nvSpPr>
          <p:cNvPr id="6" name="">
            <a:extLst xmlns:a="http://schemas.openxmlformats.org/drawingml/2006/main">
              <a:ext uri="{FF2B5EF4-FFF2-40B4-BE49-F238E27FC236}">
                <a16:creationId xmlns:a16="http://schemas.microsoft.com/office/drawing/2014/main" id="{F05E98B3-A25E-4064-AD21-9D633B8E25FC}"/>
              </a:ext>
            </a:extLst>
          </p:cNvPr>
          <p:cNvSpPr>
            <a:spLocks xmlns:a="http://schemas.openxmlformats.org/drawingml/2006/main" noGrp="1"/>
          </p:cNvSpPr>
          <p:nvPr/>
        </p:nvSpPr>
        <p:spPr>
          <a:xfrm xmlns:a="http://schemas.openxmlformats.org/drawingml/2006/main">
            <a:off x="609600" y="17145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417"/>
          </a:bodyPr>
          <a:lstStyle xmlns:a="http://schemas.openxmlformats.org/drawingml/2006/main"/>
          <a:p xmlns:a="http://schemas.openxmlformats.org/drawingml/2006/main">
            <a:pPr>
              <a:defRPr sz="1200" b="1">
                <a:solidFill>
                  <a:srgbClr val="3AD6FF"/>
                </a:solidFill>
                <a:latin typeface="Bahnschrift"/>
                <a:ea typeface="Bahnschrift"/>
                <a:cs typeface="Bahnschrift"/>
              </a:defRPr>
            </a:pPr>
            <a:r>
              <a:rPr sz="1200" b="1">
                <a:solidFill>
                  <a:srgbClr val="3AD6FF"/>
                </a:solidFill>
                <a:latin typeface="Bahnschrift"/>
                <a:ea typeface="Bahnschrift"/>
                <a:cs typeface="Bahnschrift"/>
              </a:rPr>
              <a:t>STUDENTS</a:t>
            </a:r>
          </a:p>
        </p:txBody>
      </p:sp>
      <p:sp>
        <p:nvSpPr>
          <p:cNvPr id="7" name="">
            <a:extLst xmlns:a="http://schemas.openxmlformats.org/drawingml/2006/main">
              <a:ext uri="{FF2B5EF4-FFF2-40B4-BE49-F238E27FC236}">
                <a16:creationId xmlns:a16="http://schemas.microsoft.com/office/drawing/2014/main" id="{F24FACB6-37FF-4A27-ACF3-966250844384}"/>
              </a:ext>
            </a:extLst>
          </p:cNvPr>
          <p:cNvSpPr>
            <a:spLocks xmlns:a="http://schemas.openxmlformats.org/drawingml/2006/main" noGrp="1"/>
          </p:cNvSpPr>
          <p:nvPr/>
        </p:nvSpPr>
        <p:spPr>
          <a:xfrm xmlns:a="http://schemas.openxmlformats.org/drawingml/2006/main">
            <a:off x="2905125" y="1666875"/>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524"/>
          </a:bodyPr>
          <a:lstStyle xmlns:a="http://schemas.openxmlformats.org/drawingml/2006/main"/>
          <a:p xmlns:a="http://schemas.openxmlformats.org/drawingml/2006/main">
            <a:pPr>
              <a:defRPr sz="2100" b="1">
                <a:solidFill>
                  <a:srgbClr val="F5FAFF"/>
                </a:solidFill>
                <a:latin typeface="Bahnschrift"/>
                <a:ea typeface="Bahnschrift"/>
                <a:cs typeface="Bahnschrift"/>
              </a:defRPr>
            </a:pPr>
            <a:r>
              <a:rPr sz="2100" b="1">
                <a:solidFill>
                  <a:srgbClr val="F5FAFF"/>
                </a:solidFill>
                <a:latin typeface="Bahnschrift"/>
                <a:ea typeface="Bahnschrift"/>
                <a:cs typeface="Bahnschrift"/>
              </a:rPr>
              <a:t>Less uncertainty</a:t>
            </a:r>
          </a:p>
        </p:txBody>
      </p:sp>
      <p:sp>
        <p:nvSpPr>
          <p:cNvPr id="8" name="">
            <a:extLst xmlns:a="http://schemas.openxmlformats.org/drawingml/2006/main">
              <a:ext uri="{FF2B5EF4-FFF2-40B4-BE49-F238E27FC236}">
                <a16:creationId xmlns:a16="http://schemas.microsoft.com/office/drawing/2014/main" id="{F3F8CB98-E6A6-4B7A-A4ED-53502B8D8849}"/>
              </a:ext>
            </a:extLst>
          </p:cNvPr>
          <p:cNvSpPr>
            <a:spLocks xmlns:a="http://schemas.openxmlformats.org/drawingml/2006/main" noGrp="1"/>
          </p:cNvSpPr>
          <p:nvPr/>
        </p:nvSpPr>
        <p:spPr>
          <a:xfrm xmlns:a="http://schemas.openxmlformats.org/drawingml/2006/main">
            <a:off x="6477000" y="168592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0">
                <a:solidFill>
                  <a:srgbClr val="A9C1D3"/>
                </a:solidFill>
                <a:latin typeface="Segoe UI"/>
                <a:ea typeface="Segoe UI"/>
                <a:cs typeface="Segoe UI"/>
              </a:defRPr>
            </a:pPr>
            <a:r>
              <a:rPr sz="1650" b="0">
                <a:solidFill>
                  <a:srgbClr val="A9C1D3"/>
                </a:solidFill>
                <a:latin typeface="Segoe UI"/>
                <a:ea typeface="Segoe UI"/>
                <a:cs typeface="Segoe UI"/>
              </a:rPr>
              <a:t>See route progress before leaving for the stop.</a:t>
            </a:r>
          </a:p>
        </p:txBody>
      </p:sp>
      <p:sp>
        <p:nvSpPr>
          <p:cNvPr id="9" name="">
            <a:extLst xmlns:a="http://schemas.openxmlformats.org/drawingml/2006/main">
              <a:ext uri="{FF2B5EF4-FFF2-40B4-BE49-F238E27FC236}">
                <a16:creationId xmlns:a16="http://schemas.microsoft.com/office/drawing/2014/main" id="{606C3037-D1A1-4B71-90FB-DBA83F6C9EC7}"/>
              </a:ext>
            </a:extLst>
          </p:cNvPr>
          <p:cNvSpPr>
            <a:spLocks xmlns:a="http://schemas.openxmlformats.org/drawingml/2006/main" noGrp="1"/>
          </p:cNvSpPr>
          <p:nvPr/>
        </p:nvSpPr>
        <p:spPr>
          <a:xfrm xmlns:a="http://schemas.openxmlformats.org/drawingml/2006/main">
            <a:off x="609600" y="2476500"/>
            <a:ext cx="10668000" cy="19050"/>
          </a:xfrm>
          <a:prstGeom xmlns:a="http://schemas.openxmlformats.org/drawingml/2006/main" prst="rect">
            <a:avLst/>
          </a:prstGeom>
          <a:solidFill xmlns:a="http://schemas.openxmlformats.org/drawingml/2006/main">
            <a:srgbClr val="21436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D7077F5-8B4E-451E-A916-BBF77DBE3B8E}"/>
              </a:ext>
            </a:extLst>
          </p:cNvPr>
          <p:cNvSpPr>
            <a:spLocks xmlns:a="http://schemas.openxmlformats.org/drawingml/2006/main" noGrp="1"/>
          </p:cNvSpPr>
          <p:nvPr/>
        </p:nvSpPr>
        <p:spPr>
          <a:xfrm xmlns:a="http://schemas.openxmlformats.org/drawingml/2006/main">
            <a:off x="609600" y="27813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417"/>
          </a:bodyPr>
          <a:lstStyle xmlns:a="http://schemas.openxmlformats.org/drawingml/2006/main"/>
          <a:p xmlns:a="http://schemas.openxmlformats.org/drawingml/2006/main">
            <a:pPr>
              <a:defRPr sz="1200" b="1">
                <a:solidFill>
                  <a:srgbClr val="3AD6FF"/>
                </a:solidFill>
                <a:latin typeface="Bahnschrift"/>
                <a:ea typeface="Bahnschrift"/>
                <a:cs typeface="Bahnschrift"/>
              </a:defRPr>
            </a:pPr>
            <a:r>
              <a:rPr sz="1200" b="1">
                <a:solidFill>
                  <a:srgbClr val="3AD6FF"/>
                </a:solidFill>
                <a:latin typeface="Bahnschrift"/>
                <a:ea typeface="Bahnschrift"/>
                <a:cs typeface="Bahnschrift"/>
              </a:rPr>
              <a:t>DRIVERS</a:t>
            </a:r>
          </a:p>
        </p:txBody>
      </p:sp>
      <p:sp>
        <p:nvSpPr>
          <p:cNvPr id="11" name="">
            <a:extLst xmlns:a="http://schemas.openxmlformats.org/drawingml/2006/main">
              <a:ext uri="{FF2B5EF4-FFF2-40B4-BE49-F238E27FC236}">
                <a16:creationId xmlns:a16="http://schemas.microsoft.com/office/drawing/2014/main" id="{E2C453DD-9458-4C1E-9D69-8E23A4BDE875}"/>
              </a:ext>
            </a:extLst>
          </p:cNvPr>
          <p:cNvSpPr>
            <a:spLocks xmlns:a="http://schemas.openxmlformats.org/drawingml/2006/main" noGrp="1"/>
          </p:cNvSpPr>
          <p:nvPr/>
        </p:nvSpPr>
        <p:spPr>
          <a:xfrm xmlns:a="http://schemas.openxmlformats.org/drawingml/2006/main">
            <a:off x="2905125" y="2733675"/>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524"/>
          </a:bodyPr>
          <a:lstStyle xmlns:a="http://schemas.openxmlformats.org/drawingml/2006/main"/>
          <a:p xmlns:a="http://schemas.openxmlformats.org/drawingml/2006/main">
            <a:pPr>
              <a:defRPr sz="2100" b="1">
                <a:solidFill>
                  <a:srgbClr val="F5FAFF"/>
                </a:solidFill>
                <a:latin typeface="Bahnschrift"/>
                <a:ea typeface="Bahnschrift"/>
                <a:cs typeface="Bahnschrift"/>
              </a:defRPr>
            </a:pPr>
            <a:r>
              <a:rPr sz="2100" b="1">
                <a:solidFill>
                  <a:srgbClr val="F5FAFF"/>
                </a:solidFill>
                <a:latin typeface="Bahnschrift"/>
                <a:ea typeface="Bahnschrift"/>
                <a:cs typeface="Bahnschrift"/>
              </a:rPr>
              <a:t>Fewer location calls</a:t>
            </a:r>
          </a:p>
        </p:txBody>
      </p:sp>
      <p:sp>
        <p:nvSpPr>
          <p:cNvPr id="12" name="">
            <a:extLst xmlns:a="http://schemas.openxmlformats.org/drawingml/2006/main">
              <a:ext uri="{FF2B5EF4-FFF2-40B4-BE49-F238E27FC236}">
                <a16:creationId xmlns:a16="http://schemas.microsoft.com/office/drawing/2014/main" id="{ED9F1C9E-A165-4C02-A850-91B46D313C41}"/>
              </a:ext>
            </a:extLst>
          </p:cNvPr>
          <p:cNvSpPr>
            <a:spLocks xmlns:a="http://schemas.openxmlformats.org/drawingml/2006/main" noGrp="1"/>
          </p:cNvSpPr>
          <p:nvPr/>
        </p:nvSpPr>
        <p:spPr>
          <a:xfrm xmlns:a="http://schemas.openxmlformats.org/drawingml/2006/main">
            <a:off x="6477000" y="275272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111"/>
          </a:bodyPr>
          <a:lstStyle xmlns:a="http://schemas.openxmlformats.org/drawingml/2006/main"/>
          <a:p xmlns:a="http://schemas.openxmlformats.org/drawingml/2006/main">
            <a:pPr>
              <a:defRPr sz="1650" b="0">
                <a:solidFill>
                  <a:srgbClr val="A9C1D3"/>
                </a:solidFill>
                <a:latin typeface="Segoe UI"/>
                <a:ea typeface="Segoe UI"/>
                <a:cs typeface="Segoe UI"/>
              </a:defRPr>
            </a:pPr>
            <a:r>
              <a:rPr sz="1650" b="0">
                <a:solidFill>
                  <a:srgbClr val="A9C1D3"/>
                </a:solidFill>
                <a:latin typeface="Segoe UI"/>
                <a:ea typeface="Segoe UI"/>
                <a:cs typeface="Segoe UI"/>
              </a:rPr>
              <a:t>Use a focused journey screen and send structured alerts.</a:t>
            </a:r>
          </a:p>
        </p:txBody>
      </p:sp>
      <p:sp>
        <p:nvSpPr>
          <p:cNvPr id="13" name="">
            <a:extLst xmlns:a="http://schemas.openxmlformats.org/drawingml/2006/main">
              <a:ext uri="{FF2B5EF4-FFF2-40B4-BE49-F238E27FC236}">
                <a16:creationId xmlns:a16="http://schemas.microsoft.com/office/drawing/2014/main" id="{5CED8A12-7B92-4702-8BAF-0792C892AA3A}"/>
              </a:ext>
            </a:extLst>
          </p:cNvPr>
          <p:cNvSpPr>
            <a:spLocks xmlns:a="http://schemas.openxmlformats.org/drawingml/2006/main" noGrp="1"/>
          </p:cNvSpPr>
          <p:nvPr/>
        </p:nvSpPr>
        <p:spPr>
          <a:xfrm xmlns:a="http://schemas.openxmlformats.org/drawingml/2006/main">
            <a:off x="609600" y="3543300"/>
            <a:ext cx="10668000" cy="19050"/>
          </a:xfrm>
          <a:prstGeom xmlns:a="http://schemas.openxmlformats.org/drawingml/2006/main" prst="rect">
            <a:avLst/>
          </a:prstGeom>
          <a:solidFill xmlns:a="http://schemas.openxmlformats.org/drawingml/2006/main">
            <a:srgbClr val="21436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8229A0A-41D6-4253-BCB0-484442F765FD}"/>
              </a:ext>
            </a:extLst>
          </p:cNvPr>
          <p:cNvSpPr>
            <a:spLocks xmlns:a="http://schemas.openxmlformats.org/drawingml/2006/main" noGrp="1"/>
          </p:cNvSpPr>
          <p:nvPr/>
        </p:nvSpPr>
        <p:spPr>
          <a:xfrm xmlns:a="http://schemas.openxmlformats.org/drawingml/2006/main">
            <a:off x="609600" y="38481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417"/>
          </a:bodyPr>
          <a:lstStyle xmlns:a="http://schemas.openxmlformats.org/drawingml/2006/main"/>
          <a:p xmlns:a="http://schemas.openxmlformats.org/drawingml/2006/main">
            <a:pPr>
              <a:defRPr sz="1200" b="1">
                <a:solidFill>
                  <a:srgbClr val="3AD6FF"/>
                </a:solidFill>
                <a:latin typeface="Bahnschrift"/>
                <a:ea typeface="Bahnschrift"/>
                <a:cs typeface="Bahnschrift"/>
              </a:defRPr>
            </a:pPr>
            <a:r>
              <a:rPr sz="1200" b="1">
                <a:solidFill>
                  <a:srgbClr val="3AD6FF"/>
                </a:solidFill>
                <a:latin typeface="Bahnschrift"/>
                <a:ea typeface="Bahnschrift"/>
                <a:cs typeface="Bahnschrift"/>
              </a:rPr>
              <a:t>TRANSPORT OFFICE</a:t>
            </a:r>
          </a:p>
        </p:txBody>
      </p:sp>
      <p:sp>
        <p:nvSpPr>
          <p:cNvPr id="15" name="">
            <a:extLst xmlns:a="http://schemas.openxmlformats.org/drawingml/2006/main">
              <a:ext uri="{FF2B5EF4-FFF2-40B4-BE49-F238E27FC236}">
                <a16:creationId xmlns:a16="http://schemas.microsoft.com/office/drawing/2014/main" id="{E5ED9866-3A3A-47DC-A84E-7268C8179E2E}"/>
              </a:ext>
            </a:extLst>
          </p:cNvPr>
          <p:cNvSpPr>
            <a:spLocks xmlns:a="http://schemas.openxmlformats.org/drawingml/2006/main" noGrp="1"/>
          </p:cNvSpPr>
          <p:nvPr/>
        </p:nvSpPr>
        <p:spPr>
          <a:xfrm xmlns:a="http://schemas.openxmlformats.org/drawingml/2006/main">
            <a:off x="2905125" y="3800475"/>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524"/>
          </a:bodyPr>
          <a:lstStyle xmlns:a="http://schemas.openxmlformats.org/drawingml/2006/main"/>
          <a:p xmlns:a="http://schemas.openxmlformats.org/drawingml/2006/main">
            <a:pPr>
              <a:defRPr sz="2100" b="1">
                <a:solidFill>
                  <a:srgbClr val="F5FAFF"/>
                </a:solidFill>
                <a:latin typeface="Bahnschrift"/>
                <a:ea typeface="Bahnschrift"/>
                <a:cs typeface="Bahnschrift"/>
              </a:defRPr>
            </a:pPr>
            <a:r>
              <a:rPr sz="2100" b="1">
                <a:solidFill>
                  <a:srgbClr val="F5FAFF"/>
                </a:solidFill>
                <a:latin typeface="Bahnschrift"/>
                <a:ea typeface="Bahnschrift"/>
                <a:cs typeface="Bahnschrift"/>
              </a:rPr>
              <a:t>Clear operating record</a:t>
            </a:r>
          </a:p>
        </p:txBody>
      </p:sp>
      <p:sp>
        <p:nvSpPr>
          <p:cNvPr id="16" name="">
            <a:extLst xmlns:a="http://schemas.openxmlformats.org/drawingml/2006/main">
              <a:ext uri="{FF2B5EF4-FFF2-40B4-BE49-F238E27FC236}">
                <a16:creationId xmlns:a16="http://schemas.microsoft.com/office/drawing/2014/main" id="{D639A575-F596-4053-B206-A6A638C02BBB}"/>
              </a:ext>
            </a:extLst>
          </p:cNvPr>
          <p:cNvSpPr>
            <a:spLocks xmlns:a="http://schemas.openxmlformats.org/drawingml/2006/main" noGrp="1"/>
          </p:cNvSpPr>
          <p:nvPr/>
        </p:nvSpPr>
        <p:spPr>
          <a:xfrm xmlns:a="http://schemas.openxmlformats.org/drawingml/2006/main">
            <a:off x="6477000" y="381952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675"/>
          </a:bodyPr>
          <a:lstStyle xmlns:a="http://schemas.openxmlformats.org/drawingml/2006/main"/>
          <a:p xmlns:a="http://schemas.openxmlformats.org/drawingml/2006/main">
            <a:pPr>
              <a:defRPr sz="1650" b="0">
                <a:solidFill>
                  <a:srgbClr val="A9C1D3"/>
                </a:solidFill>
                <a:latin typeface="Segoe UI"/>
                <a:ea typeface="Segoe UI"/>
                <a:cs typeface="Segoe UI"/>
              </a:defRPr>
            </a:pPr>
            <a:r>
              <a:rPr sz="1650" b="0">
                <a:solidFill>
                  <a:srgbClr val="A9C1D3"/>
                </a:solidFill>
                <a:latin typeface="Segoe UI"/>
                <a:ea typeface="Segoe UI"/>
                <a:cs typeface="Segoe UI"/>
              </a:rPr>
              <a:t>Review routes, assignments, stop times and incidents.</a:t>
            </a:r>
          </a:p>
        </p:txBody>
      </p:sp>
      <p:sp>
        <p:nvSpPr>
          <p:cNvPr id="17" name="">
            <a:extLst xmlns:a="http://schemas.openxmlformats.org/drawingml/2006/main">
              <a:ext uri="{FF2B5EF4-FFF2-40B4-BE49-F238E27FC236}">
                <a16:creationId xmlns:a16="http://schemas.microsoft.com/office/drawing/2014/main" id="{B904EE73-A7BD-4EF0-87A2-242936911442}"/>
              </a:ext>
            </a:extLst>
          </p:cNvPr>
          <p:cNvSpPr>
            <a:spLocks xmlns:a="http://schemas.openxmlformats.org/drawingml/2006/main" noGrp="1"/>
          </p:cNvSpPr>
          <p:nvPr/>
        </p:nvSpPr>
        <p:spPr>
          <a:xfrm xmlns:a="http://schemas.openxmlformats.org/drawingml/2006/main">
            <a:off x="609600" y="4610100"/>
            <a:ext cx="10668000" cy="19050"/>
          </a:xfrm>
          <a:prstGeom xmlns:a="http://schemas.openxmlformats.org/drawingml/2006/main" prst="rect">
            <a:avLst/>
          </a:prstGeom>
          <a:solidFill xmlns:a="http://schemas.openxmlformats.org/drawingml/2006/main">
            <a:srgbClr val="21436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40C1BF6-C4AC-4CDF-BF71-287F5A16FB0B}"/>
              </a:ext>
            </a:extLst>
          </p:cNvPr>
          <p:cNvSpPr>
            <a:spLocks xmlns:a="http://schemas.openxmlformats.org/drawingml/2006/main" noGrp="1"/>
          </p:cNvSpPr>
          <p:nvPr/>
        </p:nvSpPr>
        <p:spPr>
          <a:xfrm xmlns:a="http://schemas.openxmlformats.org/drawingml/2006/main">
            <a:off x="609600" y="49149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417"/>
          </a:bodyPr>
          <a:lstStyle xmlns:a="http://schemas.openxmlformats.org/drawingml/2006/main"/>
          <a:p xmlns:a="http://schemas.openxmlformats.org/drawingml/2006/main">
            <a:pPr>
              <a:defRPr sz="1200" b="1">
                <a:solidFill>
                  <a:srgbClr val="806BFF"/>
                </a:solidFill>
                <a:latin typeface="Bahnschrift"/>
                <a:ea typeface="Bahnschrift"/>
                <a:cs typeface="Bahnschrift"/>
              </a:defRPr>
            </a:pPr>
            <a:r>
              <a:rPr sz="1200" b="1">
                <a:solidFill>
                  <a:srgbClr val="806BFF"/>
                </a:solidFill>
                <a:latin typeface="Bahnschrift"/>
                <a:ea typeface="Bahnschrift"/>
                <a:cs typeface="Bahnschrift"/>
              </a:rPr>
              <a:t>COLLEGE</a:t>
            </a:r>
          </a:p>
        </p:txBody>
      </p:sp>
      <p:sp>
        <p:nvSpPr>
          <p:cNvPr id="19" name="">
            <a:extLst xmlns:a="http://schemas.openxmlformats.org/drawingml/2006/main">
              <a:ext uri="{FF2B5EF4-FFF2-40B4-BE49-F238E27FC236}">
                <a16:creationId xmlns:a16="http://schemas.microsoft.com/office/drawing/2014/main" id="{2F70C0BC-3A90-4E11-B176-E9A4F84E3845}"/>
              </a:ext>
            </a:extLst>
          </p:cNvPr>
          <p:cNvSpPr>
            <a:spLocks xmlns:a="http://schemas.openxmlformats.org/drawingml/2006/main" noGrp="1"/>
          </p:cNvSpPr>
          <p:nvPr/>
        </p:nvSpPr>
        <p:spPr>
          <a:xfrm xmlns:a="http://schemas.openxmlformats.org/drawingml/2006/main">
            <a:off x="2905125" y="4867275"/>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524"/>
          </a:bodyPr>
          <a:lstStyle xmlns:a="http://schemas.openxmlformats.org/drawingml/2006/main"/>
          <a:p xmlns:a="http://schemas.openxmlformats.org/drawingml/2006/main">
            <a:pPr>
              <a:defRPr sz="2100" b="1">
                <a:solidFill>
                  <a:srgbClr val="F5FAFF"/>
                </a:solidFill>
                <a:latin typeface="Bahnschrift"/>
                <a:ea typeface="Bahnschrift"/>
                <a:cs typeface="Bahnschrift"/>
              </a:defRPr>
            </a:pPr>
            <a:r>
              <a:rPr sz="2100" b="1">
                <a:solidFill>
                  <a:srgbClr val="F5FAFF"/>
                </a:solidFill>
                <a:latin typeface="Bahnschrift"/>
                <a:ea typeface="Bahnschrift"/>
                <a:cs typeface="Bahnschrift"/>
              </a:rPr>
              <a:t>A platform that can expand</a:t>
            </a:r>
          </a:p>
        </p:txBody>
      </p:sp>
      <p:sp>
        <p:nvSpPr>
          <p:cNvPr id="20" name="">
            <a:extLst xmlns:a="http://schemas.openxmlformats.org/drawingml/2006/main">
              <a:ext uri="{FF2B5EF4-FFF2-40B4-BE49-F238E27FC236}">
                <a16:creationId xmlns:a16="http://schemas.microsoft.com/office/drawing/2014/main" id="{E5A4DF8A-FEB7-418F-8BCA-0E86507B62F6}"/>
              </a:ext>
            </a:extLst>
          </p:cNvPr>
          <p:cNvSpPr>
            <a:spLocks xmlns:a="http://schemas.openxmlformats.org/drawingml/2006/main" noGrp="1"/>
          </p:cNvSpPr>
          <p:nvPr/>
        </p:nvSpPr>
        <p:spPr>
          <a:xfrm xmlns:a="http://schemas.openxmlformats.org/drawingml/2006/main">
            <a:off x="6477000" y="488632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0">
                <a:solidFill>
                  <a:srgbClr val="A9C1D3"/>
                </a:solidFill>
                <a:latin typeface="Segoe UI"/>
                <a:ea typeface="Segoe UI"/>
                <a:cs typeface="Segoe UI"/>
              </a:defRPr>
            </a:pPr>
            <a:r>
              <a:rPr sz="1650" b="0">
                <a:solidFill>
                  <a:srgbClr val="A9C1D3"/>
                </a:solidFill>
                <a:latin typeface="Segoe UI"/>
                <a:ea typeface="Segoe UI"/>
                <a:cs typeface="Segoe UI"/>
              </a:rPr>
              <a:t>Start with one route and grow across the fleet.</a:t>
            </a:r>
          </a:p>
        </p:txBody>
      </p:sp>
      <p:sp>
        <p:nvSpPr>
          <p:cNvPr id="21" name="">
            <a:extLst xmlns:a="http://schemas.openxmlformats.org/drawingml/2006/main">
              <a:ext uri="{FF2B5EF4-FFF2-40B4-BE49-F238E27FC236}">
                <a16:creationId xmlns:a16="http://schemas.microsoft.com/office/drawing/2014/main" id="{767CB330-12F3-46D2-B260-9E57749E216C}"/>
              </a:ext>
            </a:extLst>
          </p:cNvPr>
          <p:cNvSpPr>
            <a:spLocks xmlns:a="http://schemas.openxmlformats.org/drawingml/2006/main" noGrp="1"/>
          </p:cNvSpPr>
          <p:nvPr/>
        </p:nvSpPr>
        <p:spPr>
          <a:xfrm xmlns:a="http://schemas.openxmlformats.org/drawingml/2006/main">
            <a:off x="609600" y="5676900"/>
            <a:ext cx="10668000" cy="19050"/>
          </a:xfrm>
          <a:prstGeom xmlns:a="http://schemas.openxmlformats.org/drawingml/2006/main" prst="rect">
            <a:avLst/>
          </a:prstGeom>
          <a:solidFill xmlns:a="http://schemas.openxmlformats.org/drawingml/2006/main">
            <a:srgbClr val="21436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AE67659-FFAE-40B0-B60B-11038291ACF0}"/>
              </a:ext>
            </a:extLst>
          </p:cNvPr>
          <p:cNvSpPr>
            <a:spLocks xmlns:a="http://schemas.openxmlformats.org/drawingml/2006/main" noGrp="1"/>
          </p:cNvSpPr>
          <p:nvPr/>
        </p:nvSpPr>
        <p:spPr>
          <a:xfrm xmlns:a="http://schemas.openxmlformats.org/drawingml/2006/main">
            <a:off x="609600" y="60483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defRPr sz="1500" b="1">
                <a:solidFill>
                  <a:srgbClr val="43E1A1"/>
                </a:solidFill>
                <a:latin typeface="Bahnschrift"/>
                <a:ea typeface="Bahnschrift"/>
                <a:cs typeface="Bahnschrift"/>
              </a:defRPr>
            </a:pPr>
            <a:r>
              <a:rPr sz="1500" b="1">
                <a:solidFill>
                  <a:srgbClr val="43E1A1"/>
                </a:solidFill>
                <a:latin typeface="Bahnschrift"/>
                <a:ea typeface="Bahnschrift"/>
                <a:cs typeface="Bahnschrift"/>
              </a:rPr>
              <a:t>Measure the result</a:t>
            </a:r>
          </a:p>
        </p:txBody>
      </p:sp>
      <p:sp>
        <p:nvSpPr>
          <p:cNvPr id="23" name="">
            <a:extLst xmlns:a="http://schemas.openxmlformats.org/drawingml/2006/main">
              <a:ext uri="{FF2B5EF4-FFF2-40B4-BE49-F238E27FC236}">
                <a16:creationId xmlns:a16="http://schemas.microsoft.com/office/drawing/2014/main" id="{063ACBAD-CFC8-4FB1-A944-604D8A26CABC}"/>
              </a:ext>
            </a:extLst>
          </p:cNvPr>
          <p:cNvSpPr>
            <a:spLocks xmlns:a="http://schemas.openxmlformats.org/drawingml/2006/main" noGrp="1"/>
          </p:cNvSpPr>
          <p:nvPr/>
        </p:nvSpPr>
        <p:spPr>
          <a:xfrm xmlns:a="http://schemas.openxmlformats.org/drawingml/2006/main">
            <a:off x="3000375" y="6000750"/>
            <a:ext cx="823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971"/>
          </a:bodyPr>
          <a:lstStyle xmlns:a="http://schemas.openxmlformats.org/drawingml/2006/main"/>
          <a:p xmlns:a="http://schemas.openxmlformats.org/drawingml/2006/main">
            <a:pPr>
              <a:defRPr sz="1425" b="0">
                <a:solidFill>
                  <a:srgbClr val="F5FAFF"/>
                </a:solidFill>
                <a:latin typeface="Segoe UI"/>
                <a:ea typeface="Segoe UI"/>
                <a:cs typeface="Segoe UI"/>
              </a:defRPr>
            </a:pPr>
            <a:r>
              <a:rPr sz="1425" b="0">
                <a:solidFill>
                  <a:srgbClr val="F5FAFF"/>
                </a:solidFill>
                <a:latin typeface="Segoe UI"/>
                <a:ea typeface="Segoe UI"/>
                <a:cs typeface="Segoe UI"/>
              </a:rPr>
              <a:t>Track location freshness, student usage, driver calls, missed-bus complaints and completed journeys during the pilot.</a:t>
            </a:r>
          </a:p>
        </p:txBody>
      </p:sp>
    </p:spTree>
    <p:extLst>
      <p:ext uri="{BB962C8B-B14F-4D97-AF65-F5344CB8AC3E}">
        <p14:creationId xmlns:p14="http://schemas.microsoft.com/office/powerpoint/2010/main" val="133815393"/>
      </p:ext>
    </p:extLst>
  </p:cSld>
</p:sld>
</file>

<file path=ppt/slides/slide12.xml><?xml version="1.0" encoding="utf-8"?>
<p:sld xmlns:p="http://schemas.openxmlformats.org/presentationml/2006/main">
  <p:cSld>
    <p:bg>
      <p:bgPr>
        <a:solidFill xmlns:a="http://schemas.openxmlformats.org/drawingml/2006/main">
          <a:srgbClr val="06172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C53E3D7-07C0-498E-A5AE-D37E729400B0}"/>
              </a:ext>
            </a:extLst>
          </p:cNvPr>
          <p:cNvSpPr>
            <a:spLocks xmlns:a="http://schemas.openxmlformats.org/drawingml/2006/main" noGrp="1"/>
          </p:cNvSpPr>
          <p:nvPr/>
        </p:nvSpPr>
        <p:spPr>
          <a:xfrm xmlns:a="http://schemas.openxmlformats.org/drawingml/2006/main">
            <a:off x="609600" y="26670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3AD6FF"/>
                </a:solidFill>
                <a:latin typeface="Bahnschrift"/>
                <a:ea typeface="Bahnschrift"/>
                <a:cs typeface="Bahnschrift"/>
              </a:defRPr>
            </a:pPr>
            <a:r>
              <a:rPr sz="1200" b="1">
                <a:solidFill>
                  <a:srgbClr val="3AD6FF"/>
                </a:solidFill>
                <a:latin typeface="Bahnschrift"/>
                <a:ea typeface="Bahnschrift"/>
                <a:cs typeface="Bahnschrift"/>
              </a:rPr>
              <a:t>12</a:t>
            </a:r>
          </a:p>
        </p:txBody>
      </p:sp>
      <p:sp>
        <p:nvSpPr>
          <p:cNvPr id="2" name="">
            <a:extLst xmlns:a="http://schemas.openxmlformats.org/drawingml/2006/main">
              <a:ext uri="{FF2B5EF4-FFF2-40B4-BE49-F238E27FC236}">
                <a16:creationId xmlns:a16="http://schemas.microsoft.com/office/drawing/2014/main" id="{BD4D0DD7-72EB-479E-8DD1-445C65D310D9}"/>
              </a:ext>
            </a:extLst>
          </p:cNvPr>
          <p:cNvSpPr>
            <a:spLocks xmlns:a="http://schemas.openxmlformats.org/drawingml/2006/main" noGrp="1"/>
          </p:cNvSpPr>
          <p:nvPr/>
        </p:nvSpPr>
        <p:spPr>
          <a:xfrm xmlns:a="http://schemas.openxmlformats.org/drawingml/2006/main">
            <a:off x="609600" y="5715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58"/>
          </a:bodyPr>
          <a:lstStyle xmlns:a="http://schemas.openxmlformats.org/drawingml/2006/main"/>
          <a:p xmlns:a="http://schemas.openxmlformats.org/drawingml/2006/main">
            <a:pPr>
              <a:defRPr sz="3450" b="1">
                <a:solidFill>
                  <a:srgbClr val="F5FAFF"/>
                </a:solidFill>
                <a:latin typeface="Bahnschrift"/>
                <a:ea typeface="Bahnschrift"/>
                <a:cs typeface="Bahnschrift"/>
              </a:defRPr>
            </a:pPr>
            <a:r>
              <a:rPr sz="3450" b="1">
                <a:solidFill>
                  <a:srgbClr val="F5FAFF"/>
                </a:solidFill>
                <a:latin typeface="Bahnschrift"/>
                <a:ea typeface="Bahnschrift"/>
                <a:cs typeface="Bahnschrift"/>
              </a:rPr>
              <a:t>A practical campus rollout</a:t>
            </a:r>
          </a:p>
        </p:txBody>
      </p:sp>
      <p:sp>
        <p:nvSpPr>
          <p:cNvPr id="3" name="">
            <a:extLst xmlns:a="http://schemas.openxmlformats.org/drawingml/2006/main">
              <a:ext uri="{FF2B5EF4-FFF2-40B4-BE49-F238E27FC236}">
                <a16:creationId xmlns:a16="http://schemas.microsoft.com/office/drawing/2014/main" id="{378BE5F1-1BA6-4527-A032-E11151878C16}"/>
              </a:ext>
            </a:extLst>
          </p:cNvPr>
          <p:cNvSpPr>
            <a:spLocks xmlns:a="http://schemas.openxmlformats.org/drawingml/2006/main" noGrp="1"/>
          </p:cNvSpPr>
          <p:nvPr/>
        </p:nvSpPr>
        <p:spPr>
          <a:xfrm xmlns:a="http://schemas.openxmlformats.org/drawingml/2006/main">
            <a:off x="609600" y="1209675"/>
            <a:ext cx="819150" cy="38100"/>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8C42C83-8836-4507-86E4-E38D4679C757}"/>
              </a:ext>
            </a:extLst>
          </p:cNvPr>
          <p:cNvSpPr>
            <a:spLocks xmlns:a="http://schemas.openxmlformats.org/drawingml/2006/main" noGrp="1"/>
          </p:cNvSpPr>
          <p:nvPr/>
        </p:nvSpPr>
        <p:spPr>
          <a:xfrm xmlns:a="http://schemas.openxmlformats.org/drawingml/2006/main">
            <a:off x="1666875" y="1104900"/>
            <a:ext cx="919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Begin with one route, verify it and expand with evidence</a:t>
            </a:r>
          </a:p>
        </p:txBody>
      </p:sp>
      <p:sp>
        <p:nvSpPr>
          <p:cNvPr id="5" name="">
            <a:extLst xmlns:a="http://schemas.openxmlformats.org/drawingml/2006/main">
              <a:ext uri="{FF2B5EF4-FFF2-40B4-BE49-F238E27FC236}">
                <a16:creationId xmlns:a16="http://schemas.microsoft.com/office/drawing/2014/main" id="{74D477BD-FB1B-4E00-B458-AECD9B63E075}"/>
              </a:ext>
            </a:extLst>
          </p:cNvPr>
          <p:cNvSpPr>
            <a:spLocks xmlns:a="http://schemas.openxmlformats.org/drawingml/2006/main" noGrp="1"/>
          </p:cNvSpPr>
          <p:nvPr/>
        </p:nvSpPr>
        <p:spPr>
          <a:xfrm xmlns:a="http://schemas.openxmlformats.org/drawingml/2006/main">
            <a:off x="11334750" y="6438900"/>
            <a:ext cx="285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0000"/>
          </a:bodyPr>
          <a:lstStyle xmlns:a="http://schemas.openxmlformats.org/drawingml/2006/main"/>
          <a:p xmlns:a="http://schemas.openxmlformats.org/drawingml/2006/main">
            <a:pPr>
              <a:defRPr sz="1050" b="0">
                <a:solidFill>
                  <a:srgbClr val="6E8AA0"/>
                </a:solidFill>
                <a:latin typeface="Segoe UI"/>
                <a:ea typeface="Segoe UI"/>
                <a:cs typeface="Segoe UI"/>
              </a:defRPr>
            </a:pPr>
            <a:r>
              <a:rPr sz="1050" b="0">
                <a:solidFill>
                  <a:srgbClr val="6E8AA0"/>
                </a:solidFill>
                <a:latin typeface="Segoe UI"/>
                <a:ea typeface="Segoe UI"/>
                <a:cs typeface="Segoe UI"/>
              </a:rPr>
              <a:t>12</a:t>
            </a:r>
          </a:p>
        </p:txBody>
      </p:sp>
      <p:sp>
        <p:nvSpPr>
          <p:cNvPr id="6" name="">
            <a:extLst xmlns:a="http://schemas.openxmlformats.org/drawingml/2006/main">
              <a:ext uri="{FF2B5EF4-FFF2-40B4-BE49-F238E27FC236}">
                <a16:creationId xmlns:a16="http://schemas.microsoft.com/office/drawing/2014/main" id="{6B9B2ACB-E262-4769-9939-2D1A805CBCE6}"/>
              </a:ext>
            </a:extLst>
          </p:cNvPr>
          <p:cNvSpPr>
            <a:spLocks xmlns:a="http://schemas.openxmlformats.org/drawingml/2006/main" noGrp="1"/>
          </p:cNvSpPr>
          <p:nvPr/>
        </p:nvSpPr>
        <p:spPr>
          <a:xfrm xmlns:a="http://schemas.openxmlformats.org/drawingml/2006/main">
            <a:off x="714375" y="180975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000"/>
          </a:bodyPr>
          <a:lstStyle xmlns:a="http://schemas.openxmlformats.org/drawingml/2006/main"/>
          <a:p xmlns:a="http://schemas.openxmlformats.org/drawingml/2006/main">
            <a:pPr>
              <a:defRPr sz="2250" b="1">
                <a:solidFill>
                  <a:srgbClr val="3AD6FF"/>
                </a:solidFill>
                <a:latin typeface="Bahnschrift"/>
                <a:ea typeface="Bahnschrift"/>
                <a:cs typeface="Bahnschrift"/>
              </a:defRPr>
            </a:pPr>
            <a:r>
              <a:rPr sz="2250" b="1">
                <a:solidFill>
                  <a:srgbClr val="3AD6FF"/>
                </a:solidFill>
                <a:latin typeface="Bahnschrift"/>
                <a:ea typeface="Bahnschrift"/>
                <a:cs typeface="Bahnschrift"/>
              </a:rPr>
              <a:t>01</a:t>
            </a:r>
          </a:p>
        </p:txBody>
      </p:sp>
      <p:sp>
        <p:nvSpPr>
          <p:cNvPr id="7" name="">
            <a:extLst xmlns:a="http://schemas.openxmlformats.org/drawingml/2006/main">
              <a:ext uri="{FF2B5EF4-FFF2-40B4-BE49-F238E27FC236}">
                <a16:creationId xmlns:a16="http://schemas.microsoft.com/office/drawing/2014/main" id="{347832F8-EC79-475E-A3B9-2C4C66CE51A4}"/>
              </a:ext>
            </a:extLst>
          </p:cNvPr>
          <p:cNvSpPr>
            <a:spLocks xmlns:a="http://schemas.openxmlformats.org/drawingml/2006/main" noGrp="1"/>
          </p:cNvSpPr>
          <p:nvPr/>
        </p:nvSpPr>
        <p:spPr>
          <a:xfrm xmlns:a="http://schemas.openxmlformats.org/drawingml/2006/main">
            <a:off x="714375" y="2333625"/>
            <a:ext cx="3048000" cy="47625"/>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19EDD39-C911-479A-9D56-51891A3400EC}"/>
              </a:ext>
            </a:extLst>
          </p:cNvPr>
          <p:cNvSpPr>
            <a:spLocks xmlns:a="http://schemas.openxmlformats.org/drawingml/2006/main" noGrp="1"/>
          </p:cNvSpPr>
          <p:nvPr/>
        </p:nvSpPr>
        <p:spPr>
          <a:xfrm xmlns:a="http://schemas.openxmlformats.org/drawingml/2006/main">
            <a:off x="714375" y="271462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118"/>
          </a:bodyPr>
          <a:lstStyle xmlns:a="http://schemas.openxmlformats.org/drawingml/2006/main"/>
          <a:p xmlns:a="http://schemas.openxmlformats.org/drawingml/2006/main">
            <a:pPr>
              <a:defRPr sz="2550" b="1">
                <a:solidFill>
                  <a:srgbClr val="F5FAFF"/>
                </a:solidFill>
                <a:latin typeface="Bahnschrift"/>
                <a:ea typeface="Bahnschrift"/>
                <a:cs typeface="Bahnschrift"/>
              </a:defRPr>
            </a:pPr>
            <a:r>
              <a:rPr sz="2550" b="1">
                <a:solidFill>
                  <a:srgbClr val="F5FAFF"/>
                </a:solidFill>
                <a:latin typeface="Bahnschrift"/>
                <a:ea typeface="Bahnschrift"/>
                <a:cs typeface="Bahnschrift"/>
              </a:rPr>
              <a:t>Prepare</a:t>
            </a:r>
          </a:p>
        </p:txBody>
      </p:sp>
      <p:sp>
        <p:nvSpPr>
          <p:cNvPr id="9" name="">
            <a:extLst xmlns:a="http://schemas.openxmlformats.org/drawingml/2006/main">
              <a:ext uri="{FF2B5EF4-FFF2-40B4-BE49-F238E27FC236}">
                <a16:creationId xmlns:a16="http://schemas.microsoft.com/office/drawing/2014/main" id="{F6A0913E-E817-4F80-91B2-023D4DCF1977}"/>
              </a:ext>
            </a:extLst>
          </p:cNvPr>
          <p:cNvSpPr>
            <a:spLocks xmlns:a="http://schemas.openxmlformats.org/drawingml/2006/main" noGrp="1"/>
          </p:cNvSpPr>
          <p:nvPr/>
        </p:nvSpPr>
        <p:spPr>
          <a:xfrm xmlns:a="http://schemas.openxmlformats.org/drawingml/2006/main">
            <a:off x="714375" y="3333750"/>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0">
                <a:solidFill>
                  <a:srgbClr val="A9C1D3"/>
                </a:solidFill>
                <a:latin typeface="Segoe UI"/>
                <a:ea typeface="Segoe UI"/>
                <a:cs typeface="Segoe UI"/>
              </a:defRPr>
            </a:pPr>
            <a:r>
              <a:rPr sz="1650" b="0">
                <a:solidFill>
                  <a:srgbClr val="A9C1D3"/>
                </a:solidFill>
                <a:latin typeface="Segoe UI"/>
                <a:ea typeface="Segoe UI"/>
                <a:cs typeface="Segoe UI"/>
              </a:rPr>
              <a:t>Confirm the bus, driver, route, stop coordinates and GPS registration.</a:t>
            </a:r>
          </a:p>
        </p:txBody>
      </p:sp>
      <p:sp>
        <p:nvSpPr>
          <p:cNvPr id="10" name="">
            <a:extLst xmlns:a="http://schemas.openxmlformats.org/drawingml/2006/main">
              <a:ext uri="{FF2B5EF4-FFF2-40B4-BE49-F238E27FC236}">
                <a16:creationId xmlns:a16="http://schemas.microsoft.com/office/drawing/2014/main" id="{A02F3E1A-7AFA-4606-8EA6-882CABCB456F}"/>
              </a:ext>
            </a:extLst>
          </p:cNvPr>
          <p:cNvSpPr>
            <a:spLocks xmlns:a="http://schemas.openxmlformats.org/drawingml/2006/main" noGrp="1"/>
          </p:cNvSpPr>
          <p:nvPr/>
        </p:nvSpPr>
        <p:spPr>
          <a:xfrm xmlns:a="http://schemas.openxmlformats.org/drawingml/2006/main">
            <a:off x="4476750" y="180975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000"/>
          </a:bodyPr>
          <a:lstStyle xmlns:a="http://schemas.openxmlformats.org/drawingml/2006/main"/>
          <a:p xmlns:a="http://schemas.openxmlformats.org/drawingml/2006/main">
            <a:pPr>
              <a:defRPr sz="2250" b="1">
                <a:solidFill>
                  <a:srgbClr val="3AD6FF"/>
                </a:solidFill>
                <a:latin typeface="Bahnschrift"/>
                <a:ea typeface="Bahnschrift"/>
                <a:cs typeface="Bahnschrift"/>
              </a:defRPr>
            </a:pPr>
            <a:r>
              <a:rPr sz="2250" b="1">
                <a:solidFill>
                  <a:srgbClr val="3AD6FF"/>
                </a:solidFill>
                <a:latin typeface="Bahnschrift"/>
                <a:ea typeface="Bahnschrift"/>
                <a:cs typeface="Bahnschrift"/>
              </a:rPr>
              <a:t>02</a:t>
            </a:r>
          </a:p>
        </p:txBody>
      </p:sp>
      <p:sp>
        <p:nvSpPr>
          <p:cNvPr id="11" name="">
            <a:extLst xmlns:a="http://schemas.openxmlformats.org/drawingml/2006/main">
              <a:ext uri="{FF2B5EF4-FFF2-40B4-BE49-F238E27FC236}">
                <a16:creationId xmlns:a16="http://schemas.microsoft.com/office/drawing/2014/main" id="{8E7E8EB5-0002-46BE-B2C1-F0D44912C5B2}"/>
              </a:ext>
            </a:extLst>
          </p:cNvPr>
          <p:cNvSpPr>
            <a:spLocks xmlns:a="http://schemas.openxmlformats.org/drawingml/2006/main" noGrp="1"/>
          </p:cNvSpPr>
          <p:nvPr/>
        </p:nvSpPr>
        <p:spPr>
          <a:xfrm xmlns:a="http://schemas.openxmlformats.org/drawingml/2006/main">
            <a:off x="4476750" y="2333625"/>
            <a:ext cx="3048000" cy="47625"/>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E05E56B-127C-42F1-B8D7-05C83C38563A}"/>
              </a:ext>
            </a:extLst>
          </p:cNvPr>
          <p:cNvSpPr>
            <a:spLocks xmlns:a="http://schemas.openxmlformats.org/drawingml/2006/main" noGrp="1"/>
          </p:cNvSpPr>
          <p:nvPr/>
        </p:nvSpPr>
        <p:spPr>
          <a:xfrm xmlns:a="http://schemas.openxmlformats.org/drawingml/2006/main">
            <a:off x="4476750" y="271462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118"/>
          </a:bodyPr>
          <a:lstStyle xmlns:a="http://schemas.openxmlformats.org/drawingml/2006/main"/>
          <a:p xmlns:a="http://schemas.openxmlformats.org/drawingml/2006/main">
            <a:pPr>
              <a:defRPr sz="2550" b="1">
                <a:solidFill>
                  <a:srgbClr val="F5FAFF"/>
                </a:solidFill>
                <a:latin typeface="Bahnschrift"/>
                <a:ea typeface="Bahnschrift"/>
                <a:cs typeface="Bahnschrift"/>
              </a:defRPr>
            </a:pPr>
            <a:r>
              <a:rPr sz="2550" b="1">
                <a:solidFill>
                  <a:srgbClr val="F5FAFF"/>
                </a:solidFill>
                <a:latin typeface="Bahnschrift"/>
                <a:ea typeface="Bahnschrift"/>
                <a:cs typeface="Bahnschrift"/>
              </a:rPr>
              <a:t>Pilot</a:t>
            </a:r>
          </a:p>
        </p:txBody>
      </p:sp>
      <p:sp>
        <p:nvSpPr>
          <p:cNvPr id="13" name="">
            <a:extLst xmlns:a="http://schemas.openxmlformats.org/drawingml/2006/main">
              <a:ext uri="{FF2B5EF4-FFF2-40B4-BE49-F238E27FC236}">
                <a16:creationId xmlns:a16="http://schemas.microsoft.com/office/drawing/2014/main" id="{C570E5F2-BBC8-4581-B365-03FDB3D05220}"/>
              </a:ext>
            </a:extLst>
          </p:cNvPr>
          <p:cNvSpPr>
            <a:spLocks xmlns:a="http://schemas.openxmlformats.org/drawingml/2006/main" noGrp="1"/>
          </p:cNvSpPr>
          <p:nvPr/>
        </p:nvSpPr>
        <p:spPr>
          <a:xfrm xmlns:a="http://schemas.openxmlformats.org/drawingml/2006/main">
            <a:off x="4476750" y="3333750"/>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0">
                <a:solidFill>
                  <a:srgbClr val="A9C1D3"/>
                </a:solidFill>
                <a:latin typeface="Segoe UI"/>
                <a:ea typeface="Segoe UI"/>
                <a:cs typeface="Segoe UI"/>
              </a:defRPr>
            </a:pPr>
            <a:r>
              <a:rPr sz="1650" b="0">
                <a:solidFill>
                  <a:srgbClr val="A9C1D3"/>
                </a:solidFill>
                <a:latin typeface="Segoe UI"/>
                <a:ea typeface="Segoe UI"/>
                <a:cs typeface="Segoe UI"/>
              </a:rPr>
              <a:t>Enroll one route's students and test outbound and return journeys.</a:t>
            </a:r>
          </a:p>
        </p:txBody>
      </p:sp>
      <p:sp>
        <p:nvSpPr>
          <p:cNvPr id="14" name="">
            <a:extLst xmlns:a="http://schemas.openxmlformats.org/drawingml/2006/main">
              <a:ext uri="{FF2B5EF4-FFF2-40B4-BE49-F238E27FC236}">
                <a16:creationId xmlns:a16="http://schemas.microsoft.com/office/drawing/2014/main" id="{21ED773B-3ABD-4C89-BE18-82DE657A7EBE}"/>
              </a:ext>
            </a:extLst>
          </p:cNvPr>
          <p:cNvSpPr>
            <a:spLocks xmlns:a="http://schemas.openxmlformats.org/drawingml/2006/main" noGrp="1"/>
          </p:cNvSpPr>
          <p:nvPr/>
        </p:nvSpPr>
        <p:spPr>
          <a:xfrm xmlns:a="http://schemas.openxmlformats.org/drawingml/2006/main">
            <a:off x="8239125" y="180975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000"/>
          </a:bodyPr>
          <a:lstStyle xmlns:a="http://schemas.openxmlformats.org/drawingml/2006/main"/>
          <a:p xmlns:a="http://schemas.openxmlformats.org/drawingml/2006/main">
            <a:pPr>
              <a:defRPr sz="2250" b="1">
                <a:solidFill>
                  <a:srgbClr val="3AD6FF"/>
                </a:solidFill>
                <a:latin typeface="Bahnschrift"/>
                <a:ea typeface="Bahnschrift"/>
                <a:cs typeface="Bahnschrift"/>
              </a:defRPr>
            </a:pPr>
            <a:r>
              <a:rPr sz="2250" b="1">
                <a:solidFill>
                  <a:srgbClr val="3AD6FF"/>
                </a:solidFill>
                <a:latin typeface="Bahnschrift"/>
                <a:ea typeface="Bahnschrift"/>
                <a:cs typeface="Bahnschrift"/>
              </a:rPr>
              <a:t>03</a:t>
            </a:r>
          </a:p>
        </p:txBody>
      </p:sp>
      <p:sp>
        <p:nvSpPr>
          <p:cNvPr id="15" name="">
            <a:extLst xmlns:a="http://schemas.openxmlformats.org/drawingml/2006/main">
              <a:ext uri="{FF2B5EF4-FFF2-40B4-BE49-F238E27FC236}">
                <a16:creationId xmlns:a16="http://schemas.microsoft.com/office/drawing/2014/main" id="{4E314EB7-F75A-469E-8A06-3D2E74F56D18}"/>
              </a:ext>
            </a:extLst>
          </p:cNvPr>
          <p:cNvSpPr>
            <a:spLocks xmlns:a="http://schemas.openxmlformats.org/drawingml/2006/main" noGrp="1"/>
          </p:cNvSpPr>
          <p:nvPr/>
        </p:nvSpPr>
        <p:spPr>
          <a:xfrm xmlns:a="http://schemas.openxmlformats.org/drawingml/2006/main">
            <a:off x="8239125" y="2333625"/>
            <a:ext cx="3048000" cy="47625"/>
          </a:xfrm>
          <a:prstGeom xmlns:a="http://schemas.openxmlformats.org/drawingml/2006/main" prst="rect">
            <a:avLst/>
          </a:prstGeom>
          <a:solidFill xmlns:a="http://schemas.openxmlformats.org/drawingml/2006/main">
            <a:srgbClr val="43E1A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FA405CA-032D-40FC-9066-2EEA1CB11F79}"/>
              </a:ext>
            </a:extLst>
          </p:cNvPr>
          <p:cNvSpPr>
            <a:spLocks xmlns:a="http://schemas.openxmlformats.org/drawingml/2006/main" noGrp="1"/>
          </p:cNvSpPr>
          <p:nvPr/>
        </p:nvSpPr>
        <p:spPr>
          <a:xfrm xmlns:a="http://schemas.openxmlformats.org/drawingml/2006/main">
            <a:off x="8239125" y="271462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118"/>
          </a:bodyPr>
          <a:lstStyle xmlns:a="http://schemas.openxmlformats.org/drawingml/2006/main"/>
          <a:p xmlns:a="http://schemas.openxmlformats.org/drawingml/2006/main">
            <a:pPr>
              <a:defRPr sz="2550" b="1">
                <a:solidFill>
                  <a:srgbClr val="F5FAFF"/>
                </a:solidFill>
                <a:latin typeface="Bahnschrift"/>
                <a:ea typeface="Bahnschrift"/>
                <a:cs typeface="Bahnschrift"/>
              </a:defRPr>
            </a:pPr>
            <a:r>
              <a:rPr sz="2550" b="1">
                <a:solidFill>
                  <a:srgbClr val="F5FAFF"/>
                </a:solidFill>
                <a:latin typeface="Bahnschrift"/>
                <a:ea typeface="Bahnschrift"/>
                <a:cs typeface="Bahnschrift"/>
              </a:rPr>
              <a:t>Expand</a:t>
            </a:r>
          </a:p>
        </p:txBody>
      </p:sp>
      <p:sp>
        <p:nvSpPr>
          <p:cNvPr id="17" name="">
            <a:extLst xmlns:a="http://schemas.openxmlformats.org/drawingml/2006/main">
              <a:ext uri="{FF2B5EF4-FFF2-40B4-BE49-F238E27FC236}">
                <a16:creationId xmlns:a16="http://schemas.microsoft.com/office/drawing/2014/main" id="{F02C01E1-85C3-4DB2-AC86-CF47FA9D71EC}"/>
              </a:ext>
            </a:extLst>
          </p:cNvPr>
          <p:cNvSpPr>
            <a:spLocks xmlns:a="http://schemas.openxmlformats.org/drawingml/2006/main" noGrp="1"/>
          </p:cNvSpPr>
          <p:nvPr/>
        </p:nvSpPr>
        <p:spPr>
          <a:xfrm xmlns:a="http://schemas.openxmlformats.org/drawingml/2006/main">
            <a:off x="8239125" y="3333750"/>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0">
                <a:solidFill>
                  <a:srgbClr val="A9C1D3"/>
                </a:solidFill>
                <a:latin typeface="Segoe UI"/>
                <a:ea typeface="Segoe UI"/>
                <a:cs typeface="Segoe UI"/>
              </a:defRPr>
            </a:pPr>
            <a:r>
              <a:rPr sz="1650" b="0">
                <a:solidFill>
                  <a:srgbClr val="A9C1D3"/>
                </a:solidFill>
                <a:latin typeface="Segoe UI"/>
                <a:ea typeface="Segoe UI"/>
                <a:cs typeface="Segoe UI"/>
              </a:rPr>
              <a:t>Add buses route by route and train the transport office and drivers.</a:t>
            </a:r>
          </a:p>
        </p:txBody>
      </p:sp>
      <p:sp>
        <p:nvSpPr>
          <p:cNvPr id="18" name="">
            <a:extLst xmlns:a="http://schemas.openxmlformats.org/drawingml/2006/main">
              <a:ext uri="{FF2B5EF4-FFF2-40B4-BE49-F238E27FC236}">
                <a16:creationId xmlns:a16="http://schemas.microsoft.com/office/drawing/2014/main" id="{EEB5AC25-CF86-47D5-BDA5-8EFDCEA404B2}"/>
              </a:ext>
            </a:extLst>
          </p:cNvPr>
          <p:cNvSpPr>
            <a:spLocks xmlns:a="http://schemas.openxmlformats.org/drawingml/2006/main" noGrp="1"/>
          </p:cNvSpPr>
          <p:nvPr/>
        </p:nvSpPr>
        <p:spPr>
          <a:xfrm xmlns:a="http://schemas.openxmlformats.org/drawingml/2006/main">
            <a:off x="714375" y="4953000"/>
            <a:ext cx="10572750" cy="857250"/>
          </a:xfrm>
          <a:prstGeom xmlns:a="http://schemas.openxmlformats.org/drawingml/2006/main" prst="roundRect">
            <a:avLst>
              <a:gd name="adj" fmla="val 8889"/>
            </a:avLst>
          </a:prstGeom>
          <a:solidFill xmlns:a="http://schemas.openxmlformats.org/drawingml/2006/main">
            <a:srgbClr val="0B2747"/>
          </a:solidFill>
          <a:ln xmlns:a="http://schemas.openxmlformats.org/drawingml/2006/main" w="9525">
            <a:solidFill>
              <a:srgbClr val="214360"/>
            </a:solidFill>
          </a:ln>
        </p:spPr>
      </p:sp>
      <p:sp>
        <p:nvSpPr>
          <p:cNvPr id="19" name="">
            <a:extLst xmlns:a="http://schemas.openxmlformats.org/drawingml/2006/main">
              <a:ext uri="{FF2B5EF4-FFF2-40B4-BE49-F238E27FC236}">
                <a16:creationId xmlns:a16="http://schemas.microsoft.com/office/drawing/2014/main" id="{40ADEA0F-46C6-435B-B17E-F0841F0B034E}"/>
              </a:ext>
            </a:extLst>
          </p:cNvPr>
          <p:cNvSpPr>
            <a:spLocks xmlns:a="http://schemas.openxmlformats.org/drawingml/2006/main" noGrp="1"/>
          </p:cNvSpPr>
          <p:nvPr/>
        </p:nvSpPr>
        <p:spPr>
          <a:xfrm xmlns:a="http://schemas.openxmlformats.org/drawingml/2006/main">
            <a:off x="1000125" y="52006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273"/>
          </a:bodyPr>
          <a:lstStyle xmlns:a="http://schemas.openxmlformats.org/drawingml/2006/main"/>
          <a:p xmlns:a="http://schemas.openxmlformats.org/drawingml/2006/main">
            <a:pPr>
              <a:defRPr sz="1650" b="1">
                <a:solidFill>
                  <a:srgbClr val="FFBD4A"/>
                </a:solidFill>
                <a:latin typeface="Bahnschrift"/>
                <a:ea typeface="Bahnschrift"/>
                <a:cs typeface="Bahnschrift"/>
              </a:defRPr>
            </a:pPr>
            <a:r>
              <a:rPr sz="1650" b="1">
                <a:solidFill>
                  <a:srgbClr val="FFBD4A"/>
                </a:solidFill>
                <a:latin typeface="Bahnschrift"/>
                <a:ea typeface="Bahnschrift"/>
                <a:cs typeface="Bahnschrift"/>
              </a:rPr>
              <a:t>Pilot review</a:t>
            </a:r>
          </a:p>
        </p:txBody>
      </p:sp>
      <p:sp>
        <p:nvSpPr>
          <p:cNvPr id="20" name="">
            <a:extLst xmlns:a="http://schemas.openxmlformats.org/drawingml/2006/main">
              <a:ext uri="{FF2B5EF4-FFF2-40B4-BE49-F238E27FC236}">
                <a16:creationId xmlns:a16="http://schemas.microsoft.com/office/drawing/2014/main" id="{9B41ABB1-CD85-4EA6-92B7-9A50C9B8C91B}"/>
              </a:ext>
            </a:extLst>
          </p:cNvPr>
          <p:cNvSpPr>
            <a:spLocks xmlns:a="http://schemas.openxmlformats.org/drawingml/2006/main" noGrp="1"/>
          </p:cNvSpPr>
          <p:nvPr/>
        </p:nvSpPr>
        <p:spPr>
          <a:xfrm xmlns:a="http://schemas.openxmlformats.org/drawingml/2006/main">
            <a:off x="3000375" y="5143500"/>
            <a:ext cx="790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707"/>
          </a:bodyPr>
          <a:lstStyle xmlns:a="http://schemas.openxmlformats.org/drawingml/2006/main"/>
          <a:p xmlns:a="http://schemas.openxmlformats.org/drawingml/2006/main">
            <a:pPr>
              <a:defRPr sz="1575" b="0">
                <a:solidFill>
                  <a:srgbClr val="F5FAFF"/>
                </a:solidFill>
                <a:latin typeface="Segoe UI"/>
                <a:ea typeface="Segoe UI"/>
                <a:cs typeface="Segoe UI"/>
              </a:defRPr>
            </a:pPr>
            <a:r>
              <a:rPr sz="1575" b="0">
                <a:solidFill>
                  <a:srgbClr val="F5FAFF"/>
                </a:solidFill>
                <a:latin typeface="Segoe UI"/>
                <a:ea typeface="Segoe UI"/>
                <a:cs typeface="Segoe UI"/>
              </a:rPr>
              <a:t>Validate stop detection, location freshness, portal usability and operational response before a full-fleet launch.</a:t>
            </a:r>
          </a:p>
        </p:txBody>
      </p:sp>
    </p:spTree>
    <p:extLst>
      <p:ext uri="{BB962C8B-B14F-4D97-AF65-F5344CB8AC3E}">
        <p14:creationId xmlns:p14="http://schemas.microsoft.com/office/powerpoint/2010/main" val="545752994"/>
      </p:ext>
    </p:extLst>
  </p:cSld>
</p:sld>
</file>

<file path=ppt/slides/slide13.xml><?xml version="1.0" encoding="utf-8"?>
<p:sld xmlns:p="http://schemas.openxmlformats.org/presentationml/2006/main">
  <p:cSld>
    <p:bg>
      <p:bgPr>
        <a:solidFill xmlns:a="http://schemas.openxmlformats.org/drawingml/2006/main">
          <a:srgbClr val="06172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2D0562C-7EBF-4C28-89D3-D1D291D47C44}"/>
              </a:ext>
            </a:extLst>
          </p:cNvPr>
          <p:cNvSpPr>
            <a:spLocks xmlns:a="http://schemas.openxmlformats.org/drawingml/2006/main" noGrp="1"/>
          </p:cNvSpPr>
          <p:nvPr/>
        </p:nvSpPr>
        <p:spPr>
          <a:xfrm xmlns:a="http://schemas.openxmlformats.org/drawingml/2006/main">
            <a:off x="609600" y="781050"/>
            <a:ext cx="838200" cy="66675"/>
          </a:xfrm>
          <a:prstGeom xmlns:a="http://schemas.openxmlformats.org/drawingml/2006/main" prst="rect">
            <a:avLst/>
          </a:prstGeom>
          <a:solidFill xmlns:a="http://schemas.openxmlformats.org/drawingml/2006/main">
            <a:srgbClr val="3AD6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3970FF-0322-4924-9C59-C9AB196BE170}"/>
              </a:ext>
            </a:extLst>
          </p:cNvPr>
          <p:cNvSpPr>
            <a:spLocks xmlns:a="http://schemas.openxmlformats.org/drawingml/2006/main" noGrp="1"/>
          </p:cNvSpPr>
          <p:nvPr/>
        </p:nvSpPr>
        <p:spPr>
          <a:xfrm xmlns:a="http://schemas.openxmlformats.org/drawingml/2006/main">
            <a:off x="609600" y="1190625"/>
            <a:ext cx="7715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4800" b="1">
                <a:solidFill>
                  <a:srgbClr val="F5FAFF"/>
                </a:solidFill>
                <a:latin typeface="Bahnschrift"/>
                <a:ea typeface="Bahnschrift"/>
                <a:cs typeface="Bahnschrift"/>
              </a:defRPr>
            </a:pPr>
            <a:r>
              <a:rPr sz="4800" b="1">
                <a:solidFill>
                  <a:srgbClr val="F5FAFF"/>
                </a:solidFill>
                <a:latin typeface="Bahnschrift"/>
                <a:ea typeface="Bahnschrift"/>
                <a:cs typeface="Bahnschrift"/>
              </a:rPr>
              <a:t>Start with one route</a:t>
            </a:r>
          </a:p>
        </p:txBody>
      </p:sp>
      <p:sp>
        <p:nvSpPr>
          <p:cNvPr id="3" name="">
            <a:extLst xmlns:a="http://schemas.openxmlformats.org/drawingml/2006/main">
              <a:ext uri="{FF2B5EF4-FFF2-40B4-BE49-F238E27FC236}">
                <a16:creationId xmlns:a16="http://schemas.microsoft.com/office/drawing/2014/main" id="{7DDF7958-89E3-4D4B-A4EF-08057DB046E3}"/>
              </a:ext>
            </a:extLst>
          </p:cNvPr>
          <p:cNvSpPr>
            <a:spLocks xmlns:a="http://schemas.openxmlformats.org/drawingml/2006/main" noGrp="1"/>
          </p:cNvSpPr>
          <p:nvPr/>
        </p:nvSpPr>
        <p:spPr>
          <a:xfrm xmlns:a="http://schemas.openxmlformats.org/drawingml/2006/main">
            <a:off x="638175" y="2238375"/>
            <a:ext cx="742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529"/>
          </a:bodyPr>
          <a:lstStyle xmlns:a="http://schemas.openxmlformats.org/drawingml/2006/main"/>
          <a:p xmlns:a="http://schemas.openxmlformats.org/drawingml/2006/main">
            <a:pPr>
              <a:defRPr sz="2550" b="0">
                <a:solidFill>
                  <a:srgbClr val="9EEBFF"/>
                </a:solidFill>
                <a:latin typeface="Bahnschrift"/>
                <a:ea typeface="Bahnschrift"/>
                <a:cs typeface="Bahnschrift"/>
              </a:defRPr>
            </a:pPr>
            <a:r>
              <a:rPr sz="2550" b="0">
                <a:solidFill>
                  <a:srgbClr val="9EEBFF"/>
                </a:solidFill>
                <a:latin typeface="Bahnschrift"/>
                <a:ea typeface="Bahnschrift"/>
                <a:cs typeface="Bahnschrift"/>
              </a:rPr>
              <a:t>Give students a clear journey and give the college a transport system it can manage.</a:t>
            </a:r>
          </a:p>
        </p:txBody>
      </p:sp>
      <p:sp>
        <p:nvSpPr>
          <p:cNvPr id="4" name="">
            <a:extLst xmlns:a="http://schemas.openxmlformats.org/drawingml/2006/main">
              <a:ext uri="{FF2B5EF4-FFF2-40B4-BE49-F238E27FC236}">
                <a16:creationId xmlns:a16="http://schemas.microsoft.com/office/drawing/2014/main" id="{65000657-BB14-4D3A-A54D-B9048316F9C4}"/>
              </a:ext>
            </a:extLst>
          </p:cNvPr>
          <p:cNvSpPr>
            <a:spLocks xmlns:a="http://schemas.openxmlformats.org/drawingml/2006/main" noGrp="1"/>
          </p:cNvSpPr>
          <p:nvPr/>
        </p:nvSpPr>
        <p:spPr>
          <a:xfrm xmlns:a="http://schemas.openxmlformats.org/drawingml/2006/main">
            <a:off x="609600" y="3571875"/>
            <a:ext cx="10668000" cy="19050"/>
          </a:xfrm>
          <a:prstGeom xmlns:a="http://schemas.openxmlformats.org/drawingml/2006/main" prst="rect">
            <a:avLst/>
          </a:prstGeom>
          <a:solidFill xmlns:a="http://schemas.openxmlformats.org/drawingml/2006/main">
            <a:srgbClr val="21436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AC5153B-C070-48AC-91A9-F4074423BDF2}"/>
              </a:ext>
            </a:extLst>
          </p:cNvPr>
          <p:cNvSpPr>
            <a:spLocks xmlns:a="http://schemas.openxmlformats.org/drawingml/2006/main" noGrp="1"/>
          </p:cNvSpPr>
          <p:nvPr/>
        </p:nvSpPr>
        <p:spPr>
          <a:xfrm xmlns:a="http://schemas.openxmlformats.org/drawingml/2006/main">
            <a:off x="609600" y="4000500"/>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67"/>
          </a:bodyPr>
          <a:lstStyle xmlns:a="http://schemas.openxmlformats.org/drawingml/2006/main"/>
          <a:p xmlns:a="http://schemas.openxmlformats.org/drawingml/2006/main">
            <a:pPr>
              <a:defRPr sz="1875" b="1">
                <a:solidFill>
                  <a:srgbClr val="43E1A1"/>
                </a:solidFill>
                <a:latin typeface="Bahnschrift"/>
                <a:ea typeface="Bahnschrift"/>
                <a:cs typeface="Bahnschrift"/>
              </a:defRPr>
            </a:pPr>
            <a:r>
              <a:rPr sz="1875" b="1">
                <a:solidFill>
                  <a:srgbClr val="43E1A1"/>
                </a:solidFill>
                <a:latin typeface="Bahnschrift"/>
                <a:ea typeface="Bahnschrift"/>
                <a:cs typeface="Bahnschrift"/>
              </a:rPr>
              <a:t>1</a:t>
            </a:r>
          </a:p>
        </p:txBody>
      </p:sp>
      <p:sp>
        <p:nvSpPr>
          <p:cNvPr id="6" name="">
            <a:extLst xmlns:a="http://schemas.openxmlformats.org/drawingml/2006/main">
              <a:ext uri="{FF2B5EF4-FFF2-40B4-BE49-F238E27FC236}">
                <a16:creationId xmlns:a16="http://schemas.microsoft.com/office/drawing/2014/main" id="{1745E2C6-E5DA-4469-AC9A-6D3F55902E58}"/>
              </a:ext>
            </a:extLst>
          </p:cNvPr>
          <p:cNvSpPr>
            <a:spLocks xmlns:a="http://schemas.openxmlformats.org/drawingml/2006/main" noGrp="1"/>
          </p:cNvSpPr>
          <p:nvPr/>
        </p:nvSpPr>
        <p:spPr>
          <a:xfrm xmlns:a="http://schemas.openxmlformats.org/drawingml/2006/main">
            <a:off x="609600" y="4495800"/>
            <a:ext cx="2333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Select the pilot bus and route</a:t>
            </a:r>
          </a:p>
        </p:txBody>
      </p:sp>
      <p:sp>
        <p:nvSpPr>
          <p:cNvPr id="7" name="">
            <a:extLst xmlns:a="http://schemas.openxmlformats.org/drawingml/2006/main">
              <a:ext uri="{FF2B5EF4-FFF2-40B4-BE49-F238E27FC236}">
                <a16:creationId xmlns:a16="http://schemas.microsoft.com/office/drawing/2014/main" id="{AC020C54-DE77-4C20-9B0A-E47F8947C7D6}"/>
              </a:ext>
            </a:extLst>
          </p:cNvPr>
          <p:cNvSpPr>
            <a:spLocks xmlns:a="http://schemas.openxmlformats.org/drawingml/2006/main" noGrp="1"/>
          </p:cNvSpPr>
          <p:nvPr/>
        </p:nvSpPr>
        <p:spPr>
          <a:xfrm xmlns:a="http://schemas.openxmlformats.org/drawingml/2006/main">
            <a:off x="3371850" y="4000500"/>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67"/>
          </a:bodyPr>
          <a:lstStyle xmlns:a="http://schemas.openxmlformats.org/drawingml/2006/main"/>
          <a:p xmlns:a="http://schemas.openxmlformats.org/drawingml/2006/main">
            <a:pPr>
              <a:defRPr sz="1875" b="1">
                <a:solidFill>
                  <a:srgbClr val="43E1A1"/>
                </a:solidFill>
                <a:latin typeface="Bahnschrift"/>
                <a:ea typeface="Bahnschrift"/>
                <a:cs typeface="Bahnschrift"/>
              </a:defRPr>
            </a:pPr>
            <a:r>
              <a:rPr sz="1875" b="1">
                <a:solidFill>
                  <a:srgbClr val="43E1A1"/>
                </a:solidFill>
                <a:latin typeface="Bahnschrift"/>
                <a:ea typeface="Bahnschrift"/>
                <a:cs typeface="Bahnschrift"/>
              </a:rPr>
              <a:t>2</a:t>
            </a:r>
          </a:p>
        </p:txBody>
      </p:sp>
      <p:sp>
        <p:nvSpPr>
          <p:cNvPr id="8" name="">
            <a:extLst xmlns:a="http://schemas.openxmlformats.org/drawingml/2006/main">
              <a:ext uri="{FF2B5EF4-FFF2-40B4-BE49-F238E27FC236}">
                <a16:creationId xmlns:a16="http://schemas.microsoft.com/office/drawing/2014/main" id="{C80D994F-15EF-4DFC-B370-4BF3580C8B37}"/>
              </a:ext>
            </a:extLst>
          </p:cNvPr>
          <p:cNvSpPr>
            <a:spLocks xmlns:a="http://schemas.openxmlformats.org/drawingml/2006/main" noGrp="1"/>
          </p:cNvSpPr>
          <p:nvPr/>
        </p:nvSpPr>
        <p:spPr>
          <a:xfrm xmlns:a="http://schemas.openxmlformats.org/drawingml/2006/main">
            <a:off x="3371850" y="4495800"/>
            <a:ext cx="2333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Verify every stop in both directions</a:t>
            </a:r>
          </a:p>
        </p:txBody>
      </p:sp>
      <p:sp>
        <p:nvSpPr>
          <p:cNvPr id="9" name="">
            <a:extLst xmlns:a="http://schemas.openxmlformats.org/drawingml/2006/main">
              <a:ext uri="{FF2B5EF4-FFF2-40B4-BE49-F238E27FC236}">
                <a16:creationId xmlns:a16="http://schemas.microsoft.com/office/drawing/2014/main" id="{1DFF7A2A-0CA9-4212-948C-C733F200C480}"/>
              </a:ext>
            </a:extLst>
          </p:cNvPr>
          <p:cNvSpPr>
            <a:spLocks xmlns:a="http://schemas.openxmlformats.org/drawingml/2006/main" noGrp="1"/>
          </p:cNvSpPr>
          <p:nvPr/>
        </p:nvSpPr>
        <p:spPr>
          <a:xfrm xmlns:a="http://schemas.openxmlformats.org/drawingml/2006/main">
            <a:off x="6134100" y="4000500"/>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67"/>
          </a:bodyPr>
          <a:lstStyle xmlns:a="http://schemas.openxmlformats.org/drawingml/2006/main"/>
          <a:p xmlns:a="http://schemas.openxmlformats.org/drawingml/2006/main">
            <a:pPr>
              <a:defRPr sz="1875" b="1">
                <a:solidFill>
                  <a:srgbClr val="43E1A1"/>
                </a:solidFill>
                <a:latin typeface="Bahnschrift"/>
                <a:ea typeface="Bahnschrift"/>
                <a:cs typeface="Bahnschrift"/>
              </a:defRPr>
            </a:pPr>
            <a:r>
              <a:rPr sz="1875" b="1">
                <a:solidFill>
                  <a:srgbClr val="43E1A1"/>
                </a:solidFill>
                <a:latin typeface="Bahnschrift"/>
                <a:ea typeface="Bahnschrift"/>
                <a:cs typeface="Bahnschrift"/>
              </a:rPr>
              <a:t>3</a:t>
            </a:r>
          </a:p>
        </p:txBody>
      </p:sp>
      <p:sp>
        <p:nvSpPr>
          <p:cNvPr id="10" name="">
            <a:extLst xmlns:a="http://schemas.openxmlformats.org/drawingml/2006/main">
              <a:ext uri="{FF2B5EF4-FFF2-40B4-BE49-F238E27FC236}">
                <a16:creationId xmlns:a16="http://schemas.microsoft.com/office/drawing/2014/main" id="{C2C6A68B-6871-4741-AABC-05BD050F9C70}"/>
              </a:ext>
            </a:extLst>
          </p:cNvPr>
          <p:cNvSpPr>
            <a:spLocks xmlns:a="http://schemas.openxmlformats.org/drawingml/2006/main" noGrp="1"/>
          </p:cNvSpPr>
          <p:nvPr/>
        </p:nvSpPr>
        <p:spPr>
          <a:xfrm xmlns:a="http://schemas.openxmlformats.org/drawingml/2006/main">
            <a:off x="6134100" y="4495800"/>
            <a:ext cx="2333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Enroll the driver and pilot students</a:t>
            </a:r>
          </a:p>
        </p:txBody>
      </p:sp>
      <p:sp>
        <p:nvSpPr>
          <p:cNvPr id="11" name="">
            <a:extLst xmlns:a="http://schemas.openxmlformats.org/drawingml/2006/main">
              <a:ext uri="{FF2B5EF4-FFF2-40B4-BE49-F238E27FC236}">
                <a16:creationId xmlns:a16="http://schemas.microsoft.com/office/drawing/2014/main" id="{65397E7A-B058-4D9E-BC09-FD687DCA49E3}"/>
              </a:ext>
            </a:extLst>
          </p:cNvPr>
          <p:cNvSpPr>
            <a:spLocks xmlns:a="http://schemas.openxmlformats.org/drawingml/2006/main" noGrp="1"/>
          </p:cNvSpPr>
          <p:nvPr/>
        </p:nvSpPr>
        <p:spPr>
          <a:xfrm xmlns:a="http://schemas.openxmlformats.org/drawingml/2006/main">
            <a:off x="8896350" y="4000500"/>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67"/>
          </a:bodyPr>
          <a:lstStyle xmlns:a="http://schemas.openxmlformats.org/drawingml/2006/main"/>
          <a:p xmlns:a="http://schemas.openxmlformats.org/drawingml/2006/main">
            <a:pPr>
              <a:defRPr sz="1875" b="1">
                <a:solidFill>
                  <a:srgbClr val="43E1A1"/>
                </a:solidFill>
                <a:latin typeface="Bahnschrift"/>
                <a:ea typeface="Bahnschrift"/>
                <a:cs typeface="Bahnschrift"/>
              </a:defRPr>
            </a:pPr>
            <a:r>
              <a:rPr sz="1875" b="1">
                <a:solidFill>
                  <a:srgbClr val="43E1A1"/>
                </a:solidFill>
                <a:latin typeface="Bahnschrift"/>
                <a:ea typeface="Bahnschrift"/>
                <a:cs typeface="Bahnschrift"/>
              </a:rPr>
              <a:t>4</a:t>
            </a:r>
          </a:p>
        </p:txBody>
      </p:sp>
      <p:sp>
        <p:nvSpPr>
          <p:cNvPr id="12" name="">
            <a:extLst xmlns:a="http://schemas.openxmlformats.org/drawingml/2006/main">
              <a:ext uri="{FF2B5EF4-FFF2-40B4-BE49-F238E27FC236}">
                <a16:creationId xmlns:a16="http://schemas.microsoft.com/office/drawing/2014/main" id="{001A0D84-5F0E-4851-9200-DB29216A3C41}"/>
              </a:ext>
            </a:extLst>
          </p:cNvPr>
          <p:cNvSpPr>
            <a:spLocks xmlns:a="http://schemas.openxmlformats.org/drawingml/2006/main" noGrp="1"/>
          </p:cNvSpPr>
          <p:nvPr/>
        </p:nvSpPr>
        <p:spPr>
          <a:xfrm xmlns:a="http://schemas.openxmlformats.org/drawingml/2006/main">
            <a:off x="8896350" y="4495800"/>
            <a:ext cx="2333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1">
                <a:solidFill>
                  <a:srgbClr val="F5FAFF"/>
                </a:solidFill>
                <a:latin typeface="Bahnschrift"/>
                <a:ea typeface="Bahnschrift"/>
                <a:cs typeface="Bahnschrift"/>
              </a:defRPr>
            </a:pPr>
            <a:r>
              <a:rPr sz="1725" b="1">
                <a:solidFill>
                  <a:srgbClr val="F5FAFF"/>
                </a:solidFill>
                <a:latin typeface="Bahnschrift"/>
                <a:ea typeface="Bahnschrift"/>
                <a:cs typeface="Bahnschrift"/>
              </a:rPr>
              <a:t>Measure the result and expand</a:t>
            </a:r>
          </a:p>
        </p:txBody>
      </p:sp>
      <p:sp>
        <p:nvSpPr>
          <p:cNvPr id="13" name="">
            <a:extLst xmlns:a="http://schemas.openxmlformats.org/drawingml/2006/main">
              <a:ext uri="{FF2B5EF4-FFF2-40B4-BE49-F238E27FC236}">
                <a16:creationId xmlns:a16="http://schemas.microsoft.com/office/drawing/2014/main" id="{DFFDA6D0-5269-4FF7-87E7-84BB7C26DA95}"/>
              </a:ext>
            </a:extLst>
          </p:cNvPr>
          <p:cNvSpPr>
            <a:spLocks xmlns:a="http://schemas.openxmlformats.org/drawingml/2006/main" noGrp="1"/>
          </p:cNvSpPr>
          <p:nvPr/>
        </p:nvSpPr>
        <p:spPr>
          <a:xfrm xmlns:a="http://schemas.openxmlformats.org/drawingml/2006/main">
            <a:off x="609600" y="60198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3AD6FF"/>
                </a:solidFill>
                <a:latin typeface="Bahnschrift"/>
                <a:ea typeface="Bahnschrift"/>
                <a:cs typeface="Bahnschrift"/>
              </a:defRPr>
            </a:pPr>
            <a:r>
              <a:rPr sz="1350" b="1">
                <a:solidFill>
                  <a:srgbClr val="3AD6FF"/>
                </a:solidFill>
                <a:latin typeface="Bahnschrift"/>
                <a:ea typeface="Bahnschrift"/>
                <a:cs typeface="Bahnschrift"/>
              </a:rPr>
              <a:t>BUSTRACK</a:t>
            </a:r>
          </a:p>
        </p:txBody>
      </p:sp>
      <p:sp>
        <p:nvSpPr>
          <p:cNvPr id="14" name="">
            <a:extLst xmlns:a="http://schemas.openxmlformats.org/drawingml/2006/main">
              <a:ext uri="{FF2B5EF4-FFF2-40B4-BE49-F238E27FC236}">
                <a16:creationId xmlns:a16="http://schemas.microsoft.com/office/drawing/2014/main" id="{90766A54-EBB9-4902-A514-E382F1553964}"/>
              </a:ext>
            </a:extLst>
          </p:cNvPr>
          <p:cNvSpPr>
            <a:spLocks xmlns:a="http://schemas.openxmlformats.org/drawingml/2006/main" noGrp="1"/>
          </p:cNvSpPr>
          <p:nvPr/>
        </p:nvSpPr>
        <p:spPr>
          <a:xfrm xmlns:a="http://schemas.openxmlformats.org/drawingml/2006/main">
            <a:off x="8286750" y="6000750"/>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0">
                <a:solidFill>
                  <a:srgbClr val="A9C1D3"/>
                </a:solidFill>
                <a:latin typeface="Segoe UI"/>
                <a:ea typeface="Segoe UI"/>
                <a:cs typeface="Segoe UI"/>
              </a:defRPr>
            </a:pPr>
            <a:r>
              <a:rPr sz="1500" b="0">
                <a:solidFill>
                  <a:srgbClr val="A9C1D3"/>
                </a:solidFill>
                <a:latin typeface="Segoe UI"/>
                <a:ea typeface="Segoe UI"/>
                <a:cs typeface="Segoe UI"/>
              </a:rPr>
              <a:t>Campus transport, made visible</a:t>
            </a:r>
          </a:p>
        </p:txBody>
      </p:sp>
    </p:spTree>
    <p:extLst>
      <p:ext uri="{BB962C8B-B14F-4D97-AF65-F5344CB8AC3E}">
        <p14:creationId xmlns:p14="http://schemas.microsoft.com/office/powerpoint/2010/main" val="1852125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2026-09-13T04:02:55.0880000Z</dcterms:created>
  <dcterms:modified xsi:type="dcterms:W3CDTF">2026-09-13T04:02:55.0880000Z</dcterms:modified>
</coreProperties>
</file>